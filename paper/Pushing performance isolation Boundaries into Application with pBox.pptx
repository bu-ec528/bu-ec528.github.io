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1"/>
  </p:notesMasterIdLst>
  <p:handoutMasterIdLst>
    <p:handoutMasterId r:id="rId52"/>
  </p:handoutMasterIdLst>
  <p:sldIdLst>
    <p:sldId id="256" r:id="rId5"/>
    <p:sldId id="259" r:id="rId6"/>
    <p:sldId id="283" r:id="rId7"/>
    <p:sldId id="260" r:id="rId8"/>
    <p:sldId id="284" r:id="rId9"/>
    <p:sldId id="276" r:id="rId10"/>
    <p:sldId id="280" r:id="rId11"/>
    <p:sldId id="281" r:id="rId12"/>
    <p:sldId id="261" r:id="rId13"/>
    <p:sldId id="263" r:id="rId14"/>
    <p:sldId id="264" r:id="rId15"/>
    <p:sldId id="336" r:id="rId16"/>
    <p:sldId id="292" r:id="rId17"/>
    <p:sldId id="306" r:id="rId18"/>
    <p:sldId id="307" r:id="rId19"/>
    <p:sldId id="291" r:id="rId20"/>
    <p:sldId id="309" r:id="rId21"/>
    <p:sldId id="295" r:id="rId22"/>
    <p:sldId id="266" r:id="rId23"/>
    <p:sldId id="312" r:id="rId24"/>
    <p:sldId id="269" r:id="rId25"/>
    <p:sldId id="270" r:id="rId26"/>
    <p:sldId id="272" r:id="rId27"/>
    <p:sldId id="271" r:id="rId28"/>
    <p:sldId id="273" r:id="rId29"/>
    <p:sldId id="299" r:id="rId30"/>
    <p:sldId id="315" r:id="rId31"/>
    <p:sldId id="317" r:id="rId32"/>
    <p:sldId id="300" r:id="rId33"/>
    <p:sldId id="301" r:id="rId34"/>
    <p:sldId id="302" r:id="rId35"/>
    <p:sldId id="323" r:id="rId36"/>
    <p:sldId id="303" r:id="rId37"/>
    <p:sldId id="318" r:id="rId38"/>
    <p:sldId id="305" r:id="rId39"/>
    <p:sldId id="322" r:id="rId40"/>
    <p:sldId id="337" r:id="rId41"/>
    <p:sldId id="338" r:id="rId42"/>
    <p:sldId id="329" r:id="rId43"/>
    <p:sldId id="320" r:id="rId44"/>
    <p:sldId id="330" r:id="rId45"/>
    <p:sldId id="339" r:id="rId46"/>
    <p:sldId id="296" r:id="rId47"/>
    <p:sldId id="294" r:id="rId48"/>
    <p:sldId id="311" r:id="rId49"/>
    <p:sldId id="29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48235"/>
    <a:srgbClr val="C55A11"/>
    <a:srgbClr val="FFC000"/>
    <a:srgbClr val="66CCFF"/>
    <a:srgbClr val="FF6600"/>
    <a:srgbClr val="FEA402"/>
    <a:srgbClr val="BF9000"/>
    <a:srgbClr val="4472C4"/>
    <a:srgbClr val="2E75B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3576" autoAdjust="0"/>
  </p:normalViewPr>
  <p:slideViewPr>
    <p:cSldViewPr snapToGrid="0">
      <p:cViewPr varScale="1">
        <p:scale>
          <a:sx n="41" d="100"/>
          <a:sy n="41" d="100"/>
        </p:scale>
        <p:origin x="1604" y="2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rts/_rels/chart1.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11678599497177E-2"/>
          <c:y val="5.8344797238216992E-2"/>
          <c:w val="0.88955560163045766"/>
          <c:h val="0.74745840501087957"/>
        </c:manualLayout>
      </c:layout>
      <c:scatterChart>
        <c:scatterStyle val="smoothMarker"/>
        <c:varyColors val="0"/>
        <c:ser>
          <c:idx val="0"/>
          <c:order val="0"/>
          <c:tx>
            <c:strRef>
              <c:f>Sheet1!$B$1</c:f>
              <c:strCache>
                <c:ptCount val="1"/>
                <c:pt idx="0">
                  <c:v>Throughput</c:v>
                </c:pt>
              </c:strCache>
            </c:strRef>
          </c:tx>
          <c:spPr>
            <a:ln w="41275" cap="rnd">
              <a:solidFill>
                <a:schemeClr val="accent1"/>
              </a:solidFill>
              <a:round/>
            </a:ln>
            <a:effectLst/>
          </c:spPr>
          <c:marker>
            <c:symbol val="none"/>
          </c:marker>
          <c:dPt>
            <c:idx val="45"/>
            <c:marker>
              <c:symbol val="none"/>
            </c:marker>
            <c:bubble3D val="0"/>
            <c:spPr>
              <a:ln w="41275" cap="rnd">
                <a:solidFill>
                  <a:schemeClr val="accent1"/>
                </a:solidFill>
                <a:round/>
              </a:ln>
              <a:effectLst/>
            </c:spPr>
            <c:extLst>
              <c:ext xmlns:c16="http://schemas.microsoft.com/office/drawing/2014/chart" uri="{C3380CC4-5D6E-409C-BE32-E72D297353CC}">
                <c16:uniqueId val="{00000001-DA60-4229-9DBE-0A6963C8343D}"/>
              </c:ext>
            </c:extLst>
          </c:dPt>
          <c:xVal>
            <c:numRef>
              <c:f>Sheet1!$A$2:$A$1000</c:f>
              <c:numCache>
                <c:formatCode>General</c:formatCode>
                <c:ptCount val="99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numCache>
            </c:numRef>
          </c:xVal>
          <c:yVal>
            <c:numRef>
              <c:f>Sheet1!$B$2:$B$1000</c:f>
              <c:numCache>
                <c:formatCode>General</c:formatCode>
                <c:ptCount val="999"/>
                <c:pt idx="0">
                  <c:v>271.98</c:v>
                </c:pt>
                <c:pt idx="1">
                  <c:v>280</c:v>
                </c:pt>
                <c:pt idx="2">
                  <c:v>293.97000000000003</c:v>
                </c:pt>
                <c:pt idx="3">
                  <c:v>245.01</c:v>
                </c:pt>
                <c:pt idx="4">
                  <c:v>288.06</c:v>
                </c:pt>
                <c:pt idx="5">
                  <c:v>311.33</c:v>
                </c:pt>
                <c:pt idx="6">
                  <c:v>294.95</c:v>
                </c:pt>
                <c:pt idx="7">
                  <c:v>281.82</c:v>
                </c:pt>
                <c:pt idx="8">
                  <c:v>291.13</c:v>
                </c:pt>
                <c:pt idx="9">
                  <c:v>294.12</c:v>
                </c:pt>
                <c:pt idx="10">
                  <c:v>288.63</c:v>
                </c:pt>
                <c:pt idx="11">
                  <c:v>274.17</c:v>
                </c:pt>
                <c:pt idx="12">
                  <c:v>296.06</c:v>
                </c:pt>
                <c:pt idx="13">
                  <c:v>305.86</c:v>
                </c:pt>
                <c:pt idx="14">
                  <c:v>308.95</c:v>
                </c:pt>
                <c:pt idx="15">
                  <c:v>326.95</c:v>
                </c:pt>
                <c:pt idx="16">
                  <c:v>305.14999999999998</c:v>
                </c:pt>
                <c:pt idx="17">
                  <c:v>303.19</c:v>
                </c:pt>
                <c:pt idx="18">
                  <c:v>302.75</c:v>
                </c:pt>
                <c:pt idx="19">
                  <c:v>294.97000000000003</c:v>
                </c:pt>
                <c:pt idx="20">
                  <c:v>343.49</c:v>
                </c:pt>
                <c:pt idx="21">
                  <c:v>331.14</c:v>
                </c:pt>
                <c:pt idx="22">
                  <c:v>395.74</c:v>
                </c:pt>
                <c:pt idx="23">
                  <c:v>332.49</c:v>
                </c:pt>
                <c:pt idx="24">
                  <c:v>305.24</c:v>
                </c:pt>
                <c:pt idx="25">
                  <c:v>279.11</c:v>
                </c:pt>
                <c:pt idx="26">
                  <c:v>279.73</c:v>
                </c:pt>
                <c:pt idx="27">
                  <c:v>271.16000000000003</c:v>
                </c:pt>
                <c:pt idx="28">
                  <c:v>277.87</c:v>
                </c:pt>
                <c:pt idx="29">
                  <c:v>277.52</c:v>
                </c:pt>
                <c:pt idx="30">
                  <c:v>287.55</c:v>
                </c:pt>
                <c:pt idx="31">
                  <c:v>274.85000000000002</c:v>
                </c:pt>
                <c:pt idx="32">
                  <c:v>260.16000000000003</c:v>
                </c:pt>
                <c:pt idx="33">
                  <c:v>288.99</c:v>
                </c:pt>
                <c:pt idx="34">
                  <c:v>284.06</c:v>
                </c:pt>
                <c:pt idx="35">
                  <c:v>286.08999999999997</c:v>
                </c:pt>
                <c:pt idx="36">
                  <c:v>279.93</c:v>
                </c:pt>
                <c:pt idx="37">
                  <c:v>300.01</c:v>
                </c:pt>
                <c:pt idx="38">
                  <c:v>294.91000000000003</c:v>
                </c:pt>
                <c:pt idx="39">
                  <c:v>294</c:v>
                </c:pt>
                <c:pt idx="40">
                  <c:v>201.89</c:v>
                </c:pt>
                <c:pt idx="41">
                  <c:v>124.1</c:v>
                </c:pt>
                <c:pt idx="42">
                  <c:v>109.9</c:v>
                </c:pt>
                <c:pt idx="43">
                  <c:v>133.97999999999999</c:v>
                </c:pt>
                <c:pt idx="44">
                  <c:v>132.04</c:v>
                </c:pt>
                <c:pt idx="45">
                  <c:v>111.07</c:v>
                </c:pt>
                <c:pt idx="46">
                  <c:v>98.95</c:v>
                </c:pt>
                <c:pt idx="47">
                  <c:v>92.98</c:v>
                </c:pt>
                <c:pt idx="48">
                  <c:v>64.010000000000005</c:v>
                </c:pt>
                <c:pt idx="49">
                  <c:v>42</c:v>
                </c:pt>
                <c:pt idx="50">
                  <c:v>40</c:v>
                </c:pt>
                <c:pt idx="51">
                  <c:v>39</c:v>
                </c:pt>
                <c:pt idx="52">
                  <c:v>36.99</c:v>
                </c:pt>
                <c:pt idx="53">
                  <c:v>37.01</c:v>
                </c:pt>
                <c:pt idx="54">
                  <c:v>35.99</c:v>
                </c:pt>
                <c:pt idx="55">
                  <c:v>34.01</c:v>
                </c:pt>
                <c:pt idx="56">
                  <c:v>33</c:v>
                </c:pt>
                <c:pt idx="57">
                  <c:v>22</c:v>
                </c:pt>
                <c:pt idx="58">
                  <c:v>24.01</c:v>
                </c:pt>
                <c:pt idx="59">
                  <c:v>22.99</c:v>
                </c:pt>
                <c:pt idx="60">
                  <c:v>29</c:v>
                </c:pt>
                <c:pt idx="61">
                  <c:v>31.02</c:v>
                </c:pt>
                <c:pt idx="62">
                  <c:v>29.97</c:v>
                </c:pt>
                <c:pt idx="63">
                  <c:v>30</c:v>
                </c:pt>
                <c:pt idx="64">
                  <c:v>29.01</c:v>
                </c:pt>
                <c:pt idx="65">
                  <c:v>28.01</c:v>
                </c:pt>
                <c:pt idx="66">
                  <c:v>31.01</c:v>
                </c:pt>
                <c:pt idx="67">
                  <c:v>27</c:v>
                </c:pt>
                <c:pt idx="68">
                  <c:v>108.01</c:v>
                </c:pt>
                <c:pt idx="69">
                  <c:v>176.96</c:v>
                </c:pt>
                <c:pt idx="70">
                  <c:v>139.94999999999999</c:v>
                </c:pt>
                <c:pt idx="71">
                  <c:v>115.98</c:v>
                </c:pt>
                <c:pt idx="72">
                  <c:v>68.06</c:v>
                </c:pt>
                <c:pt idx="73">
                  <c:v>50.94</c:v>
                </c:pt>
                <c:pt idx="74">
                  <c:v>49</c:v>
                </c:pt>
                <c:pt idx="75">
                  <c:v>46.01</c:v>
                </c:pt>
                <c:pt idx="76">
                  <c:v>45.98</c:v>
                </c:pt>
                <c:pt idx="77">
                  <c:v>42.01</c:v>
                </c:pt>
                <c:pt idx="78">
                  <c:v>40.99</c:v>
                </c:pt>
                <c:pt idx="79">
                  <c:v>41.01</c:v>
                </c:pt>
              </c:numCache>
            </c:numRef>
          </c:yVal>
          <c:smooth val="1"/>
          <c:extLst>
            <c:ext xmlns:c16="http://schemas.microsoft.com/office/drawing/2014/chart" uri="{C3380CC4-5D6E-409C-BE32-E72D297353CC}">
              <c16:uniqueId val="{00000000-DA60-4229-9DBE-0A6963C8343D}"/>
            </c:ext>
          </c:extLst>
        </c:ser>
        <c:dLbls>
          <c:showLegendKey val="0"/>
          <c:showVal val="0"/>
          <c:showCatName val="0"/>
          <c:showSerName val="0"/>
          <c:showPercent val="0"/>
          <c:showBubbleSize val="0"/>
        </c:dLbls>
        <c:axId val="1232789008"/>
        <c:axId val="874029280"/>
      </c:scatterChart>
      <c:valAx>
        <c:axId val="1232789008"/>
        <c:scaling>
          <c:orientation val="minMax"/>
          <c:max val="80"/>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sz="1800"/>
                  <a:t>Times(s)</a:t>
                </a:r>
                <a:endParaRPr lang="zh-CN" sz="1800"/>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crossAx val="874029280"/>
        <c:crosses val="autoZero"/>
        <c:crossBetween val="midCat"/>
        <c:majorUnit val="20"/>
      </c:valAx>
      <c:valAx>
        <c:axId val="874029280"/>
        <c:scaling>
          <c:orientation val="minMax"/>
          <c:max val="400"/>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sz="1800"/>
                  <a:t>Query per second</a:t>
                </a:r>
                <a:endParaRPr lang="zh-CN" sz="1800"/>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crossAx val="1232789008"/>
        <c:crosses val="autoZero"/>
        <c:crossBetween val="midCat"/>
        <c:majorUnit val="200"/>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Latency(ms)</c:v>
                </c:pt>
              </c:strCache>
            </c:strRef>
          </c:tx>
          <c:spPr>
            <a:solidFill>
              <a:schemeClr val="accent1"/>
            </a:solidFill>
            <a:ln>
              <a:solidFill>
                <a:schemeClr val="dk1">
                  <a:alpha val="94000"/>
                </a:schemeClr>
              </a:solidFill>
            </a:ln>
            <a:effectLst/>
          </c:spPr>
          <c:invertIfNegative val="0"/>
          <c:dPt>
            <c:idx val="0"/>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6-64BB-474B-AE7B-AC5C2F686AC9}"/>
              </c:ext>
            </c:extLst>
          </c:dPt>
          <c:dPt>
            <c:idx val="1"/>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7-64BB-474B-AE7B-AC5C2F686AC9}"/>
              </c:ext>
            </c:extLst>
          </c:dPt>
          <c:dPt>
            <c:idx val="2"/>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8-64BB-474B-AE7B-AC5C2F686AC9}"/>
              </c:ext>
            </c:extLst>
          </c:dPt>
          <c:dPt>
            <c:idx val="3"/>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5-64BB-474B-AE7B-AC5C2F686AC9}"/>
              </c:ext>
            </c:extLst>
          </c:dPt>
          <c:dPt>
            <c:idx val="4"/>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9-64BB-474B-AE7B-AC5C2F686AC9}"/>
              </c:ext>
            </c:extLst>
          </c:dPt>
          <c:dPt>
            <c:idx val="5"/>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A-64BB-474B-AE7B-AC5C2F686AC9}"/>
              </c:ext>
            </c:extLst>
          </c:dPt>
          <c:dPt>
            <c:idx val="6"/>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B-64BB-474B-AE7B-AC5C2F686AC9}"/>
              </c:ext>
            </c:extLst>
          </c:dPt>
          <c:dPt>
            <c:idx val="7"/>
            <c:invertIfNegative val="0"/>
            <c:bubble3D val="0"/>
            <c:spPr>
              <a:solidFill>
                <a:srgbClr val="2E75B6"/>
              </a:solidFill>
              <a:ln>
                <a:solidFill>
                  <a:schemeClr val="dk1">
                    <a:alpha val="94000"/>
                  </a:schemeClr>
                </a:solidFill>
              </a:ln>
              <a:effectLst/>
            </c:spPr>
            <c:extLst>
              <c:ext xmlns:c16="http://schemas.microsoft.com/office/drawing/2014/chart" uri="{C3380CC4-5D6E-409C-BE32-E72D297353CC}">
                <c16:uniqueId val="{0000000C-64BB-474B-AE7B-AC5C2F686AC9}"/>
              </c:ext>
            </c:extLst>
          </c:dPt>
          <c:dPt>
            <c:idx val="8"/>
            <c:invertIfNegative val="0"/>
            <c:bubble3D val="0"/>
            <c:spPr>
              <a:solidFill>
                <a:srgbClr val="FF9900"/>
              </a:solidFill>
              <a:ln>
                <a:solidFill>
                  <a:schemeClr val="dk1">
                    <a:alpha val="94000"/>
                  </a:schemeClr>
                </a:solidFill>
              </a:ln>
              <a:effectLst/>
            </c:spPr>
            <c:extLst>
              <c:ext xmlns:c16="http://schemas.microsoft.com/office/drawing/2014/chart" uri="{C3380CC4-5D6E-409C-BE32-E72D297353CC}">
                <c16:uniqueId val="{00000004-64BB-474B-AE7B-AC5C2F686AC9}"/>
              </c:ext>
            </c:extLst>
          </c:dPt>
          <c:dPt>
            <c:idx val="9"/>
            <c:invertIfNegative val="0"/>
            <c:bubble3D val="0"/>
            <c:spPr>
              <a:solidFill>
                <a:srgbClr val="FF9900"/>
              </a:solidFill>
              <a:ln>
                <a:solidFill>
                  <a:schemeClr val="dk1">
                    <a:alpha val="94000"/>
                  </a:schemeClr>
                </a:solidFill>
              </a:ln>
              <a:effectLst/>
            </c:spPr>
            <c:extLst>
              <c:ext xmlns:c16="http://schemas.microsoft.com/office/drawing/2014/chart" uri="{C3380CC4-5D6E-409C-BE32-E72D297353CC}">
                <c16:uniqueId val="{00000003-64BB-474B-AE7B-AC5C2F686AC9}"/>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create</c:v>
                </c:pt>
                <c:pt idx="1">
                  <c:v>release</c:v>
                </c:pt>
                <c:pt idx="2">
                  <c:v>activate</c:v>
                </c:pt>
                <c:pt idx="3">
                  <c:v>freeze</c:v>
                </c:pt>
                <c:pt idx="4">
                  <c:v>bind</c:v>
                </c:pt>
                <c:pt idx="5">
                  <c:v>unbind</c:v>
                </c:pt>
                <c:pt idx="6">
                  <c:v>update1*</c:v>
                </c:pt>
                <c:pt idx="7">
                  <c:v>update2*</c:v>
                </c:pt>
                <c:pt idx="8">
                  <c:v>getpid</c:v>
                </c:pt>
                <c:pt idx="9">
                  <c:v>pthread_create</c:v>
                </c:pt>
              </c:strCache>
            </c:strRef>
          </c:cat>
          <c:val>
            <c:numRef>
              <c:f>Sheet1!$B$2:$B$11</c:f>
              <c:numCache>
                <c:formatCode>General</c:formatCode>
                <c:ptCount val="10"/>
                <c:pt idx="0">
                  <c:v>8782</c:v>
                </c:pt>
                <c:pt idx="1">
                  <c:v>2877</c:v>
                </c:pt>
                <c:pt idx="2">
                  <c:v>421</c:v>
                </c:pt>
                <c:pt idx="3">
                  <c:v>458</c:v>
                </c:pt>
                <c:pt idx="4">
                  <c:v>458</c:v>
                </c:pt>
                <c:pt idx="5">
                  <c:v>495</c:v>
                </c:pt>
                <c:pt idx="6">
                  <c:v>364</c:v>
                </c:pt>
                <c:pt idx="7">
                  <c:v>525</c:v>
                </c:pt>
                <c:pt idx="8">
                  <c:v>411</c:v>
                </c:pt>
                <c:pt idx="9">
                  <c:v>22491</c:v>
                </c:pt>
              </c:numCache>
            </c:numRef>
          </c:val>
          <c:extLst>
            <c:ext xmlns:c16="http://schemas.microsoft.com/office/drawing/2014/chart" uri="{C3380CC4-5D6E-409C-BE32-E72D297353CC}">
              <c16:uniqueId val="{00000000-64BB-474B-AE7B-AC5C2F686AC9}"/>
            </c:ext>
          </c:extLst>
        </c:ser>
        <c:dLbls>
          <c:showLegendKey val="0"/>
          <c:showVal val="0"/>
          <c:showCatName val="0"/>
          <c:showSerName val="0"/>
          <c:showPercent val="0"/>
          <c:showBubbleSize val="0"/>
        </c:dLbls>
        <c:gapWidth val="219"/>
        <c:overlap val="-27"/>
        <c:axId val="722273007"/>
        <c:axId val="107104031"/>
      </c:barChart>
      <c:catAx>
        <c:axId val="722273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crossAx val="107104031"/>
        <c:crosses val="autoZero"/>
        <c:auto val="1"/>
        <c:lblAlgn val="ctr"/>
        <c:lblOffset val="100"/>
        <c:noMultiLvlLbl val="0"/>
      </c:catAx>
      <c:valAx>
        <c:axId val="107104031"/>
        <c:scaling>
          <c:logBase val="10"/>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ltLang="zh-CN" sz="1800" b="0" i="0" u="none" strike="noStrike" kern="1200" spc="0" baseline="0">
                    <a:solidFill>
                      <a:prstClr val="black">
                        <a:lumMod val="65000"/>
                        <a:lumOff val="35000"/>
                      </a:prstClr>
                    </a:solidFill>
                  </a:rPr>
                  <a:t>Latency(</a:t>
                </a:r>
                <a:r>
                  <a:rPr lang="en-US" altLang="zh-CN" sz="1800" b="0" i="0" u="none" strike="noStrike" kern="1200" spc="0" baseline="0" err="1">
                    <a:solidFill>
                      <a:prstClr val="black">
                        <a:lumMod val="65000"/>
                        <a:lumOff val="35000"/>
                      </a:prstClr>
                    </a:solidFill>
                  </a:rPr>
                  <a:t>ms</a:t>
                </a:r>
                <a:r>
                  <a:rPr lang="en-US" altLang="zh-CN" sz="1800" b="0" i="0" u="none" strike="noStrike" kern="1200" spc="0" baseline="0">
                    <a:solidFill>
                      <a:prstClr val="black">
                        <a:lumMod val="65000"/>
                        <a:lumOff val="35000"/>
                      </a:prstClr>
                    </a:solidFill>
                  </a:rPr>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222730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pbox</c:v>
                </c:pt>
              </c:strCache>
            </c:strRef>
          </c:tx>
          <c:spPr>
            <a:solidFill>
              <a:schemeClr val="accent1"/>
            </a:solidFill>
            <a:ln>
              <a:solidFill>
                <a:schemeClr val="tx1"/>
              </a:solidFill>
            </a:ln>
            <a:effectLst/>
          </c:spPr>
          <c:invertIfNegative val="0"/>
          <c:cat>
            <c:strRef>
              <c:f>Sheet1!$A$2:$A$17</c:f>
              <c:strCache>
                <c:ptCount val="16"/>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strCache>
            </c:strRef>
          </c:cat>
          <c:val>
            <c:numRef>
              <c:f>Sheet1!$B$2:$B$17</c:f>
              <c:numCache>
                <c:formatCode>General</c:formatCode>
                <c:ptCount val="16"/>
                <c:pt idx="0">
                  <c:v>1.1024203619999999</c:v>
                </c:pt>
                <c:pt idx="1">
                  <c:v>0.86169416440000002</c:v>
                </c:pt>
                <c:pt idx="2">
                  <c:v>0.83247389230000002</c:v>
                </c:pt>
                <c:pt idx="3">
                  <c:v>1.1363501199999999</c:v>
                </c:pt>
                <c:pt idx="4">
                  <c:v>0.76259871570000004</c:v>
                </c:pt>
                <c:pt idx="5">
                  <c:v>0.77370125469999995</c:v>
                </c:pt>
                <c:pt idx="6">
                  <c:v>0.99908992880000003</c:v>
                </c:pt>
                <c:pt idx="7">
                  <c:v>0.99936502009999995</c:v>
                </c:pt>
                <c:pt idx="8">
                  <c:v>0.99749718239999996</c:v>
                </c:pt>
                <c:pt idx="9">
                  <c:v>0.87674042119999995</c:v>
                </c:pt>
                <c:pt idx="10">
                  <c:v>0.44566474270000001</c:v>
                </c:pt>
                <c:pt idx="11">
                  <c:v>0.90064773259999997</c:v>
                </c:pt>
                <c:pt idx="12">
                  <c:v>0.90984367560000001</c:v>
                </c:pt>
                <c:pt idx="13">
                  <c:v>0.95216400000000001</c:v>
                </c:pt>
                <c:pt idx="14">
                  <c:v>0.38888797219999999</c:v>
                </c:pt>
                <c:pt idx="15">
                  <c:v>-5.2631052630000001E-2</c:v>
                </c:pt>
              </c:numCache>
            </c:numRef>
          </c:val>
          <c:extLst>
            <c:ext xmlns:c16="http://schemas.microsoft.com/office/drawing/2014/chart" uri="{C3380CC4-5D6E-409C-BE32-E72D297353CC}">
              <c16:uniqueId val="{00000000-2D1D-4902-977F-81A84BE57ABB}"/>
            </c:ext>
          </c:extLst>
        </c:ser>
        <c:dLbls>
          <c:showLegendKey val="0"/>
          <c:showVal val="0"/>
          <c:showCatName val="0"/>
          <c:showSerName val="0"/>
          <c:showPercent val="0"/>
          <c:showBubbleSize val="0"/>
        </c:dLbls>
        <c:gapWidth val="219"/>
        <c:overlap val="-27"/>
        <c:axId val="15210928"/>
        <c:axId val="66255935"/>
      </c:barChart>
      <c:catAx>
        <c:axId val="152109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6255935"/>
        <c:crosses val="autoZero"/>
        <c:auto val="1"/>
        <c:lblAlgn val="ctr"/>
        <c:lblOffset val="100"/>
        <c:noMultiLvlLbl val="0"/>
      </c:catAx>
      <c:valAx>
        <c:axId val="66255935"/>
        <c:scaling>
          <c:orientation val="minMax"/>
          <c:max val="1.2"/>
          <c:min val="-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52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pbox</c:v>
                </c:pt>
              </c:strCache>
            </c:strRef>
          </c:tx>
          <c:spPr>
            <a:solidFill>
              <a:schemeClr val="accent1"/>
            </a:solidFill>
            <a:ln>
              <a:noFill/>
            </a:ln>
            <a:effectLst/>
          </c:spPr>
          <c:invertIfNegative val="0"/>
          <c:cat>
            <c:strRef>
              <c:f>Sheet1!$A$2:$A$17</c:f>
              <c:strCache>
                <c:ptCount val="16"/>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strCache>
            </c:strRef>
          </c:cat>
          <c:val>
            <c:numRef>
              <c:f>Sheet1!$B$2:$B$17</c:f>
              <c:numCache>
                <c:formatCode>General</c:formatCode>
                <c:ptCount val="16"/>
                <c:pt idx="0">
                  <c:v>1.1024203619999999</c:v>
                </c:pt>
                <c:pt idx="1">
                  <c:v>0.86169416440000002</c:v>
                </c:pt>
                <c:pt idx="2">
                  <c:v>0.83247389230000002</c:v>
                </c:pt>
                <c:pt idx="3">
                  <c:v>1.1363501199999999</c:v>
                </c:pt>
                <c:pt idx="4">
                  <c:v>0.76259871570000004</c:v>
                </c:pt>
                <c:pt idx="5">
                  <c:v>0.77370125469999995</c:v>
                </c:pt>
                <c:pt idx="6">
                  <c:v>0.99908992880000003</c:v>
                </c:pt>
                <c:pt idx="7">
                  <c:v>0.99936502009999995</c:v>
                </c:pt>
                <c:pt idx="8">
                  <c:v>0.99749718239999996</c:v>
                </c:pt>
                <c:pt idx="9">
                  <c:v>0.87674042119999995</c:v>
                </c:pt>
                <c:pt idx="10">
                  <c:v>0.44566474270000001</c:v>
                </c:pt>
                <c:pt idx="11">
                  <c:v>0.90064773259999997</c:v>
                </c:pt>
                <c:pt idx="12">
                  <c:v>0.90984367560000001</c:v>
                </c:pt>
                <c:pt idx="13">
                  <c:v>0.95216400000000001</c:v>
                </c:pt>
                <c:pt idx="14">
                  <c:v>0.38888797219999999</c:v>
                </c:pt>
                <c:pt idx="15">
                  <c:v>-5.2631052630000001E-2</c:v>
                </c:pt>
              </c:numCache>
            </c:numRef>
          </c:val>
          <c:extLst>
            <c:ext xmlns:c16="http://schemas.microsoft.com/office/drawing/2014/chart" uri="{C3380CC4-5D6E-409C-BE32-E72D297353CC}">
              <c16:uniqueId val="{00000000-2D1D-4902-977F-81A84BE57ABB}"/>
            </c:ext>
          </c:extLst>
        </c:ser>
        <c:ser>
          <c:idx val="1"/>
          <c:order val="1"/>
          <c:tx>
            <c:strRef>
              <c:f>Sheet1!$C$1</c:f>
              <c:strCache>
                <c:ptCount val="1"/>
                <c:pt idx="0">
                  <c:v>cgroup</c:v>
                </c:pt>
              </c:strCache>
            </c:strRef>
          </c:tx>
          <c:spPr>
            <a:solidFill>
              <a:schemeClr val="accent2"/>
            </a:solidFill>
            <a:ln>
              <a:noFill/>
            </a:ln>
            <a:effectLst/>
          </c:spPr>
          <c:invertIfNegative val="0"/>
          <c:cat>
            <c:strRef>
              <c:f>Sheet1!$A$2:$A$17</c:f>
              <c:strCache>
                <c:ptCount val="16"/>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strCache>
            </c:strRef>
          </c:cat>
          <c:val>
            <c:numRef>
              <c:f>Sheet1!$C$2:$C$17</c:f>
              <c:numCache>
                <c:formatCode>General</c:formatCode>
                <c:ptCount val="16"/>
                <c:pt idx="0">
                  <c:v>-0.32205307090000002</c:v>
                </c:pt>
                <c:pt idx="1">
                  <c:v>-0.17885050799999999</c:v>
                </c:pt>
                <c:pt idx="2">
                  <c:v>2.9289320439999999E-2</c:v>
                </c:pt>
                <c:pt idx="3">
                  <c:v>-0.15399679969999999</c:v>
                </c:pt>
                <c:pt idx="4">
                  <c:v>-0.38077957029999998</c:v>
                </c:pt>
                <c:pt idx="5">
                  <c:v>0.20000002480000001</c:v>
                </c:pt>
                <c:pt idx="6">
                  <c:v>-0.66722058220000002</c:v>
                </c:pt>
                <c:pt idx="7">
                  <c:v>-0.2526711418</c:v>
                </c:pt>
                <c:pt idx="8">
                  <c:v>-3.3412526470000002E-2</c:v>
                </c:pt>
                <c:pt idx="9">
                  <c:v>0.77812946000000005</c:v>
                </c:pt>
                <c:pt idx="10">
                  <c:v>-5.2927628740000003E-2</c:v>
                </c:pt>
                <c:pt idx="11">
                  <c:v>-7.1509999769999999E-3</c:v>
                </c:pt>
                <c:pt idx="12">
                  <c:v>-0.94963327220000004</c:v>
                </c:pt>
                <c:pt idx="13">
                  <c:v>-0.133796</c:v>
                </c:pt>
                <c:pt idx="14">
                  <c:v>-5.5555777780000003E-2</c:v>
                </c:pt>
                <c:pt idx="15">
                  <c:v>-0.10526210530000001</c:v>
                </c:pt>
              </c:numCache>
            </c:numRef>
          </c:val>
          <c:extLst>
            <c:ext xmlns:c16="http://schemas.microsoft.com/office/drawing/2014/chart" uri="{C3380CC4-5D6E-409C-BE32-E72D297353CC}">
              <c16:uniqueId val="{00000001-2D1D-4902-977F-81A84BE57ABB}"/>
            </c:ext>
          </c:extLst>
        </c:ser>
        <c:ser>
          <c:idx val="2"/>
          <c:order val="2"/>
          <c:tx>
            <c:strRef>
              <c:f>Sheet1!$D$1</c:f>
              <c:strCache>
                <c:ptCount val="1"/>
                <c:pt idx="0">
                  <c:v>Parties</c:v>
                </c:pt>
              </c:strCache>
            </c:strRef>
          </c:tx>
          <c:spPr>
            <a:solidFill>
              <a:schemeClr val="accent3"/>
            </a:solidFill>
            <a:ln>
              <a:noFill/>
            </a:ln>
            <a:effectLst/>
          </c:spPr>
          <c:invertIfNegative val="0"/>
          <c:cat>
            <c:strRef>
              <c:f>Sheet1!$A$2:$A$17</c:f>
              <c:strCache>
                <c:ptCount val="16"/>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strCache>
            </c:strRef>
          </c:cat>
          <c:val>
            <c:numRef>
              <c:f>Sheet1!$D$2:$D$17</c:f>
              <c:numCache>
                <c:formatCode>General</c:formatCode>
                <c:ptCount val="16"/>
                <c:pt idx="0">
                  <c:v>-1.519320231</c:v>
                </c:pt>
                <c:pt idx="1">
                  <c:v>0.30664738270000003</c:v>
                </c:pt>
                <c:pt idx="2">
                  <c:v>0.10146450460000001</c:v>
                </c:pt>
                <c:pt idx="3">
                  <c:v>-0.67141812580000004</c:v>
                </c:pt>
                <c:pt idx="4">
                  <c:v>-2.7059045629999998</c:v>
                </c:pt>
                <c:pt idx="5">
                  <c:v>-0.1423177286</c:v>
                </c:pt>
                <c:pt idx="6">
                  <c:v>-6.8482739019999999</c:v>
                </c:pt>
                <c:pt idx="7">
                  <c:v>-6.3797389600000001</c:v>
                </c:pt>
                <c:pt idx="8">
                  <c:v>-3.169582047</c:v>
                </c:pt>
                <c:pt idx="9">
                  <c:v>-0.1248386732</c:v>
                </c:pt>
                <c:pt idx="10">
                  <c:v>-0.15289225479999999</c:v>
                </c:pt>
                <c:pt idx="11">
                  <c:v>-2.3916722560000001E-4</c:v>
                </c:pt>
                <c:pt idx="12">
                  <c:v>3.3093648409999999E-4</c:v>
                </c:pt>
                <c:pt idx="13">
                  <c:v>-2.885E-3</c:v>
                </c:pt>
                <c:pt idx="14">
                  <c:v>-0.18595313890000001</c:v>
                </c:pt>
                <c:pt idx="15">
                  <c:v>-0.10526210530000001</c:v>
                </c:pt>
              </c:numCache>
            </c:numRef>
          </c:val>
          <c:extLst>
            <c:ext xmlns:c16="http://schemas.microsoft.com/office/drawing/2014/chart" uri="{C3380CC4-5D6E-409C-BE32-E72D297353CC}">
              <c16:uniqueId val="{00000002-2D1D-4902-977F-81A84BE57ABB}"/>
            </c:ext>
          </c:extLst>
        </c:ser>
        <c:ser>
          <c:idx val="3"/>
          <c:order val="3"/>
          <c:tx>
            <c:strRef>
              <c:f>Sheet1!$E$1</c:f>
              <c:strCache>
                <c:ptCount val="1"/>
                <c:pt idx="0">
                  <c:v>Retro</c:v>
                </c:pt>
              </c:strCache>
            </c:strRef>
          </c:tx>
          <c:spPr>
            <a:solidFill>
              <a:schemeClr val="accent4"/>
            </a:solidFill>
            <a:ln>
              <a:noFill/>
            </a:ln>
            <a:effectLst/>
          </c:spPr>
          <c:invertIfNegative val="0"/>
          <c:cat>
            <c:strRef>
              <c:f>Sheet1!$A$2:$A$17</c:f>
              <c:strCache>
                <c:ptCount val="16"/>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strCache>
            </c:strRef>
          </c:cat>
          <c:val>
            <c:numRef>
              <c:f>Sheet1!$E$2:$E$17</c:f>
              <c:numCache>
                <c:formatCode>General</c:formatCode>
                <c:ptCount val="16"/>
                <c:pt idx="0">
                  <c:v>-0.5301709953</c:v>
                </c:pt>
                <c:pt idx="1">
                  <c:v>0.38795929959999997</c:v>
                </c:pt>
                <c:pt idx="2">
                  <c:v>0.1703876282</c:v>
                </c:pt>
                <c:pt idx="3">
                  <c:v>-0.36832795169999999</c:v>
                </c:pt>
                <c:pt idx="4">
                  <c:v>-0.36873391859999999</c:v>
                </c:pt>
                <c:pt idx="5">
                  <c:v>-6.6996213819999997E-2</c:v>
                </c:pt>
                <c:pt idx="6">
                  <c:v>0.51363415400000001</c:v>
                </c:pt>
                <c:pt idx="7">
                  <c:v>0.57802732369999998</c:v>
                </c:pt>
                <c:pt idx="8">
                  <c:v>-0.16566029460000001</c:v>
                </c:pt>
                <c:pt idx="9">
                  <c:v>0.2169603822</c:v>
                </c:pt>
                <c:pt idx="10">
                  <c:v>-1.9111782000000001E-4</c:v>
                </c:pt>
                <c:pt idx="11">
                  <c:v>-6.232357662E-3</c:v>
                </c:pt>
                <c:pt idx="12">
                  <c:v>-0.95235196560000002</c:v>
                </c:pt>
                <c:pt idx="13">
                  <c:v>-7.0560999999999999E-2</c:v>
                </c:pt>
                <c:pt idx="14">
                  <c:v>-2.8083331939999998</c:v>
                </c:pt>
                <c:pt idx="15">
                  <c:v>-5.2631052630000001E-2</c:v>
                </c:pt>
              </c:numCache>
            </c:numRef>
          </c:val>
          <c:extLst>
            <c:ext xmlns:c16="http://schemas.microsoft.com/office/drawing/2014/chart" uri="{C3380CC4-5D6E-409C-BE32-E72D297353CC}">
              <c16:uniqueId val="{00000003-2D1D-4902-977F-81A84BE57ABB}"/>
            </c:ext>
          </c:extLst>
        </c:ser>
        <c:ser>
          <c:idx val="4"/>
          <c:order val="4"/>
          <c:tx>
            <c:strRef>
              <c:f>Sheet1!$F$1</c:f>
              <c:strCache>
                <c:ptCount val="1"/>
                <c:pt idx="0">
                  <c:v>PSP</c:v>
                </c:pt>
              </c:strCache>
            </c:strRef>
          </c:tx>
          <c:spPr>
            <a:solidFill>
              <a:schemeClr val="accent5"/>
            </a:solidFill>
            <a:ln>
              <a:noFill/>
            </a:ln>
            <a:effectLst/>
          </c:spPr>
          <c:invertIfNegative val="0"/>
          <c:cat>
            <c:strRef>
              <c:f>Sheet1!$A$2:$A$17</c:f>
              <c:strCache>
                <c:ptCount val="16"/>
                <c:pt idx="0">
                  <c:v>c1</c:v>
                </c:pt>
                <c:pt idx="1">
                  <c:v>c2</c:v>
                </c:pt>
                <c:pt idx="2">
                  <c:v>c3</c:v>
                </c:pt>
                <c:pt idx="3">
                  <c:v>c4</c:v>
                </c:pt>
                <c:pt idx="4">
                  <c:v>c5</c:v>
                </c:pt>
                <c:pt idx="5">
                  <c:v>c6</c:v>
                </c:pt>
                <c:pt idx="6">
                  <c:v>c7</c:v>
                </c:pt>
                <c:pt idx="7">
                  <c:v>c8</c:v>
                </c:pt>
                <c:pt idx="8">
                  <c:v>c9</c:v>
                </c:pt>
                <c:pt idx="9">
                  <c:v>c10</c:v>
                </c:pt>
                <c:pt idx="10">
                  <c:v>c11</c:v>
                </c:pt>
                <c:pt idx="11">
                  <c:v>c12</c:v>
                </c:pt>
                <c:pt idx="12">
                  <c:v>c13</c:v>
                </c:pt>
                <c:pt idx="13">
                  <c:v>c14</c:v>
                </c:pt>
                <c:pt idx="14">
                  <c:v>c15</c:v>
                </c:pt>
                <c:pt idx="15">
                  <c:v>c16</c:v>
                </c:pt>
              </c:strCache>
            </c:strRef>
          </c:cat>
          <c:val>
            <c:numRef>
              <c:f>Sheet1!$F$2:$F$17</c:f>
              <c:numCache>
                <c:formatCode>General</c:formatCode>
                <c:ptCount val="16"/>
                <c:pt idx="0">
                  <c:v>-2.8035149709999998</c:v>
                </c:pt>
                <c:pt idx="1">
                  <c:v>-24.435795930000001</c:v>
                </c:pt>
                <c:pt idx="2">
                  <c:v>2.383495679E-2</c:v>
                </c:pt>
                <c:pt idx="3">
                  <c:v>-1.7461524859999999</c:v>
                </c:pt>
                <c:pt idx="4">
                  <c:v>-0.6328893404</c:v>
                </c:pt>
                <c:pt idx="5">
                  <c:v>0.92661482100000003</c:v>
                </c:pt>
                <c:pt idx="6">
                  <c:v>-2.9151026139999998</c:v>
                </c:pt>
                <c:pt idx="7">
                  <c:v>-0.8046654083</c:v>
                </c:pt>
                <c:pt idx="8">
                  <c:v>-1.008752973</c:v>
                </c:pt>
                <c:pt idx="9">
                  <c:v>1.1252790349999999</c:v>
                </c:pt>
                <c:pt idx="10">
                  <c:v>-0.2968810207</c:v>
                </c:pt>
                <c:pt idx="11">
                  <c:v>-0.49233924340000002</c:v>
                </c:pt>
                <c:pt idx="12">
                  <c:v>-0.45205121450000002</c:v>
                </c:pt>
                <c:pt idx="13">
                  <c:v>-0.15246100000000001</c:v>
                </c:pt>
                <c:pt idx="14">
                  <c:v>-5.5555777780000003E-2</c:v>
                </c:pt>
                <c:pt idx="15">
                  <c:v>-0.10526210530000001</c:v>
                </c:pt>
              </c:numCache>
            </c:numRef>
          </c:val>
          <c:extLst>
            <c:ext xmlns:c16="http://schemas.microsoft.com/office/drawing/2014/chart" uri="{C3380CC4-5D6E-409C-BE32-E72D297353CC}">
              <c16:uniqueId val="{00000004-2D1D-4902-977F-81A84BE57ABB}"/>
            </c:ext>
          </c:extLst>
        </c:ser>
        <c:dLbls>
          <c:showLegendKey val="0"/>
          <c:showVal val="0"/>
          <c:showCatName val="0"/>
          <c:showSerName val="0"/>
          <c:showPercent val="0"/>
          <c:showBubbleSize val="0"/>
        </c:dLbls>
        <c:gapWidth val="219"/>
        <c:overlap val="-27"/>
        <c:axId val="15210928"/>
        <c:axId val="66255935"/>
      </c:barChart>
      <c:catAx>
        <c:axId val="152109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6255935"/>
        <c:crosses val="autoZero"/>
        <c:auto val="1"/>
        <c:lblAlgn val="ctr"/>
        <c:lblOffset val="100"/>
        <c:noMultiLvlLbl val="0"/>
      </c:catAx>
      <c:valAx>
        <c:axId val="66255935"/>
        <c:scaling>
          <c:orientation val="minMax"/>
          <c:max val="1"/>
          <c:min val="-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52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MySQL</c:v>
                </c:pt>
              </c:strCache>
            </c:strRef>
          </c:tx>
          <c:spPr>
            <a:solidFill>
              <a:schemeClr val="accent1"/>
            </a:solidFill>
            <a:ln>
              <a:noFill/>
            </a:ln>
            <a:effectLst/>
          </c:spPr>
          <c:invertIfNegative val="0"/>
          <c:cat>
            <c:numRef>
              <c:f>Sheet1!$A$2:$A$5</c:f>
              <c:numCache>
                <c:formatCode>General</c:formatCode>
                <c:ptCount val="4"/>
                <c:pt idx="0">
                  <c:v>1</c:v>
                </c:pt>
                <c:pt idx="1">
                  <c:v>16</c:v>
                </c:pt>
                <c:pt idx="2">
                  <c:v>32</c:v>
                </c:pt>
                <c:pt idx="3">
                  <c:v>64</c:v>
                </c:pt>
              </c:numCache>
            </c:numRef>
          </c:cat>
          <c:val>
            <c:numRef>
              <c:f>Sheet1!$B$2:$B$5</c:f>
              <c:numCache>
                <c:formatCode>General</c:formatCode>
                <c:ptCount val="4"/>
                <c:pt idx="0">
                  <c:v>0</c:v>
                </c:pt>
                <c:pt idx="1">
                  <c:v>1.522604939E-3</c:v>
                </c:pt>
                <c:pt idx="2">
                  <c:v>4.2576708419999998E-2</c:v>
                </c:pt>
                <c:pt idx="3">
                  <c:v>2.8521203870000001E-2</c:v>
                </c:pt>
              </c:numCache>
            </c:numRef>
          </c:val>
          <c:extLst>
            <c:ext xmlns:c16="http://schemas.microsoft.com/office/drawing/2014/chart" uri="{C3380CC4-5D6E-409C-BE32-E72D297353CC}">
              <c16:uniqueId val="{00000000-2E61-483D-B722-143938629C8D}"/>
            </c:ext>
          </c:extLst>
        </c:ser>
        <c:ser>
          <c:idx val="1"/>
          <c:order val="1"/>
          <c:tx>
            <c:strRef>
              <c:f>Sheet1!$C$1</c:f>
              <c:strCache>
                <c:ptCount val="1"/>
                <c:pt idx="0">
                  <c:v>PostgreSQL</c:v>
                </c:pt>
              </c:strCache>
            </c:strRef>
          </c:tx>
          <c:spPr>
            <a:solidFill>
              <a:schemeClr val="accent2"/>
            </a:solidFill>
            <a:ln>
              <a:noFill/>
            </a:ln>
            <a:effectLst/>
          </c:spPr>
          <c:invertIfNegative val="0"/>
          <c:cat>
            <c:numRef>
              <c:f>Sheet1!$A$2:$A$5</c:f>
              <c:numCache>
                <c:formatCode>General</c:formatCode>
                <c:ptCount val="4"/>
                <c:pt idx="0">
                  <c:v>1</c:v>
                </c:pt>
                <c:pt idx="1">
                  <c:v>16</c:v>
                </c:pt>
                <c:pt idx="2">
                  <c:v>32</c:v>
                </c:pt>
                <c:pt idx="3">
                  <c:v>64</c:v>
                </c:pt>
              </c:numCache>
            </c:numRef>
          </c:cat>
          <c:val>
            <c:numRef>
              <c:f>Sheet1!$C$2:$C$5</c:f>
              <c:numCache>
                <c:formatCode>General</c:formatCode>
                <c:ptCount val="4"/>
                <c:pt idx="0">
                  <c:v>0</c:v>
                </c:pt>
                <c:pt idx="1">
                  <c:v>0</c:v>
                </c:pt>
                <c:pt idx="2">
                  <c:v>1.3333333330000001E-2</c:v>
                </c:pt>
                <c:pt idx="3">
                  <c:v>0.01</c:v>
                </c:pt>
              </c:numCache>
            </c:numRef>
          </c:val>
          <c:extLst>
            <c:ext xmlns:c16="http://schemas.microsoft.com/office/drawing/2014/chart" uri="{C3380CC4-5D6E-409C-BE32-E72D297353CC}">
              <c16:uniqueId val="{00000001-2E61-483D-B722-143938629C8D}"/>
            </c:ext>
          </c:extLst>
        </c:ser>
        <c:ser>
          <c:idx val="2"/>
          <c:order val="2"/>
          <c:tx>
            <c:strRef>
              <c:f>Sheet1!$D$1</c:f>
              <c:strCache>
                <c:ptCount val="1"/>
                <c:pt idx="0">
                  <c:v>Apache</c:v>
                </c:pt>
              </c:strCache>
            </c:strRef>
          </c:tx>
          <c:spPr>
            <a:solidFill>
              <a:schemeClr val="accent3"/>
            </a:solidFill>
            <a:ln>
              <a:noFill/>
            </a:ln>
            <a:effectLst/>
          </c:spPr>
          <c:invertIfNegative val="0"/>
          <c:cat>
            <c:numRef>
              <c:f>Sheet1!$A$2:$A$5</c:f>
              <c:numCache>
                <c:formatCode>General</c:formatCode>
                <c:ptCount val="4"/>
                <c:pt idx="0">
                  <c:v>1</c:v>
                </c:pt>
                <c:pt idx="1">
                  <c:v>16</c:v>
                </c:pt>
                <c:pt idx="2">
                  <c:v>32</c:v>
                </c:pt>
                <c:pt idx="3">
                  <c:v>64</c:v>
                </c:pt>
              </c:numCache>
            </c:numRef>
          </c:cat>
          <c:val>
            <c:numRef>
              <c:f>Sheet1!$D$2:$D$5</c:f>
              <c:numCache>
                <c:formatCode>General</c:formatCode>
                <c:ptCount val="4"/>
                <c:pt idx="0">
                  <c:v>2.1978021980000002E-2</c:v>
                </c:pt>
                <c:pt idx="1">
                  <c:v>0</c:v>
                </c:pt>
                <c:pt idx="2">
                  <c:v>1.886792453E-2</c:v>
                </c:pt>
                <c:pt idx="3">
                  <c:v>4.9180327869999999E-2</c:v>
                </c:pt>
              </c:numCache>
            </c:numRef>
          </c:val>
          <c:extLst>
            <c:ext xmlns:c16="http://schemas.microsoft.com/office/drawing/2014/chart" uri="{C3380CC4-5D6E-409C-BE32-E72D297353CC}">
              <c16:uniqueId val="{00000002-2E61-483D-B722-143938629C8D}"/>
            </c:ext>
          </c:extLst>
        </c:ser>
        <c:ser>
          <c:idx val="3"/>
          <c:order val="3"/>
          <c:tx>
            <c:strRef>
              <c:f>Sheet1!$E$1</c:f>
              <c:strCache>
                <c:ptCount val="1"/>
                <c:pt idx="0">
                  <c:v>Varnish</c:v>
                </c:pt>
              </c:strCache>
            </c:strRef>
          </c:tx>
          <c:spPr>
            <a:solidFill>
              <a:schemeClr val="accent4"/>
            </a:solidFill>
            <a:ln>
              <a:noFill/>
            </a:ln>
            <a:effectLst/>
          </c:spPr>
          <c:invertIfNegative val="0"/>
          <c:cat>
            <c:numRef>
              <c:f>Sheet1!$A$2:$A$5</c:f>
              <c:numCache>
                <c:formatCode>General</c:formatCode>
                <c:ptCount val="4"/>
                <c:pt idx="0">
                  <c:v>1</c:v>
                </c:pt>
                <c:pt idx="1">
                  <c:v>16</c:v>
                </c:pt>
                <c:pt idx="2">
                  <c:v>32</c:v>
                </c:pt>
                <c:pt idx="3">
                  <c:v>64</c:v>
                </c:pt>
              </c:numCache>
            </c:numRef>
          </c:cat>
          <c:val>
            <c:numRef>
              <c:f>Sheet1!$E$2:$E$5</c:f>
              <c:numCache>
                <c:formatCode>General</c:formatCode>
                <c:ptCount val="4"/>
                <c:pt idx="0">
                  <c:v>5.5555555559999997E-2</c:v>
                </c:pt>
                <c:pt idx="1">
                  <c:v>4.4117647060000001E-2</c:v>
                </c:pt>
                <c:pt idx="2">
                  <c:v>1.0057471260000001E-2</c:v>
                </c:pt>
                <c:pt idx="3">
                  <c:v>4.747000522E-2</c:v>
                </c:pt>
              </c:numCache>
            </c:numRef>
          </c:val>
          <c:extLst>
            <c:ext xmlns:c16="http://schemas.microsoft.com/office/drawing/2014/chart" uri="{C3380CC4-5D6E-409C-BE32-E72D297353CC}">
              <c16:uniqueId val="{00000005-2E61-483D-B722-143938629C8D}"/>
            </c:ext>
          </c:extLst>
        </c:ser>
        <c:ser>
          <c:idx val="4"/>
          <c:order val="4"/>
          <c:tx>
            <c:strRef>
              <c:f>Sheet1!$F$1</c:f>
              <c:strCache>
                <c:ptCount val="1"/>
                <c:pt idx="0">
                  <c:v>Memcached</c:v>
                </c:pt>
              </c:strCache>
            </c:strRef>
          </c:tx>
          <c:spPr>
            <a:solidFill>
              <a:schemeClr val="accent5"/>
            </a:solidFill>
            <a:ln>
              <a:noFill/>
            </a:ln>
            <a:effectLst/>
          </c:spPr>
          <c:invertIfNegative val="0"/>
          <c:cat>
            <c:numRef>
              <c:f>Sheet1!$A$2:$A$5</c:f>
              <c:numCache>
                <c:formatCode>General</c:formatCode>
                <c:ptCount val="4"/>
                <c:pt idx="0">
                  <c:v>1</c:v>
                </c:pt>
                <c:pt idx="1">
                  <c:v>16</c:v>
                </c:pt>
                <c:pt idx="2">
                  <c:v>32</c:v>
                </c:pt>
                <c:pt idx="3">
                  <c:v>64</c:v>
                </c:pt>
              </c:numCache>
            </c:numRef>
          </c:cat>
          <c:val>
            <c:numRef>
              <c:f>Sheet1!$F$2:$F$5</c:f>
              <c:numCache>
                <c:formatCode>General</c:formatCode>
                <c:ptCount val="4"/>
                <c:pt idx="0">
                  <c:v>4.747000522E-2</c:v>
                </c:pt>
                <c:pt idx="1">
                  <c:v>2.9844726759999999E-2</c:v>
                </c:pt>
                <c:pt idx="2">
                  <c:v>5.173427396E-2</c:v>
                </c:pt>
                <c:pt idx="3">
                  <c:v>2.0275791620000001E-2</c:v>
                </c:pt>
              </c:numCache>
            </c:numRef>
          </c:val>
          <c:extLst>
            <c:ext xmlns:c16="http://schemas.microsoft.com/office/drawing/2014/chart" uri="{C3380CC4-5D6E-409C-BE32-E72D297353CC}">
              <c16:uniqueId val="{00000006-2E61-483D-B722-143938629C8D}"/>
            </c:ext>
          </c:extLst>
        </c:ser>
        <c:dLbls>
          <c:showLegendKey val="0"/>
          <c:showVal val="0"/>
          <c:showCatName val="0"/>
          <c:showSerName val="0"/>
          <c:showPercent val="0"/>
          <c:showBubbleSize val="0"/>
        </c:dLbls>
        <c:gapWidth val="150"/>
        <c:axId val="244992879"/>
        <c:axId val="238398655"/>
      </c:barChart>
      <c:catAx>
        <c:axId val="244992879"/>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ltLang="zh-CN" sz="1800"/>
                  <a:t># of threads</a:t>
                </a:r>
                <a:endParaRPr lang="zh-CN" altLang="en-US" sz="1800"/>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238398655"/>
        <c:crosses val="autoZero"/>
        <c:auto val="1"/>
        <c:lblAlgn val="ctr"/>
        <c:lblOffset val="100"/>
        <c:noMultiLvlLbl val="0"/>
      </c:catAx>
      <c:valAx>
        <c:axId val="2383986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a:t>Overhead</a:t>
                </a:r>
                <a:endParaRPr lang="zh-CN" alt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zh-CN"/>
          </a:p>
        </c:txPr>
        <c:crossAx val="244992879"/>
        <c:crosses val="autoZero"/>
        <c:crossBetween val="between"/>
        <c:majorUnit val="2.0000000000000004E-2"/>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MySQL</c:v>
                </c:pt>
              </c:strCache>
            </c:strRef>
          </c:tx>
          <c:spPr>
            <a:solidFill>
              <a:schemeClr val="accent1"/>
            </a:solidFill>
            <a:ln>
              <a:noFill/>
            </a:ln>
            <a:effectLst/>
          </c:spPr>
          <c:invertIfNegative val="0"/>
          <c:cat>
            <c:numRef>
              <c:f>Sheet1!$A$2:$A$5</c:f>
              <c:numCache>
                <c:formatCode>General</c:formatCode>
                <c:ptCount val="4"/>
                <c:pt idx="0">
                  <c:v>1</c:v>
                </c:pt>
                <c:pt idx="1">
                  <c:v>16</c:v>
                </c:pt>
                <c:pt idx="2">
                  <c:v>32</c:v>
                </c:pt>
                <c:pt idx="3">
                  <c:v>64</c:v>
                </c:pt>
              </c:numCache>
            </c:numRef>
          </c:cat>
          <c:val>
            <c:numRef>
              <c:f>Sheet1!$B$2:$B$5</c:f>
              <c:numCache>
                <c:formatCode>General</c:formatCode>
                <c:ptCount val="4"/>
                <c:pt idx="0">
                  <c:v>0</c:v>
                </c:pt>
                <c:pt idx="1">
                  <c:v>-3.221195133E-3</c:v>
                </c:pt>
                <c:pt idx="2">
                  <c:v>2.6595215139999999E-3</c:v>
                </c:pt>
                <c:pt idx="3">
                  <c:v>1.4470865290000001E-2</c:v>
                </c:pt>
              </c:numCache>
            </c:numRef>
          </c:val>
          <c:extLst>
            <c:ext xmlns:c16="http://schemas.microsoft.com/office/drawing/2014/chart" uri="{C3380CC4-5D6E-409C-BE32-E72D297353CC}">
              <c16:uniqueId val="{00000000-0ED3-4D3B-9ACE-9D651E425329}"/>
            </c:ext>
          </c:extLst>
        </c:ser>
        <c:ser>
          <c:idx val="1"/>
          <c:order val="1"/>
          <c:tx>
            <c:strRef>
              <c:f>Sheet1!$C$1</c:f>
              <c:strCache>
                <c:ptCount val="1"/>
                <c:pt idx="0">
                  <c:v>PostgreSQL</c:v>
                </c:pt>
              </c:strCache>
            </c:strRef>
          </c:tx>
          <c:spPr>
            <a:solidFill>
              <a:schemeClr val="accent2"/>
            </a:solidFill>
            <a:ln>
              <a:noFill/>
            </a:ln>
            <a:effectLst/>
          </c:spPr>
          <c:invertIfNegative val="0"/>
          <c:cat>
            <c:numRef>
              <c:f>Sheet1!$A$2:$A$5</c:f>
              <c:numCache>
                <c:formatCode>General</c:formatCode>
                <c:ptCount val="4"/>
                <c:pt idx="0">
                  <c:v>1</c:v>
                </c:pt>
                <c:pt idx="1">
                  <c:v>16</c:v>
                </c:pt>
                <c:pt idx="2">
                  <c:v>32</c:v>
                </c:pt>
                <c:pt idx="3">
                  <c:v>64</c:v>
                </c:pt>
              </c:numCache>
            </c:numRef>
          </c:cat>
          <c:val>
            <c:numRef>
              <c:f>Sheet1!$C$2:$C$5</c:f>
              <c:numCache>
                <c:formatCode>General</c:formatCode>
                <c:ptCount val="4"/>
                <c:pt idx="0">
                  <c:v>0.05</c:v>
                </c:pt>
                <c:pt idx="1">
                  <c:v>5.1457125200000002E-2</c:v>
                </c:pt>
                <c:pt idx="2">
                  <c:v>3.587449081E-2</c:v>
                </c:pt>
                <c:pt idx="3">
                  <c:v>2.0107997020000001E-2</c:v>
                </c:pt>
              </c:numCache>
            </c:numRef>
          </c:val>
          <c:extLst>
            <c:ext xmlns:c16="http://schemas.microsoft.com/office/drawing/2014/chart" uri="{C3380CC4-5D6E-409C-BE32-E72D297353CC}">
              <c16:uniqueId val="{00000001-0ED3-4D3B-9ACE-9D651E425329}"/>
            </c:ext>
          </c:extLst>
        </c:ser>
        <c:ser>
          <c:idx val="2"/>
          <c:order val="2"/>
          <c:tx>
            <c:strRef>
              <c:f>Sheet1!$D$1</c:f>
              <c:strCache>
                <c:ptCount val="1"/>
                <c:pt idx="0">
                  <c:v>Memcached</c:v>
                </c:pt>
              </c:strCache>
            </c:strRef>
          </c:tx>
          <c:spPr>
            <a:solidFill>
              <a:schemeClr val="accent3"/>
            </a:solidFill>
            <a:ln>
              <a:noFill/>
            </a:ln>
            <a:effectLst/>
          </c:spPr>
          <c:invertIfNegative val="0"/>
          <c:cat>
            <c:numRef>
              <c:f>Sheet1!$A$2:$A$5</c:f>
              <c:numCache>
                <c:formatCode>General</c:formatCode>
                <c:ptCount val="4"/>
                <c:pt idx="0">
                  <c:v>1</c:v>
                </c:pt>
                <c:pt idx="1">
                  <c:v>16</c:v>
                </c:pt>
                <c:pt idx="2">
                  <c:v>32</c:v>
                </c:pt>
                <c:pt idx="3">
                  <c:v>64</c:v>
                </c:pt>
              </c:numCache>
            </c:numRef>
          </c:cat>
          <c:val>
            <c:numRef>
              <c:f>Sheet1!$D$2:$D$5</c:f>
              <c:numCache>
                <c:formatCode>General</c:formatCode>
                <c:ptCount val="4"/>
                <c:pt idx="0">
                  <c:v>4.747000522E-2</c:v>
                </c:pt>
                <c:pt idx="1">
                  <c:v>2.9844726759999999E-2</c:v>
                </c:pt>
                <c:pt idx="2">
                  <c:v>5.173427396E-2</c:v>
                </c:pt>
                <c:pt idx="3">
                  <c:v>2.0275791620000001E-2</c:v>
                </c:pt>
              </c:numCache>
            </c:numRef>
          </c:val>
          <c:extLst>
            <c:ext xmlns:c16="http://schemas.microsoft.com/office/drawing/2014/chart" uri="{C3380CC4-5D6E-409C-BE32-E72D297353CC}">
              <c16:uniqueId val="{00000002-0ED3-4D3B-9ACE-9D651E425329}"/>
            </c:ext>
          </c:extLst>
        </c:ser>
        <c:dLbls>
          <c:showLegendKey val="0"/>
          <c:showVal val="0"/>
          <c:showCatName val="0"/>
          <c:showSerName val="0"/>
          <c:showPercent val="0"/>
          <c:showBubbleSize val="0"/>
        </c:dLbls>
        <c:gapWidth val="150"/>
        <c:axId val="244992879"/>
        <c:axId val="238398655"/>
      </c:barChart>
      <c:catAx>
        <c:axId val="244992879"/>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800"/>
                  <a:t>#</a:t>
                </a:r>
                <a:r>
                  <a:rPr lang="en-US" sz="1800" baseline="0"/>
                  <a:t> of threads</a:t>
                </a:r>
                <a:endParaRPr lang="en-US" sz="180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238398655"/>
        <c:crosses val="autoZero"/>
        <c:auto val="1"/>
        <c:lblAlgn val="ctr"/>
        <c:lblOffset val="100"/>
        <c:noMultiLvlLbl val="0"/>
      </c:catAx>
      <c:valAx>
        <c:axId val="2383986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Overhead</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zh-CN"/>
          </a:p>
        </c:txPr>
        <c:crossAx val="244992879"/>
        <c:crosses val="autoZero"/>
        <c:crossBetween val="between"/>
        <c:majorUnit val="2.0000000000000004E-2"/>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Fixed_10</c:v>
                </c:pt>
              </c:strCache>
            </c:strRef>
          </c:tx>
          <c:spPr>
            <a:solidFill>
              <a:schemeClr val="accent1"/>
            </a:solidFill>
            <a:ln>
              <a:noFill/>
            </a:ln>
            <a:effectLst/>
          </c:spPr>
          <c:invertIfNegative val="0"/>
          <c:cat>
            <c:strRef>
              <c:f>Sheet1!$A$2:$A$10</c:f>
              <c:strCache>
                <c:ptCount val="9"/>
                <c:pt idx="0">
                  <c:v>c1</c:v>
                </c:pt>
                <c:pt idx="1">
                  <c:v>c3</c:v>
                </c:pt>
                <c:pt idx="2">
                  <c:v>c4</c:v>
                </c:pt>
                <c:pt idx="3">
                  <c:v>c5</c:v>
                </c:pt>
                <c:pt idx="4">
                  <c:v>c6</c:v>
                </c:pt>
                <c:pt idx="5">
                  <c:v>c7</c:v>
                </c:pt>
                <c:pt idx="6">
                  <c:v>c8</c:v>
                </c:pt>
                <c:pt idx="7">
                  <c:v>c9</c:v>
                </c:pt>
                <c:pt idx="8">
                  <c:v>c10</c:v>
                </c:pt>
              </c:strCache>
            </c:strRef>
          </c:cat>
          <c:val>
            <c:numRef>
              <c:f>Sheet1!$B$2:$B$10</c:f>
              <c:numCache>
                <c:formatCode>General</c:formatCode>
                <c:ptCount val="9"/>
                <c:pt idx="0">
                  <c:v>0.1040668652</c:v>
                </c:pt>
                <c:pt idx="1">
                  <c:v>0.82750670650000002</c:v>
                </c:pt>
                <c:pt idx="2">
                  <c:v>0.2231704192</c:v>
                </c:pt>
                <c:pt idx="3">
                  <c:v>0.2055336016</c:v>
                </c:pt>
                <c:pt idx="4">
                  <c:v>0.81781800859999998</c:v>
                </c:pt>
                <c:pt idx="5">
                  <c:v>0.79232404519999999</c:v>
                </c:pt>
                <c:pt idx="6">
                  <c:v>0.97812595209999997</c:v>
                </c:pt>
                <c:pt idx="7">
                  <c:v>0.81728220610000002</c:v>
                </c:pt>
                <c:pt idx="8">
                  <c:v>0.98387924510000002</c:v>
                </c:pt>
              </c:numCache>
            </c:numRef>
          </c:val>
          <c:extLst>
            <c:ext xmlns:c16="http://schemas.microsoft.com/office/drawing/2014/chart" uri="{C3380CC4-5D6E-409C-BE32-E72D297353CC}">
              <c16:uniqueId val="{00000000-140F-4A96-8FD4-FC458EFC8C70}"/>
            </c:ext>
          </c:extLst>
        </c:ser>
        <c:ser>
          <c:idx val="1"/>
          <c:order val="1"/>
          <c:tx>
            <c:strRef>
              <c:f>Sheet1!$C$1</c:f>
              <c:strCache>
                <c:ptCount val="1"/>
                <c:pt idx="0">
                  <c:v>Fixed_100</c:v>
                </c:pt>
              </c:strCache>
            </c:strRef>
          </c:tx>
          <c:spPr>
            <a:solidFill>
              <a:schemeClr val="accent2"/>
            </a:solidFill>
            <a:ln>
              <a:noFill/>
            </a:ln>
            <a:effectLst/>
          </c:spPr>
          <c:invertIfNegative val="0"/>
          <c:cat>
            <c:strRef>
              <c:f>Sheet1!$A$2:$A$10</c:f>
              <c:strCache>
                <c:ptCount val="9"/>
                <c:pt idx="0">
                  <c:v>c1</c:v>
                </c:pt>
                <c:pt idx="1">
                  <c:v>c3</c:v>
                </c:pt>
                <c:pt idx="2">
                  <c:v>c4</c:v>
                </c:pt>
                <c:pt idx="3">
                  <c:v>c5</c:v>
                </c:pt>
                <c:pt idx="4">
                  <c:v>c6</c:v>
                </c:pt>
                <c:pt idx="5">
                  <c:v>c7</c:v>
                </c:pt>
                <c:pt idx="6">
                  <c:v>c8</c:v>
                </c:pt>
                <c:pt idx="7">
                  <c:v>c9</c:v>
                </c:pt>
                <c:pt idx="8">
                  <c:v>c10</c:v>
                </c:pt>
              </c:strCache>
            </c:strRef>
          </c:cat>
          <c:val>
            <c:numRef>
              <c:f>Sheet1!$C$2:$C$10</c:f>
              <c:numCache>
                <c:formatCode>General</c:formatCode>
                <c:ptCount val="9"/>
                <c:pt idx="0">
                  <c:v>0.70965884410000002</c:v>
                </c:pt>
                <c:pt idx="1">
                  <c:v>0.68470588539999999</c:v>
                </c:pt>
                <c:pt idx="2">
                  <c:v>0.81291242070000003</c:v>
                </c:pt>
                <c:pt idx="3">
                  <c:v>0.72962162720000001</c:v>
                </c:pt>
                <c:pt idx="4">
                  <c:v>0.79590281090000004</c:v>
                </c:pt>
                <c:pt idx="5">
                  <c:v>0.99762236039999996</c:v>
                </c:pt>
                <c:pt idx="6">
                  <c:v>0.99826800709999997</c:v>
                </c:pt>
                <c:pt idx="7">
                  <c:v>0.93285979590000001</c:v>
                </c:pt>
                <c:pt idx="8">
                  <c:v>0.90640864619999995</c:v>
                </c:pt>
              </c:numCache>
            </c:numRef>
          </c:val>
          <c:extLst>
            <c:ext xmlns:c16="http://schemas.microsoft.com/office/drawing/2014/chart" uri="{C3380CC4-5D6E-409C-BE32-E72D297353CC}">
              <c16:uniqueId val="{00000001-140F-4A96-8FD4-FC458EFC8C70}"/>
            </c:ext>
          </c:extLst>
        </c:ser>
        <c:ser>
          <c:idx val="2"/>
          <c:order val="2"/>
          <c:tx>
            <c:strRef>
              <c:f>Sheet1!$D$1</c:f>
              <c:strCache>
                <c:ptCount val="1"/>
                <c:pt idx="0">
                  <c:v>adaptive</c:v>
                </c:pt>
              </c:strCache>
            </c:strRef>
          </c:tx>
          <c:spPr>
            <a:solidFill>
              <a:schemeClr val="accent3"/>
            </a:solidFill>
            <a:ln>
              <a:noFill/>
            </a:ln>
            <a:effectLst/>
          </c:spPr>
          <c:invertIfNegative val="0"/>
          <c:cat>
            <c:strRef>
              <c:f>Sheet1!$A$2:$A$10</c:f>
              <c:strCache>
                <c:ptCount val="9"/>
                <c:pt idx="0">
                  <c:v>c1</c:v>
                </c:pt>
                <c:pt idx="1">
                  <c:v>c3</c:v>
                </c:pt>
                <c:pt idx="2">
                  <c:v>c4</c:v>
                </c:pt>
                <c:pt idx="3">
                  <c:v>c5</c:v>
                </c:pt>
                <c:pt idx="4">
                  <c:v>c6</c:v>
                </c:pt>
                <c:pt idx="5">
                  <c:v>c7</c:v>
                </c:pt>
                <c:pt idx="6">
                  <c:v>c8</c:v>
                </c:pt>
                <c:pt idx="7">
                  <c:v>c9</c:v>
                </c:pt>
                <c:pt idx="8">
                  <c:v>c10</c:v>
                </c:pt>
              </c:strCache>
            </c:strRef>
          </c:cat>
          <c:val>
            <c:numRef>
              <c:f>Sheet1!$D$2:$D$10</c:f>
              <c:numCache>
                <c:formatCode>General</c:formatCode>
                <c:ptCount val="9"/>
                <c:pt idx="0">
                  <c:v>1.1035897290000001</c:v>
                </c:pt>
                <c:pt idx="1">
                  <c:v>0.81850485829999997</c:v>
                </c:pt>
                <c:pt idx="2">
                  <c:v>1.137162225</c:v>
                </c:pt>
                <c:pt idx="3">
                  <c:v>0.76259911250000001</c:v>
                </c:pt>
                <c:pt idx="4">
                  <c:v>0.77398761309999997</c:v>
                </c:pt>
                <c:pt idx="5">
                  <c:v>0.99953524380000003</c:v>
                </c:pt>
                <c:pt idx="6">
                  <c:v>0.99961387989999995</c:v>
                </c:pt>
                <c:pt idx="7">
                  <c:v>0.99574031780000005</c:v>
                </c:pt>
                <c:pt idx="8">
                  <c:v>0.93856775520000002</c:v>
                </c:pt>
              </c:numCache>
            </c:numRef>
          </c:val>
          <c:extLst>
            <c:ext xmlns:c16="http://schemas.microsoft.com/office/drawing/2014/chart" uri="{C3380CC4-5D6E-409C-BE32-E72D297353CC}">
              <c16:uniqueId val="{00000002-140F-4A96-8FD4-FC458EFC8C70}"/>
            </c:ext>
          </c:extLst>
        </c:ser>
        <c:dLbls>
          <c:showLegendKey val="0"/>
          <c:showVal val="0"/>
          <c:showCatName val="0"/>
          <c:showSerName val="0"/>
          <c:showPercent val="0"/>
          <c:showBubbleSize val="0"/>
        </c:dLbls>
        <c:gapWidth val="219"/>
        <c:overlap val="-27"/>
        <c:axId val="18917616"/>
        <c:axId val="1240622287"/>
      </c:barChart>
      <c:catAx>
        <c:axId val="18917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240622287"/>
        <c:crosses val="autoZero"/>
        <c:auto val="1"/>
        <c:lblAlgn val="ctr"/>
        <c:lblOffset val="100"/>
        <c:noMultiLvlLbl val="0"/>
      </c:catAx>
      <c:valAx>
        <c:axId val="12406222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917616"/>
        <c:crosses val="autoZero"/>
        <c:crossBetween val="between"/>
      </c:valAx>
      <c:spPr>
        <a:noFill/>
        <a:ln>
          <a:noFill/>
        </a:ln>
        <a:effectLst/>
      </c:spPr>
    </c:plotArea>
    <c:legend>
      <c:legendPos val="b"/>
      <c:layout>
        <c:manualLayout>
          <c:xMode val="edge"/>
          <c:yMode val="edge"/>
          <c:x val="0.36089642564589536"/>
          <c:y val="0.93182498177933126"/>
          <c:w val="0.43567094078807123"/>
          <c:h val="6.8175018220668779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7E8C6E5-1FAB-3FA9-89E3-A930F1D068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D1480FB-5FB0-9E94-A8E8-26653B5D60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42C90-C03F-416B-A9C3-BB261D6E15CA}" type="datetimeFigureOut">
              <a:rPr lang="zh-CN" altLang="en-US" smtClean="0"/>
              <a:t>2023/10/24</a:t>
            </a:fld>
            <a:endParaRPr lang="zh-CN" altLang="en-US"/>
          </a:p>
        </p:txBody>
      </p:sp>
      <p:sp>
        <p:nvSpPr>
          <p:cNvPr id="4" name="页脚占位符 3">
            <a:extLst>
              <a:ext uri="{FF2B5EF4-FFF2-40B4-BE49-F238E27FC236}">
                <a16:creationId xmlns:a16="http://schemas.microsoft.com/office/drawing/2014/main" id="{FEAB38D6-B264-C425-9493-EB391C9554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90EA88F-8226-7832-A0CE-142EDE74FC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28D46D-D174-412F-8540-503A44B2B23B}" type="slidenum">
              <a:rPr lang="zh-CN" altLang="en-US" smtClean="0"/>
              <a:t>‹#›</a:t>
            </a:fld>
            <a:endParaRPr lang="zh-CN" altLang="en-US"/>
          </a:p>
        </p:txBody>
      </p:sp>
    </p:spTree>
    <p:extLst>
      <p:ext uri="{BB962C8B-B14F-4D97-AF65-F5344CB8AC3E}">
        <p14:creationId xmlns:p14="http://schemas.microsoft.com/office/powerpoint/2010/main" val="35928508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1ABD1-7B45-4AF4-BED8-4478C87EA2FA}" type="datetimeFigureOut">
              <a:rPr lang="zh-CN" altLang="en-US" smtClean="0"/>
              <a:t>2023/10/24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FF6CE-9EF0-4880-ACC2-1A07A2BABDC8}" type="slidenum">
              <a:rPr lang="zh-CN" altLang="en-US" smtClean="0"/>
              <a:t>‹#›</a:t>
            </a:fld>
            <a:endParaRPr lang="zh-CN" altLang="en-US"/>
          </a:p>
        </p:txBody>
      </p:sp>
    </p:spTree>
    <p:extLst>
      <p:ext uri="{BB962C8B-B14F-4D97-AF65-F5344CB8AC3E}">
        <p14:creationId xmlns:p14="http://schemas.microsoft.com/office/powerpoint/2010/main" val="301915000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I am Yigong Hu from Johns Hopkins University. Today, I will present our work </a:t>
            </a:r>
            <a:r>
              <a:rPr lang="en-US" b="1">
                <a:solidFill>
                  <a:schemeClr val="tx1">
                    <a:lumMod val="85000"/>
                    <a:lumOff val="15000"/>
                  </a:schemeClr>
                </a:solidFill>
                <a:latin typeface="quadon"/>
                <a:cs typeface="Calibri Light"/>
              </a:rPr>
              <a:t>Pushing Performance Isolation </a:t>
            </a:r>
            <a:r>
              <a:rPr lang="en-US" b="1">
                <a:solidFill>
                  <a:schemeClr val="tx1">
                    <a:lumMod val="85000"/>
                    <a:lumOff val="15000"/>
                  </a:schemeClr>
                </a:solidFill>
                <a:latin typeface="quadon"/>
                <a:ea typeface="+mj-lt"/>
                <a:cs typeface="+mj-lt"/>
              </a:rPr>
              <a:t>Boundaries into Application with </a:t>
            </a:r>
            <a:r>
              <a:rPr lang="en-US" b="1" err="1">
                <a:solidFill>
                  <a:schemeClr val="tx1">
                    <a:lumMod val="85000"/>
                    <a:lumOff val="15000"/>
                  </a:schemeClr>
                </a:solidFill>
                <a:latin typeface="quadon"/>
                <a:ea typeface="+mj-lt"/>
                <a:cs typeface="+mj-lt"/>
              </a:rPr>
              <a:t>pBox</a:t>
            </a:r>
            <a:r>
              <a:rPr lang="en-US" b="1">
                <a:solidFill>
                  <a:schemeClr val="tx1">
                    <a:lumMod val="85000"/>
                    <a:lumOff val="15000"/>
                  </a:schemeClr>
                </a:solidFill>
                <a:latin typeface="quadon"/>
                <a:ea typeface="+mj-lt"/>
                <a:cs typeface="+mj-lt"/>
              </a:rPr>
              <a:t>. </a:t>
            </a:r>
            <a:r>
              <a:rPr lang="en-US" b="0">
                <a:solidFill>
                  <a:schemeClr val="tx1">
                    <a:lumMod val="85000"/>
                    <a:lumOff val="15000"/>
                  </a:schemeClr>
                </a:solidFill>
                <a:latin typeface="quadon"/>
                <a:ea typeface="+mj-lt"/>
                <a:cs typeface="+mj-lt"/>
              </a:rPr>
              <a:t>This is a joint work with my co-authors  </a:t>
            </a:r>
            <a:r>
              <a:rPr lang="en-US" b="0" err="1">
                <a:solidFill>
                  <a:schemeClr val="tx1">
                    <a:lumMod val="85000"/>
                    <a:lumOff val="15000"/>
                  </a:schemeClr>
                </a:solidFill>
                <a:latin typeface="quadon"/>
                <a:ea typeface="+mj-lt"/>
                <a:cs typeface="+mj-lt"/>
              </a:rPr>
              <a:t>Gongqi</a:t>
            </a:r>
            <a:r>
              <a:rPr lang="en-US" b="0">
                <a:solidFill>
                  <a:schemeClr val="tx1">
                    <a:lumMod val="85000"/>
                    <a:lumOff val="15000"/>
                  </a:schemeClr>
                </a:solidFill>
                <a:latin typeface="quadon"/>
                <a:ea typeface="+mj-lt"/>
                <a:cs typeface="+mj-lt"/>
              </a:rPr>
              <a:t> and Ryan.</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a:t>
            </a:fld>
            <a:endParaRPr lang="zh-CN" altLang="en-US"/>
          </a:p>
        </p:txBody>
      </p:sp>
    </p:spTree>
    <p:extLst>
      <p:ext uri="{BB962C8B-B14F-4D97-AF65-F5344CB8AC3E}">
        <p14:creationId xmlns:p14="http://schemas.microsoft.com/office/powerpoint/2010/main" val="2976790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Söhne"/>
              </a:rPr>
              <a:t>Providing performance isolation is crucial in multi-application environments to ensure that each application can maintain a consistent and predictable performance. Inter-application performance inference, which comes from contention for shared system resource, has the potential to introduce unpredictable performance regressions. </a:t>
            </a:r>
            <a:r>
              <a:rPr lang="en-US"/>
              <a:t>To address this issue, </a:t>
            </a:r>
            <a:r>
              <a:rPr lang="en-US" b="0" i="0">
                <a:solidFill>
                  <a:srgbClr val="374151"/>
                </a:solidFill>
                <a:effectLst/>
                <a:latin typeface="Söhne"/>
              </a:rPr>
              <a:t>decades of work have focused on ensuring that applications running on the same system can coexist without significantly degrading each other's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a:t>
            </a:fld>
            <a:endParaRPr lang="zh-CN" altLang="en-US"/>
          </a:p>
        </p:txBody>
      </p:sp>
    </p:spTree>
    <p:extLst>
      <p:ext uri="{BB962C8B-B14F-4D97-AF65-F5344CB8AC3E}">
        <p14:creationId xmlns:p14="http://schemas.microsoft.com/office/powerpoint/2010/main" val="303346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However, </a:t>
            </a:r>
            <a:r>
              <a:rPr lang="en-US" b="0" i="0">
                <a:solidFill>
                  <a:srgbClr val="374151"/>
                </a:solidFill>
                <a:effectLst/>
                <a:latin typeface="Söhne"/>
              </a:rPr>
              <a:t>modern applications are becoming increasingly concurrent, running a diverse mix of activities simultaneously. This concurrency introduces a new challenge: performance interference within applications, which we refer to as 'intra-application performance interference.’ </a:t>
            </a:r>
            <a:r>
              <a:rPr lang="en-US" altLang="zh-CN"/>
              <a:t>When a noisy task monopolizes a shared application virtual resource such as a global queue, it </a:t>
            </a:r>
            <a:r>
              <a:rPr lang="en-US" b="0" i="0">
                <a:solidFill>
                  <a:srgbClr val="374151"/>
                </a:solidFill>
                <a:effectLst/>
                <a:latin typeface="Söhne"/>
              </a:rPr>
              <a:t>disrupts the performance of other tasks, causing an intra-application performance interference.</a:t>
            </a:r>
            <a:r>
              <a:rPr lang="en-US" altLang="zh-CN"/>
              <a:t> </a:t>
            </a:r>
            <a:endParaRPr lang="zh-CN" alt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Unlike traditional inter-application interference, </a:t>
            </a:r>
            <a:r>
              <a:rPr lang="en-US" sz="1200" b="0" i="0" u="none" strike="noStrike" kern="1200">
                <a:solidFill>
                  <a:schemeClr val="tx1"/>
                </a:solidFill>
                <a:effectLst/>
                <a:latin typeface="+mn-lt"/>
                <a:ea typeface="+mn-ea"/>
                <a:cs typeface="+mn-cs"/>
              </a:rPr>
              <a:t>intra-application interference</a:t>
            </a:r>
            <a:r>
              <a:rPr lang="en-US" altLang="zh-CN" b="0"/>
              <a:t> </a:t>
            </a:r>
            <a:r>
              <a:rPr lang="en-US" altLang="zh-CN"/>
              <a:t>is caused by the contention on the resource designed and implemented by application developers. </a:t>
            </a:r>
          </a:p>
        </p:txBody>
      </p:sp>
      <p:sp>
        <p:nvSpPr>
          <p:cNvPr id="4" name="灯片编号占位符 3"/>
          <p:cNvSpPr>
            <a:spLocks noGrp="1"/>
          </p:cNvSpPr>
          <p:nvPr>
            <p:ph type="sldNum" sz="quarter" idx="5"/>
          </p:nvPr>
        </p:nvSpPr>
        <p:spPr/>
        <p:txBody>
          <a:bodyPr/>
          <a:lstStyle/>
          <a:p>
            <a:fld id="{0ABFF6CE-9EF0-4880-ACC2-1A07A2BABDC8}" type="slidenum">
              <a:rPr lang="zh-CN" altLang="en-US" smtClean="0"/>
              <a:t>3</a:t>
            </a:fld>
            <a:endParaRPr lang="zh-CN" altLang="en-US"/>
          </a:p>
        </p:txBody>
      </p:sp>
    </p:spTree>
    <p:extLst>
      <p:ext uri="{BB962C8B-B14F-4D97-AF65-F5344CB8AC3E}">
        <p14:creationId xmlns:p14="http://schemas.microsoft.com/office/powerpoint/2010/main" val="3135561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Here is an example of intra-application interference caused by UNDO log contention. </a:t>
            </a:r>
            <a:r>
              <a:rPr lang="en-US" b="0" i="0">
                <a:solidFill>
                  <a:srgbClr val="374151"/>
                </a:solidFill>
                <a:effectLst/>
                <a:latin typeface="Söhne"/>
              </a:rPr>
              <a:t>In this experiment, we begin by running a client that continuously sends write requests to the server. After 30 seconds, we introduce a new client executing long read transactions on the same table. To maintain multiple versions of the table, MySQL accumulates an increasing UNDO log. When a read transaction completes, it triggers the purge thread to clean up the older UNDO log entries. This cleanup process, while not due to any inherent design flaw in the UNDO log itself, creates resource contention within the UNDO log. This contention, in turn, leads to performance interference on the write query.</a:t>
            </a:r>
            <a:endParaRPr lang="zh-CN" altLang="en-US"/>
          </a:p>
        </p:txBody>
      </p:sp>
      <p:sp>
        <p:nvSpPr>
          <p:cNvPr id="4" name="灯片编号占位符 3"/>
          <p:cNvSpPr>
            <a:spLocks noGrp="1"/>
          </p:cNvSpPr>
          <p:nvPr>
            <p:ph type="sldNum" sz="quarter" idx="5"/>
          </p:nvPr>
        </p:nvSpPr>
        <p:spPr/>
        <p:txBody>
          <a:bodyPr/>
          <a:lstStyle/>
          <a:p>
            <a:fld id="{0ABFF6CE-9EF0-4880-ACC2-1A07A2BABDC8}" type="slidenum">
              <a:rPr lang="zh-CN" altLang="en-US" smtClean="0"/>
              <a:t>4</a:t>
            </a:fld>
            <a:endParaRPr lang="zh-CN" altLang="en-US"/>
          </a:p>
        </p:txBody>
      </p:sp>
    </p:spTree>
    <p:extLst>
      <p:ext uri="{BB962C8B-B14F-4D97-AF65-F5344CB8AC3E}">
        <p14:creationId xmlns:p14="http://schemas.microsoft.com/office/powerpoint/2010/main" val="3372265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b="0" i="0">
                <a:solidFill>
                  <a:srgbClr val="374151"/>
                </a:solidFill>
                <a:effectLst/>
                <a:latin typeface="Söhne"/>
              </a:rPr>
              <a:t>Because of this subtle effect, addressing intra-application performance interference often requires a comprehensive redesign of the contended resource. This can be a time-consuming process for developer, leading to prolonged periods where intra-application interference remains within an application, potentially impacting performance for an very long time.</a:t>
            </a:r>
            <a:endParaRPr lang="en-US" sz="1200" b="0" i="0" u="none" strike="noStrike" kern="120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0ABFF6CE-9EF0-4880-ACC2-1A07A2BABDC8}" type="slidenum">
              <a:rPr lang="zh-CN" altLang="en-US" smtClean="0"/>
              <a:t>5</a:t>
            </a:fld>
            <a:endParaRPr lang="zh-CN" altLang="en-US"/>
          </a:p>
        </p:txBody>
      </p:sp>
    </p:spTree>
    <p:extLst>
      <p:ext uri="{BB962C8B-B14F-4D97-AF65-F5344CB8AC3E}">
        <p14:creationId xmlns:p14="http://schemas.microsoft.com/office/powerpoint/2010/main" val="2798339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b="0" i="0">
                <a:solidFill>
                  <a:srgbClr val="374151"/>
                </a:solidFill>
                <a:effectLst/>
                <a:latin typeface="Söhne"/>
              </a:rPr>
              <a:t>For </a:t>
            </a:r>
            <a:r>
              <a:rPr lang="en-US" altLang="zh-CN"/>
              <a:t>example</a:t>
            </a:r>
            <a:r>
              <a:rPr lang="en-US" b="0" i="0">
                <a:solidFill>
                  <a:srgbClr val="374151"/>
                </a:solidFill>
                <a:effectLst/>
                <a:latin typeface="Söhne"/>
              </a:rPr>
              <a:t>, the parameter '</a:t>
            </a:r>
            <a:r>
              <a:rPr lang="en-US" b="0" i="0" err="1">
                <a:solidFill>
                  <a:srgbClr val="374151"/>
                </a:solidFill>
                <a:effectLst/>
                <a:latin typeface="Söhne"/>
              </a:rPr>
              <a:t>innodb_thread_concurrency</a:t>
            </a:r>
            <a:r>
              <a:rPr lang="en-US" b="0" i="0">
                <a:solidFill>
                  <a:srgbClr val="374151"/>
                </a:solidFill>
                <a:effectLst/>
                <a:latin typeface="Söhne"/>
              </a:rPr>
              <a:t>' in MySQL and MariaDB has been reported by numerous users over the past 15 years. Until it was eventually deprecated by MariaDB. Given that intra-application interference can exist within an application for an very long time, there is a need for system mechanisms to mitigate intra-application performance interference at runtime.</a:t>
            </a:r>
            <a:endParaRPr lang="en-US" altLang="zh-CN"/>
          </a:p>
        </p:txBody>
      </p:sp>
      <p:sp>
        <p:nvSpPr>
          <p:cNvPr id="4" name="灯片编号占位符 3"/>
          <p:cNvSpPr>
            <a:spLocks noGrp="1"/>
          </p:cNvSpPr>
          <p:nvPr>
            <p:ph type="sldNum" sz="quarter" idx="5"/>
          </p:nvPr>
        </p:nvSpPr>
        <p:spPr/>
        <p:txBody>
          <a:bodyPr/>
          <a:lstStyle/>
          <a:p>
            <a:fld id="{0ABFF6CE-9EF0-4880-ACC2-1A07A2BABDC8}" type="slidenum">
              <a:rPr lang="zh-CN" altLang="en-US" smtClean="0"/>
              <a:t>6</a:t>
            </a:fld>
            <a:endParaRPr lang="zh-CN" altLang="en-US"/>
          </a:p>
        </p:txBody>
      </p:sp>
    </p:spTree>
    <p:extLst>
      <p:ext uri="{BB962C8B-B14F-4D97-AF65-F5344CB8AC3E}">
        <p14:creationId xmlns:p14="http://schemas.microsoft.com/office/powerpoint/2010/main" val="4007936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Currently, most performance isolation mechanisms are </a:t>
            </a:r>
            <a:r>
              <a:rPr lang="en-US" b="0" i="0" dirty="0">
                <a:solidFill>
                  <a:srgbClr val="374151"/>
                </a:solidFill>
                <a:effectLst/>
                <a:latin typeface="Söhne"/>
              </a:rPr>
              <a:t>partitioning system resources and</a:t>
            </a:r>
            <a:r>
              <a:rPr lang="en-US" altLang="zh-CN" dirty="0"/>
              <a:t> </a:t>
            </a:r>
            <a:r>
              <a:rPr lang="en-US" b="0" i="0" dirty="0">
                <a:solidFill>
                  <a:srgbClr val="374151"/>
                </a:solidFill>
                <a:effectLst/>
                <a:latin typeface="Söhne"/>
              </a:rPr>
              <a:t>dynamically adjusting these partitions</a:t>
            </a:r>
            <a:r>
              <a:rPr lang="en-US" altLang="zh-CN" dirty="0"/>
              <a:t>. </a:t>
            </a:r>
            <a:r>
              <a:rPr lang="en-US" b="0" i="0" dirty="0">
                <a:solidFill>
                  <a:srgbClr val="374151"/>
                </a:solidFill>
                <a:effectLst/>
                <a:latin typeface="Söhne"/>
              </a:rPr>
              <a:t>However, these mechanisms is inefficient in dealing with intra-application performance interference because the application's virtual resources remain hidden from the system's view. Consequently, traditional partitioning methods cannot detect contention within these virtual resources</a:t>
            </a:r>
            <a:r>
              <a:rPr lang="en-US" b="0" i="0">
                <a:solidFill>
                  <a:srgbClr val="374151"/>
                </a:solidFill>
                <a:effectLst/>
                <a:latin typeface="Söhne"/>
              </a:rPr>
              <a:t>. </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0ABFF6CE-9EF0-4880-ACC2-1A07A2BABDC8}" type="slidenum">
              <a:rPr lang="zh-CN" altLang="en-US" smtClean="0"/>
              <a:t>7</a:t>
            </a:fld>
            <a:endParaRPr lang="zh-CN" altLang="en-US"/>
          </a:p>
        </p:txBody>
      </p:sp>
    </p:spTree>
    <p:extLst>
      <p:ext uri="{BB962C8B-B14F-4D97-AF65-F5344CB8AC3E}">
        <p14:creationId xmlns:p14="http://schemas.microsoft.com/office/powerpoint/2010/main" val="1683454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b="0" i="0">
                <a:solidFill>
                  <a:srgbClr val="374151"/>
                </a:solidFill>
                <a:effectLst/>
                <a:latin typeface="Söhne"/>
              </a:rPr>
              <a:t>An alternative approach is to allocate fine-grained resource quotas to individual application tasks. In this method, the system actively monitors the resource usage of these tasks and blocks any usage that exceeds predefined thresholds. </a:t>
            </a:r>
            <a:r>
              <a:rPr lang="en-US" altLang="zh-CN"/>
              <a:t>However, the application virtual resource usage pattern is constantly shifting. </a:t>
            </a:r>
            <a:r>
              <a:rPr lang="en-US" b="0" i="0">
                <a:solidFill>
                  <a:srgbClr val="374151"/>
                </a:solidFill>
                <a:effectLst/>
                <a:latin typeface="Söhne"/>
              </a:rPr>
              <a:t>This constant fluctuation makes static resource quotas hard to effectively maintain good performance."</a:t>
            </a:r>
            <a:endParaRPr lang="en-US" altLang="zh-CN"/>
          </a:p>
        </p:txBody>
      </p:sp>
      <p:sp>
        <p:nvSpPr>
          <p:cNvPr id="4" name="灯片编号占位符 3"/>
          <p:cNvSpPr>
            <a:spLocks noGrp="1"/>
          </p:cNvSpPr>
          <p:nvPr>
            <p:ph type="sldNum" sz="quarter" idx="5"/>
          </p:nvPr>
        </p:nvSpPr>
        <p:spPr/>
        <p:txBody>
          <a:bodyPr/>
          <a:lstStyle/>
          <a:p>
            <a:fld id="{0ABFF6CE-9EF0-4880-ACC2-1A07A2BABDC8}" type="slidenum">
              <a:rPr lang="zh-CN" altLang="en-US" smtClean="0"/>
              <a:t>8</a:t>
            </a:fld>
            <a:endParaRPr lang="zh-CN" altLang="en-US"/>
          </a:p>
        </p:txBody>
      </p:sp>
    </p:spTree>
    <p:extLst>
      <p:ext uri="{BB962C8B-B14F-4D97-AF65-F5344CB8AC3E}">
        <p14:creationId xmlns:p14="http://schemas.microsoft.com/office/powerpoint/2010/main" val="478757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summary, </a:t>
            </a:r>
            <a:r>
              <a:rPr lang="en-US" b="0" i="0">
                <a:solidFill>
                  <a:srgbClr val="374151"/>
                </a:solidFill>
                <a:effectLst/>
                <a:latin typeface="Söhne"/>
              </a:rPr>
              <a:t>existing  </a:t>
            </a:r>
            <a:r>
              <a:rPr lang="en-US"/>
              <a:t>inter-application performance isolation mechanisms have three limitations. First of all, the current method is difficult to enforce isolation </a:t>
            </a:r>
            <a:r>
              <a:rPr lang="en-US" b="0" i="0">
                <a:solidFill>
                  <a:srgbClr val="374151"/>
                </a:solidFill>
                <a:effectLst/>
                <a:latin typeface="Söhne"/>
              </a:rPr>
              <a:t>within </a:t>
            </a:r>
            <a:r>
              <a:rPr lang="en-US"/>
              <a:t> applications. Second, many application level virtual resources are invisible to </a:t>
            </a:r>
            <a:r>
              <a:rPr lang="en-US" b="0" i="0">
                <a:solidFill>
                  <a:srgbClr val="374151"/>
                </a:solidFill>
                <a:effectLst/>
                <a:latin typeface="Söhne"/>
              </a:rPr>
              <a:t>these </a:t>
            </a:r>
            <a:r>
              <a:rPr lang="en-US" b="0" i="0" err="1">
                <a:solidFill>
                  <a:srgbClr val="374151"/>
                </a:solidFill>
                <a:effectLst/>
                <a:latin typeface="Söhne"/>
              </a:rPr>
              <a:t>mechanisms,making</a:t>
            </a:r>
            <a:r>
              <a:rPr lang="en-US" b="0" i="0">
                <a:solidFill>
                  <a:srgbClr val="374151"/>
                </a:solidFill>
                <a:effectLst/>
                <a:latin typeface="Söhne"/>
              </a:rPr>
              <a:t> </a:t>
            </a:r>
            <a:r>
              <a:rPr lang="en-US" b="0" i="0">
                <a:solidFill>
                  <a:srgbClr val="1D1C1D"/>
                </a:solidFill>
                <a:effectLst/>
                <a:latin typeface="Slack-Lato"/>
              </a:rPr>
              <a:t>it difficult to mitigate interference </a:t>
            </a:r>
            <a:r>
              <a:rPr lang="en-US" b="0" i="0">
                <a:solidFill>
                  <a:srgbClr val="374151"/>
                </a:solidFill>
                <a:effectLst/>
                <a:latin typeface="Söhne"/>
              </a:rPr>
              <a:t>solely </a:t>
            </a:r>
            <a:r>
              <a:rPr lang="en-US" b="0" i="0">
                <a:solidFill>
                  <a:srgbClr val="1D1C1D"/>
                </a:solidFill>
                <a:effectLst/>
                <a:latin typeface="Slack-Lato"/>
              </a:rPr>
              <a:t>by adjusting hardware resource. Finally, it is </a:t>
            </a:r>
            <a:r>
              <a:rPr lang="en-US" sz="1200" b="0" i="0">
                <a:solidFill>
                  <a:srgbClr val="1D1C1D"/>
                </a:solidFill>
                <a:effectLst/>
                <a:latin typeface="helvetica" panose="020B0604020202020204" pitchFamily="34" charset="0"/>
                <a:cs typeface="helvetica" panose="020B0604020202020204" pitchFamily="34" charset="0"/>
              </a:rPr>
              <a:t>i</a:t>
            </a:r>
            <a:r>
              <a:rPr lang="en-US" sz="1200" b="0">
                <a:latin typeface="helvetica" panose="020B0604020202020204" pitchFamily="34" charset="0"/>
                <a:cs typeface="helvetica" panose="020B0604020202020204" pitchFamily="34" charset="0"/>
              </a:rPr>
              <a:t>nsufficient and inflexible to enforce fixed resource quota in addressing intra-application interference.</a:t>
            </a:r>
          </a:p>
          <a:p>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9</a:t>
            </a:fld>
            <a:endParaRPr lang="zh-CN" altLang="en-US"/>
          </a:p>
        </p:txBody>
      </p:sp>
    </p:spTree>
    <p:extLst>
      <p:ext uri="{BB962C8B-B14F-4D97-AF65-F5344CB8AC3E}">
        <p14:creationId xmlns:p14="http://schemas.microsoft.com/office/powerpoint/2010/main" val="3774195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address these issues, we propose and implemented a new OS abstraction </a:t>
            </a:r>
            <a:r>
              <a:rPr lang="en-US" b="0" i="0">
                <a:solidFill>
                  <a:srgbClr val="374151"/>
                </a:solidFill>
                <a:effectLst/>
                <a:latin typeface="Söhne"/>
              </a:rPr>
              <a:t>called </a:t>
            </a:r>
            <a:r>
              <a:rPr lang="en-US"/>
              <a:t> </a:t>
            </a:r>
            <a:r>
              <a:rPr lang="en-US" err="1"/>
              <a:t>pBox</a:t>
            </a:r>
            <a:r>
              <a:rPr lang="en-US"/>
              <a:t> </a:t>
            </a:r>
            <a:r>
              <a:rPr lang="en-US" b="0" i="0">
                <a:solidFill>
                  <a:srgbClr val="374151"/>
                </a:solidFill>
                <a:effectLst/>
                <a:latin typeface="Söhne"/>
              </a:rPr>
              <a:t>that shifts the performance boundaries directly into the application itself</a:t>
            </a:r>
            <a:r>
              <a:rPr lang="en-US"/>
              <a:t>. With the </a:t>
            </a:r>
            <a:r>
              <a:rPr lang="en-US" err="1"/>
              <a:t>pBox</a:t>
            </a:r>
            <a:r>
              <a:rPr lang="en-US"/>
              <a:t> abstraction, developers </a:t>
            </a:r>
            <a:r>
              <a:rPr lang="en-US" b="0" i="0">
                <a:solidFill>
                  <a:srgbClr val="374151"/>
                </a:solidFill>
                <a:effectLst/>
                <a:latin typeface="Söhne"/>
              </a:rPr>
              <a:t>gain the flexibility to define arbitrary performance isolation boundaries within their applications</a:t>
            </a:r>
            <a:r>
              <a:rPr lang="en-US"/>
              <a:t>. The </a:t>
            </a:r>
            <a:r>
              <a:rPr lang="en-US" err="1"/>
              <a:t>pBox</a:t>
            </a:r>
            <a:r>
              <a:rPr lang="en-US"/>
              <a:t> provides a set of APIs for </a:t>
            </a:r>
            <a:r>
              <a:rPr lang="en-US" b="0" i="0">
                <a:solidFill>
                  <a:srgbClr val="374151"/>
                </a:solidFill>
                <a:effectLst/>
                <a:latin typeface="Söhne"/>
              </a:rPr>
              <a:t>monitoring </a:t>
            </a:r>
            <a:r>
              <a:rPr lang="en-US"/>
              <a:t>application resource usage and has a new mechanism to detect and mitigate intra-application performance interference without breaking application logic.</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10</a:t>
            </a:fld>
            <a:endParaRPr lang="zh-CN" altLang="en-US"/>
          </a:p>
        </p:txBody>
      </p:sp>
    </p:spTree>
    <p:extLst>
      <p:ext uri="{BB962C8B-B14F-4D97-AF65-F5344CB8AC3E}">
        <p14:creationId xmlns:p14="http://schemas.microsoft.com/office/powerpoint/2010/main" val="4050863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of the intra-application performance interference are caused by contention among the application resource, which are invisible to  </a:t>
            </a:r>
            <a:r>
              <a:rPr lang="en-US" b="0" i="0">
                <a:solidFill>
                  <a:srgbClr val="374151"/>
                </a:solidFill>
                <a:effectLst/>
                <a:latin typeface="Söhne"/>
              </a:rPr>
              <a:t>traditional </a:t>
            </a:r>
            <a:r>
              <a:rPr lang="en-US"/>
              <a:t>system resource management. </a:t>
            </a:r>
            <a:r>
              <a:rPr lang="en-US" b="0" i="0">
                <a:solidFill>
                  <a:srgbClr val="374151"/>
                </a:solidFill>
                <a:effectLst/>
                <a:latin typeface="Söhne"/>
              </a:rPr>
              <a:t>This inherent invisibility</a:t>
            </a:r>
            <a:r>
              <a:rPr lang="en-US"/>
              <a:t> makes </a:t>
            </a:r>
            <a:r>
              <a:rPr lang="en-US" b="0" i="0">
                <a:solidFill>
                  <a:srgbClr val="1D1C1D"/>
                </a:solidFill>
                <a:effectLst/>
                <a:latin typeface="Slack-Lato"/>
              </a:rPr>
              <a:t>system </a:t>
            </a:r>
            <a:r>
              <a:rPr lang="en-US"/>
              <a:t>resource management</a:t>
            </a:r>
            <a:r>
              <a:rPr lang="en-US" b="0" i="0">
                <a:solidFill>
                  <a:srgbClr val="1D1C1D"/>
                </a:solidFill>
                <a:effectLst/>
                <a:latin typeface="Slack-Lato"/>
              </a:rPr>
              <a:t> difficult to detect and mitigate the interference by simply adjusting hardware resource. Our </a:t>
            </a:r>
            <a:r>
              <a:rPr lang="en-US" b="0" i="0">
                <a:solidFill>
                  <a:srgbClr val="374151"/>
                </a:solidFill>
                <a:effectLst/>
                <a:latin typeface="Söhne"/>
              </a:rPr>
              <a:t>key insight with </a:t>
            </a:r>
            <a:r>
              <a:rPr lang="en-US" b="0" i="0" err="1">
                <a:solidFill>
                  <a:srgbClr val="374151"/>
                </a:solidFill>
                <a:effectLst/>
                <a:latin typeface="Söhne"/>
              </a:rPr>
              <a:t>pBox</a:t>
            </a:r>
            <a:r>
              <a:rPr lang="en-US" b="0" i="0">
                <a:solidFill>
                  <a:srgbClr val="374151"/>
                </a:solidFill>
                <a:effectLst/>
                <a:latin typeface="Söhne"/>
              </a:rPr>
              <a:t> is that by making the operating system aware of virtual resource contention within applications, we empower the system to actively monitor and control the usage of application virtual resources, thus make effective mitigation of interference possible.</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11</a:t>
            </a:fld>
            <a:endParaRPr lang="zh-CN" altLang="en-US"/>
          </a:p>
        </p:txBody>
      </p:sp>
    </p:spTree>
    <p:extLst>
      <p:ext uri="{BB962C8B-B14F-4D97-AF65-F5344CB8AC3E}">
        <p14:creationId xmlns:p14="http://schemas.microsoft.com/office/powerpoint/2010/main" val="3402781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Built on this insight, </a:t>
            </a:r>
            <a:r>
              <a:rPr lang="en-US" b="0" i="0" err="1">
                <a:solidFill>
                  <a:srgbClr val="374151"/>
                </a:solidFill>
                <a:effectLst/>
                <a:latin typeface="Söhne"/>
              </a:rPr>
              <a:t>pBox</a:t>
            </a:r>
            <a:r>
              <a:rPr lang="en-US" b="0" i="0">
                <a:solidFill>
                  <a:srgbClr val="374151"/>
                </a:solidFill>
                <a:effectLst/>
                <a:latin typeface="Söhne"/>
              </a:rPr>
              <a:t> divides an application's execution into independent activities. It traces crucial application resource usage through its library and communicates this information to a kernel-level manager. This manager monitors all </a:t>
            </a:r>
            <a:r>
              <a:rPr lang="en-US" b="0" i="0" err="1">
                <a:solidFill>
                  <a:srgbClr val="374151"/>
                </a:solidFill>
                <a:effectLst/>
                <a:latin typeface="Söhne"/>
              </a:rPr>
              <a:t>pBox</a:t>
            </a:r>
            <a:r>
              <a:rPr lang="en-US" b="0" i="0">
                <a:solidFill>
                  <a:srgbClr val="374151"/>
                </a:solidFill>
                <a:effectLst/>
                <a:latin typeface="Söhne"/>
              </a:rPr>
              <a:t> resource usage and uses a detection algorithm to identify any potential intra-application interference within </a:t>
            </a:r>
            <a:r>
              <a:rPr lang="en-US" b="0" i="0" err="1">
                <a:solidFill>
                  <a:srgbClr val="374151"/>
                </a:solidFill>
                <a:effectLst/>
                <a:latin typeface="Söhne"/>
              </a:rPr>
              <a:t>pBoxes</a:t>
            </a:r>
            <a:r>
              <a:rPr lang="en-US" b="0" i="0">
                <a:solidFill>
                  <a:srgbClr val="374151"/>
                </a:solidFill>
                <a:effectLst/>
                <a:latin typeface="Söhne"/>
              </a:rPr>
              <a:t>. When the manager detects such potential interference, it then carefully takes actions to mitigate the interference.</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12</a:t>
            </a:fld>
            <a:endParaRPr lang="zh-CN" altLang="en-US"/>
          </a:p>
        </p:txBody>
      </p:sp>
    </p:spTree>
    <p:extLst>
      <p:ext uri="{BB962C8B-B14F-4D97-AF65-F5344CB8AC3E}">
        <p14:creationId xmlns:p14="http://schemas.microsoft.com/office/powerpoint/2010/main" val="1975085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provide </a:t>
            </a:r>
            <a:r>
              <a:rPr lang="en-US" err="1"/>
              <a:t>pBox</a:t>
            </a:r>
            <a:r>
              <a:rPr lang="en-US"/>
              <a:t> as a set of APIs. </a:t>
            </a:r>
            <a:r>
              <a:rPr lang="en-US" b="0" i="0">
                <a:solidFill>
                  <a:srgbClr val="374151"/>
                </a:solidFill>
                <a:effectLst/>
                <a:latin typeface="Söhne"/>
              </a:rPr>
              <a:t>With </a:t>
            </a:r>
            <a:r>
              <a:rPr lang="en-US" b="0" i="0" err="1">
                <a:solidFill>
                  <a:srgbClr val="374151"/>
                </a:solidFill>
                <a:effectLst/>
                <a:latin typeface="Söhne"/>
              </a:rPr>
              <a:t>pBox</a:t>
            </a:r>
            <a:r>
              <a:rPr lang="en-US" b="0" i="0">
                <a:solidFill>
                  <a:srgbClr val="374151"/>
                </a:solidFill>
                <a:effectLst/>
                <a:latin typeface="Söhne"/>
              </a:rPr>
              <a:t>, d</a:t>
            </a:r>
            <a:r>
              <a:rPr lang="en-US"/>
              <a:t>evelopers can easily create a </a:t>
            </a:r>
            <a:r>
              <a:rPr lang="en-US" err="1"/>
              <a:t>pBox</a:t>
            </a:r>
            <a:r>
              <a:rPr lang="en-US"/>
              <a:t>, define the </a:t>
            </a:r>
            <a:r>
              <a:rPr lang="en-US" b="0" i="0">
                <a:solidFill>
                  <a:srgbClr val="374151"/>
                </a:solidFill>
                <a:effectLst/>
                <a:latin typeface="Söhne"/>
              </a:rPr>
              <a:t>isolation boundaries for their application, </a:t>
            </a:r>
            <a:r>
              <a:rPr lang="en-US"/>
              <a:t>activate it and trace the application resource usage. </a:t>
            </a:r>
            <a:r>
              <a:rPr lang="en-US" b="0" i="0">
                <a:solidFill>
                  <a:srgbClr val="374151"/>
                </a:solidFill>
                <a:effectLst/>
                <a:latin typeface="Söhne"/>
              </a:rPr>
              <a:t>These APIs empower developers to directly build  new isolation boundaries within their applications, and </a:t>
            </a:r>
            <a:r>
              <a:rPr lang="en-US" b="0" i="0" err="1">
                <a:solidFill>
                  <a:srgbClr val="374151"/>
                </a:solidFill>
                <a:effectLst/>
                <a:latin typeface="Söhne"/>
              </a:rPr>
              <a:t>pBox</a:t>
            </a:r>
            <a:r>
              <a:rPr lang="en-US" b="0" i="0">
                <a:solidFill>
                  <a:srgbClr val="374151"/>
                </a:solidFill>
                <a:effectLst/>
                <a:latin typeface="Söhne"/>
              </a:rPr>
              <a:t> can enforces the required performance isolation automatically."</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13</a:t>
            </a:fld>
            <a:endParaRPr lang="zh-CN" altLang="en-US"/>
          </a:p>
        </p:txBody>
      </p:sp>
    </p:spTree>
    <p:extLst>
      <p:ext uri="{BB962C8B-B14F-4D97-AF65-F5344CB8AC3E}">
        <p14:creationId xmlns:p14="http://schemas.microsoft.com/office/powerpoint/2010/main" val="4085844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example of using </a:t>
            </a:r>
            <a:r>
              <a:rPr lang="en-US" err="1"/>
              <a:t>pBox</a:t>
            </a:r>
            <a:r>
              <a:rPr lang="en-US"/>
              <a:t> to define an isolation boundary for MySQL user connections. When MySQL receives a user connection, it invokes </a:t>
            </a:r>
            <a:r>
              <a:rPr lang="en-US" err="1"/>
              <a:t>add_connection</a:t>
            </a:r>
            <a:r>
              <a:rPr lang="en-US"/>
              <a:t> function. </a:t>
            </a:r>
            <a:r>
              <a:rPr lang="en-US" b="0" i="0">
                <a:solidFill>
                  <a:srgbClr val="374151"/>
                </a:solidFill>
                <a:effectLst/>
                <a:latin typeface="Söhne"/>
              </a:rPr>
              <a:t>Within this function, there exists a loop that efficiently manages and handles the requests sent by the client."</a:t>
            </a:r>
            <a:r>
              <a:rPr lang="en-US"/>
              <a:t>. </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14</a:t>
            </a:fld>
            <a:endParaRPr lang="zh-CN" altLang="en-US"/>
          </a:p>
        </p:txBody>
      </p:sp>
    </p:spTree>
    <p:extLst>
      <p:ext uri="{BB962C8B-B14F-4D97-AF65-F5344CB8AC3E}">
        <p14:creationId xmlns:p14="http://schemas.microsoft.com/office/powerpoint/2010/main" val="216557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Developers can insert the </a:t>
            </a:r>
            <a:r>
              <a:rPr lang="en-US" err="1"/>
              <a:t>create_pbox</a:t>
            </a:r>
            <a:r>
              <a:rPr lang="en-US"/>
              <a:t> before the loop to create a </a:t>
            </a:r>
            <a:r>
              <a:rPr lang="en-US" err="1"/>
              <a:t>pBox</a:t>
            </a:r>
            <a:r>
              <a:rPr lang="en-US"/>
              <a:t> and release the </a:t>
            </a:r>
            <a:r>
              <a:rPr lang="en-US" err="1"/>
              <a:t>pBox</a:t>
            </a:r>
            <a:r>
              <a:rPr lang="en-US"/>
              <a:t> when the connection is closed. This API </a:t>
            </a:r>
            <a:r>
              <a:rPr lang="en-US" b="0" i="0">
                <a:solidFill>
                  <a:srgbClr val="374151"/>
                </a:solidFill>
                <a:effectLst/>
                <a:latin typeface="Söhne"/>
              </a:rPr>
              <a:t>includes a parameter known as 'isolation rule,' enabling developers to specify the desired level of isolation to be enforced on the given </a:t>
            </a:r>
            <a:r>
              <a:rPr lang="en-US" b="0" i="0" err="1">
                <a:solidFill>
                  <a:srgbClr val="374151"/>
                </a:solidFill>
                <a:effectLst/>
                <a:latin typeface="Söhne"/>
              </a:rPr>
              <a:t>pBox</a:t>
            </a:r>
            <a:r>
              <a:rPr lang="en-US" b="0" i="0">
                <a:solidFill>
                  <a:srgbClr val="374151"/>
                </a:solidFill>
                <a:effectLst/>
                <a:latin typeface="Söhne"/>
              </a:rPr>
              <a:t>.</a:t>
            </a:r>
            <a:r>
              <a:rPr lang="en-US"/>
              <a:t> </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15</a:t>
            </a:fld>
            <a:endParaRPr lang="zh-CN" altLang="en-US"/>
          </a:p>
        </p:txBody>
      </p:sp>
    </p:spTree>
    <p:extLst>
      <p:ext uri="{BB962C8B-B14F-4D97-AF65-F5344CB8AC3E}">
        <p14:creationId xmlns:p14="http://schemas.microsoft.com/office/powerpoint/2010/main" val="1968941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When a connection is in the process of handling a request, the system calls the '</a:t>
            </a:r>
            <a:r>
              <a:rPr lang="en-US" b="0" i="0" err="1">
                <a:solidFill>
                  <a:srgbClr val="374151"/>
                </a:solidFill>
                <a:effectLst/>
                <a:latin typeface="Söhne"/>
              </a:rPr>
              <a:t>dispatch_command</a:t>
            </a:r>
            <a:r>
              <a:rPr lang="en-US" b="0" i="0">
                <a:solidFill>
                  <a:srgbClr val="374151"/>
                </a:solidFill>
                <a:effectLst/>
                <a:latin typeface="Söhne"/>
              </a:rPr>
              <a:t>' function to carry out the actual tasks required by the request.</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16</a:t>
            </a:fld>
            <a:endParaRPr lang="zh-CN" altLang="en-US"/>
          </a:p>
        </p:txBody>
      </p:sp>
    </p:spTree>
    <p:extLst>
      <p:ext uri="{BB962C8B-B14F-4D97-AF65-F5344CB8AC3E}">
        <p14:creationId xmlns:p14="http://schemas.microsoft.com/office/powerpoint/2010/main" val="3730728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Developers can activate the corresponding </a:t>
            </a:r>
            <a:r>
              <a:rPr lang="en-US" b="0" i="0" err="1">
                <a:solidFill>
                  <a:srgbClr val="374151"/>
                </a:solidFill>
                <a:effectLst/>
                <a:latin typeface="Söhne"/>
              </a:rPr>
              <a:t>pBox</a:t>
            </a:r>
            <a:r>
              <a:rPr lang="en-US" b="0" i="0">
                <a:solidFill>
                  <a:srgbClr val="374151"/>
                </a:solidFill>
                <a:effectLst/>
                <a:latin typeface="Söhne"/>
              </a:rPr>
              <a:t> as needed. This activation can occur before the '</a:t>
            </a:r>
            <a:r>
              <a:rPr lang="en-US" b="0" i="0" err="1">
                <a:solidFill>
                  <a:srgbClr val="374151"/>
                </a:solidFill>
                <a:effectLst/>
                <a:latin typeface="Söhne"/>
              </a:rPr>
              <a:t>dispatch_command</a:t>
            </a:r>
            <a:r>
              <a:rPr lang="en-US" b="0" i="0">
                <a:solidFill>
                  <a:srgbClr val="374151"/>
                </a:solidFill>
                <a:effectLst/>
                <a:latin typeface="Söhne"/>
              </a:rPr>
              <a:t>' function is invoked. Additionally, developers can write custom code to selectively filter out requests on which they do not wish to enforce performance isolation."</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17</a:t>
            </a:fld>
            <a:endParaRPr lang="zh-CN" altLang="en-US"/>
          </a:p>
        </p:txBody>
      </p:sp>
    </p:spTree>
    <p:extLst>
      <p:ext uri="{BB962C8B-B14F-4D97-AF65-F5344CB8AC3E}">
        <p14:creationId xmlns:p14="http://schemas.microsoft.com/office/powerpoint/2010/main" val="1975332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support the event driven model where many application tasks shares a </a:t>
            </a:r>
            <a:r>
              <a:rPr lang="en-US" b="0" i="0">
                <a:solidFill>
                  <a:srgbClr val="374151"/>
                </a:solidFill>
                <a:effectLst/>
                <a:latin typeface="Söhne"/>
              </a:rPr>
              <a:t>common  </a:t>
            </a:r>
            <a:r>
              <a:rPr lang="en-US"/>
              <a:t>thread pool. </a:t>
            </a:r>
            <a:r>
              <a:rPr lang="en-US" err="1"/>
              <a:t>pBox</a:t>
            </a:r>
            <a:r>
              <a:rPr lang="en-US"/>
              <a:t> also provides two APIs for dynamically binding </a:t>
            </a:r>
            <a:r>
              <a:rPr lang="en-US" b="0" i="0">
                <a:solidFill>
                  <a:srgbClr val="374151"/>
                </a:solidFill>
                <a:effectLst/>
                <a:latin typeface="Söhne"/>
              </a:rPr>
              <a:t>and </a:t>
            </a:r>
            <a:r>
              <a:rPr lang="en-US"/>
              <a:t>unbinding </a:t>
            </a:r>
            <a:r>
              <a:rPr lang="en-US" b="0" i="0">
                <a:solidFill>
                  <a:srgbClr val="374151"/>
                </a:solidFill>
                <a:effectLst/>
                <a:latin typeface="Söhne"/>
              </a:rPr>
              <a:t>of the </a:t>
            </a:r>
            <a:r>
              <a:rPr lang="en-US" b="0" i="0" err="1">
                <a:solidFill>
                  <a:srgbClr val="374151"/>
                </a:solidFill>
                <a:effectLst/>
                <a:latin typeface="Söhne"/>
              </a:rPr>
              <a:t>pBox</a:t>
            </a:r>
            <a:r>
              <a:rPr lang="en-US" b="0" i="0">
                <a:solidFill>
                  <a:srgbClr val="374151"/>
                </a:solidFill>
                <a:effectLst/>
                <a:latin typeface="Söhne"/>
              </a:rPr>
              <a:t> to/from the current thread</a:t>
            </a:r>
            <a:r>
              <a:rPr lang="en-US"/>
              <a:t>.</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18</a:t>
            </a:fld>
            <a:endParaRPr lang="zh-CN" altLang="en-US"/>
          </a:p>
        </p:txBody>
      </p:sp>
    </p:spTree>
    <p:extLst>
      <p:ext uri="{BB962C8B-B14F-4D97-AF65-F5344CB8AC3E}">
        <p14:creationId xmlns:p14="http://schemas.microsoft.com/office/powerpoint/2010/main" val="31041299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the </a:t>
            </a:r>
            <a:r>
              <a:rPr lang="en-US" err="1"/>
              <a:t>pBox</a:t>
            </a:r>
            <a:r>
              <a:rPr lang="en-US"/>
              <a:t> abstraction, the next </a:t>
            </a:r>
            <a:r>
              <a:rPr lang="en-US" b="0" i="0">
                <a:solidFill>
                  <a:srgbClr val="374151"/>
                </a:solidFill>
                <a:effectLst/>
                <a:latin typeface="Söhne"/>
              </a:rPr>
              <a:t>challenge </a:t>
            </a:r>
            <a:r>
              <a:rPr lang="en-US"/>
              <a:t> is tracing the application resource usage, the most straightforward way is to notify the system with every changes in application resources but </a:t>
            </a:r>
            <a:r>
              <a:rPr lang="en-US" b="0" i="0">
                <a:solidFill>
                  <a:srgbClr val="374151"/>
                </a:solidFill>
                <a:effectLst/>
                <a:latin typeface="Söhne"/>
              </a:rPr>
              <a:t>this approach can introduce significant overhead</a:t>
            </a:r>
            <a:r>
              <a:rPr lang="en-US"/>
              <a:t>. </a:t>
            </a:r>
            <a:r>
              <a:rPr lang="en-US" b="0" i="0">
                <a:solidFill>
                  <a:srgbClr val="374151"/>
                </a:solidFill>
                <a:effectLst/>
                <a:latin typeface="Söhne"/>
              </a:rPr>
              <a:t>Moreover, application resource design tends to be highly specific.</a:t>
            </a:r>
            <a:r>
              <a:rPr lang="en-US"/>
              <a:t> We observe that </a:t>
            </a:r>
            <a:r>
              <a:rPr lang="en-US" b="0" i="0">
                <a:solidFill>
                  <a:srgbClr val="374151"/>
                </a:solidFill>
                <a:effectLst/>
                <a:latin typeface="Söhne"/>
              </a:rPr>
              <a:t>regardless of the diverse implementations of application resources, addressing performance interference typically revolves two questions: identifying the source of delays and identifying the tasks that are deferred. </a:t>
            </a:r>
            <a:r>
              <a:rPr lang="en-US"/>
              <a:t>Based on this observation, we </a:t>
            </a:r>
            <a:r>
              <a:rPr lang="en-US" b="0" i="0">
                <a:solidFill>
                  <a:srgbClr val="374151"/>
                </a:solidFill>
                <a:effectLst/>
                <a:latin typeface="Söhne"/>
              </a:rPr>
              <a:t>introduce </a:t>
            </a:r>
            <a:r>
              <a:rPr lang="en-US"/>
              <a:t> a new concept called state event that </a:t>
            </a:r>
            <a:r>
              <a:rPr lang="en-US" b="0" i="0">
                <a:solidFill>
                  <a:srgbClr val="374151"/>
                </a:solidFill>
                <a:effectLst/>
                <a:latin typeface="Söhne"/>
              </a:rPr>
              <a:t>enables efficient tracing of both noisy and victim tasks within application resources.</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19</a:t>
            </a:fld>
            <a:endParaRPr lang="zh-CN" altLang="en-US"/>
          </a:p>
        </p:txBody>
      </p:sp>
    </p:spTree>
    <p:extLst>
      <p:ext uri="{BB962C8B-B14F-4D97-AF65-F5344CB8AC3E}">
        <p14:creationId xmlns:p14="http://schemas.microsoft.com/office/powerpoint/2010/main" val="2066902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state event has four states, PREAPRE,ENTER,HOLD and UNHOLD. </a:t>
            </a:r>
            <a:r>
              <a:rPr lang="en-US" b="0" i="0">
                <a:solidFill>
                  <a:srgbClr val="374151"/>
                </a:solidFill>
                <a:effectLst/>
                <a:latin typeface="Söhne"/>
              </a:rPr>
              <a:t>PREPARE and ENTER events are designed to capture how long a </a:t>
            </a:r>
            <a:r>
              <a:rPr lang="en-US" b="0" i="0" err="1">
                <a:solidFill>
                  <a:srgbClr val="374151"/>
                </a:solidFill>
                <a:effectLst/>
                <a:latin typeface="Söhne"/>
              </a:rPr>
              <a:t>pBox</a:t>
            </a:r>
            <a:r>
              <a:rPr lang="en-US" b="0" i="0">
                <a:solidFill>
                  <a:srgbClr val="374151"/>
                </a:solidFill>
                <a:effectLst/>
                <a:latin typeface="Söhne"/>
              </a:rPr>
              <a:t> is blocked by an application resource.</a:t>
            </a:r>
            <a:r>
              <a:rPr lang="en-US"/>
              <a:t> The HOLD and UNHOLD events </a:t>
            </a:r>
            <a:r>
              <a:rPr lang="en-US" b="0" i="0">
                <a:solidFill>
                  <a:srgbClr val="374151"/>
                </a:solidFill>
                <a:effectLst/>
                <a:latin typeface="Söhne"/>
              </a:rPr>
              <a:t>are triggered </a:t>
            </a:r>
            <a:r>
              <a:rPr lang="en-US"/>
              <a:t>when the resource is hold or released by the </a:t>
            </a:r>
            <a:r>
              <a:rPr lang="en-US" err="1"/>
              <a:t>pBox</a:t>
            </a:r>
            <a:r>
              <a:rPr lang="en-US"/>
              <a:t>. </a:t>
            </a:r>
            <a:r>
              <a:rPr lang="en-US" b="0" i="0">
                <a:solidFill>
                  <a:srgbClr val="374151"/>
                </a:solidFill>
                <a:effectLst/>
                <a:latin typeface="Söhne"/>
              </a:rPr>
              <a:t>These events are </a:t>
            </a:r>
            <a:r>
              <a:rPr lang="en-US"/>
              <a:t> </a:t>
            </a:r>
            <a:r>
              <a:rPr lang="en-US" b="0" i="0">
                <a:solidFill>
                  <a:srgbClr val="374151"/>
                </a:solidFill>
                <a:effectLst/>
                <a:latin typeface="Söhne"/>
              </a:rPr>
              <a:t>communicated </a:t>
            </a:r>
            <a:r>
              <a:rPr lang="en-US"/>
              <a:t>to the </a:t>
            </a:r>
            <a:r>
              <a:rPr lang="en-US" err="1"/>
              <a:t>pBox</a:t>
            </a:r>
            <a:r>
              <a:rPr lang="en-US"/>
              <a:t> manager through the </a:t>
            </a:r>
            <a:r>
              <a:rPr lang="en-US" err="1"/>
              <a:t>update_pbox</a:t>
            </a:r>
            <a:r>
              <a:rPr lang="en-US"/>
              <a:t> function call.</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20</a:t>
            </a:fld>
            <a:endParaRPr lang="zh-CN" altLang="en-US"/>
          </a:p>
        </p:txBody>
      </p:sp>
    </p:spTree>
    <p:extLst>
      <p:ext uri="{BB962C8B-B14F-4D97-AF65-F5344CB8AC3E}">
        <p14:creationId xmlns:p14="http://schemas.microsoft.com/office/powerpoint/2010/main" val="507764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example of using state event to trace deferring time and </a:t>
            </a:r>
            <a:r>
              <a:rPr lang="en-US" b="0" i="0">
                <a:solidFill>
                  <a:srgbClr val="374151"/>
                </a:solidFill>
                <a:effectLst/>
                <a:latin typeface="Söhne"/>
              </a:rPr>
              <a:t>pinpoint the cause of deferral</a:t>
            </a:r>
            <a:r>
              <a:rPr lang="en-US"/>
              <a:t>. When the noisy </a:t>
            </a:r>
            <a:r>
              <a:rPr lang="en-US" err="1"/>
              <a:t>pBox</a:t>
            </a:r>
            <a:r>
              <a:rPr lang="en-US"/>
              <a:t> holds a shared resource, a HOLD event </a:t>
            </a:r>
            <a:r>
              <a:rPr lang="en-US" b="0" i="0">
                <a:solidFill>
                  <a:srgbClr val="374151"/>
                </a:solidFill>
                <a:effectLst/>
                <a:latin typeface="Söhne"/>
              </a:rPr>
              <a:t>is transmitted </a:t>
            </a:r>
            <a:r>
              <a:rPr lang="en-US"/>
              <a:t>to the </a:t>
            </a:r>
            <a:r>
              <a:rPr lang="en-US" err="1"/>
              <a:t>pBox</a:t>
            </a:r>
            <a:r>
              <a:rPr lang="en-US"/>
              <a:t> manager. </a:t>
            </a:r>
            <a:r>
              <a:rPr lang="en-US" b="0" i="0">
                <a:solidFill>
                  <a:srgbClr val="374151"/>
                </a:solidFill>
                <a:effectLst/>
                <a:latin typeface="Söhne"/>
              </a:rPr>
              <a:t>The </a:t>
            </a:r>
            <a:r>
              <a:rPr lang="en-US" b="0" i="0" err="1">
                <a:solidFill>
                  <a:srgbClr val="374151"/>
                </a:solidFill>
                <a:effectLst/>
                <a:latin typeface="Söhne"/>
              </a:rPr>
              <a:t>pBox</a:t>
            </a:r>
            <a:r>
              <a:rPr lang="en-US" b="0" i="0">
                <a:solidFill>
                  <a:srgbClr val="374151"/>
                </a:solidFill>
                <a:effectLst/>
                <a:latin typeface="Söhne"/>
              </a:rPr>
              <a:t> manager, in response, marks the 'purple' </a:t>
            </a:r>
            <a:r>
              <a:rPr lang="en-US" b="0" i="0" err="1">
                <a:solidFill>
                  <a:srgbClr val="374151"/>
                </a:solidFill>
                <a:effectLst/>
                <a:latin typeface="Söhne"/>
              </a:rPr>
              <a:t>pBox</a:t>
            </a:r>
            <a:r>
              <a:rPr lang="en-US" b="0" i="0">
                <a:solidFill>
                  <a:srgbClr val="374151"/>
                </a:solidFill>
                <a:effectLst/>
                <a:latin typeface="Söhne"/>
              </a:rPr>
              <a:t> as the holder of this resource. Subsequently,</a:t>
            </a:r>
            <a:r>
              <a:rPr lang="en-US"/>
              <a:t> When the orange </a:t>
            </a:r>
            <a:r>
              <a:rPr lang="en-US" err="1"/>
              <a:t>pBox</a:t>
            </a:r>
            <a:r>
              <a:rPr lang="en-US"/>
              <a:t> is blocked by the resource, a PREPARE event </a:t>
            </a:r>
            <a:r>
              <a:rPr lang="en-US" b="0" i="0">
                <a:solidFill>
                  <a:srgbClr val="374151"/>
                </a:solidFill>
                <a:effectLst/>
                <a:latin typeface="Söhne"/>
              </a:rPr>
              <a:t>is generated. At this point, the </a:t>
            </a:r>
            <a:r>
              <a:rPr lang="en-US" b="0" i="0" err="1">
                <a:solidFill>
                  <a:srgbClr val="374151"/>
                </a:solidFill>
                <a:effectLst/>
                <a:latin typeface="Söhne"/>
              </a:rPr>
              <a:t>pBox</a:t>
            </a:r>
            <a:r>
              <a:rPr lang="en-US" b="0" i="0">
                <a:solidFill>
                  <a:srgbClr val="374151"/>
                </a:solidFill>
                <a:effectLst/>
                <a:latin typeface="Söhne"/>
              </a:rPr>
              <a:t> manager begins the calculation of deferring time, which continues until the 'purple' </a:t>
            </a:r>
            <a:r>
              <a:rPr lang="en-US" b="0" i="0" err="1">
                <a:solidFill>
                  <a:srgbClr val="374151"/>
                </a:solidFill>
                <a:effectLst/>
                <a:latin typeface="Söhne"/>
              </a:rPr>
              <a:t>pBox</a:t>
            </a:r>
            <a:r>
              <a:rPr lang="en-US" b="0" i="0">
                <a:solidFill>
                  <a:srgbClr val="374151"/>
                </a:solidFill>
                <a:effectLst/>
                <a:latin typeface="Söhne"/>
              </a:rPr>
              <a:t> issues an UNHOLD event, followed by the 'orange' </a:t>
            </a:r>
            <a:r>
              <a:rPr lang="en-US" b="0" i="0" err="1">
                <a:solidFill>
                  <a:srgbClr val="374151"/>
                </a:solidFill>
                <a:effectLst/>
                <a:latin typeface="Söhne"/>
              </a:rPr>
              <a:t>pBox</a:t>
            </a:r>
            <a:r>
              <a:rPr lang="en-US" b="0" i="0">
                <a:solidFill>
                  <a:srgbClr val="374151"/>
                </a:solidFill>
                <a:effectLst/>
                <a:latin typeface="Söhne"/>
              </a:rPr>
              <a:t> transmitting an ENTER event</a:t>
            </a:r>
            <a:r>
              <a:rPr lang="en-US"/>
              <a:t>. The </a:t>
            </a:r>
            <a:r>
              <a:rPr lang="en-US" err="1"/>
              <a:t>pBox</a:t>
            </a:r>
            <a:r>
              <a:rPr lang="en-US"/>
              <a:t> </a:t>
            </a:r>
            <a:r>
              <a:rPr lang="en-US" b="0" i="0">
                <a:solidFill>
                  <a:srgbClr val="374151"/>
                </a:solidFill>
                <a:effectLst/>
                <a:latin typeface="Söhne"/>
              </a:rPr>
              <a:t>traces all these events </a:t>
            </a:r>
            <a:r>
              <a:rPr lang="en-US" b="0" i="0" err="1">
                <a:solidFill>
                  <a:srgbClr val="374151"/>
                </a:solidFill>
                <a:effectLst/>
                <a:latin typeface="Söhne"/>
              </a:rPr>
              <a:t>acorss</a:t>
            </a:r>
            <a:r>
              <a:rPr lang="en-US" b="0" i="0">
                <a:solidFill>
                  <a:srgbClr val="374151"/>
                </a:solidFill>
                <a:effectLst/>
                <a:latin typeface="Söhne"/>
              </a:rPr>
              <a:t> an activity, enabling the detection of intra-application performance interference."</a:t>
            </a:r>
            <a:r>
              <a:rPr lang="en-US"/>
              <a:t>.</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21</a:t>
            </a:fld>
            <a:endParaRPr lang="zh-CN" altLang="en-US"/>
          </a:p>
        </p:txBody>
      </p:sp>
    </p:spTree>
    <p:extLst>
      <p:ext uri="{BB962C8B-B14F-4D97-AF65-F5344CB8AC3E}">
        <p14:creationId xmlns:p14="http://schemas.microsoft.com/office/powerpoint/2010/main" val="3349447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While state events allow us to determine if a task is deferred by a resource, this information alone is insufficient for detecting intra-application performance interference. Resource-level deferral is a low-level detail that is not equivalent to end-to-end application performance. To effectively detect intra-application performance interference, we require a method to bridge the gap between these resource-level usage details and the overall end-to-end performance of the application."</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22</a:t>
            </a:fld>
            <a:endParaRPr lang="zh-CN" altLang="en-US"/>
          </a:p>
        </p:txBody>
      </p:sp>
    </p:spTree>
    <p:extLst>
      <p:ext uri="{BB962C8B-B14F-4D97-AF65-F5344CB8AC3E}">
        <p14:creationId xmlns:p14="http://schemas.microsoft.com/office/powerpoint/2010/main" val="3587407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To bridge this gap, we introduce a new metric known as 'interference level.' We begin by aggregating all the defer times associated with each resource to calculate the total defer time for a task. Subsequently, we compute the interference level by dividing the interference time by the ideal execution time, assuming zero deferring time. </a:t>
            </a:r>
            <a:r>
              <a:rPr lang="en-US" b="0" i="0" dirty="0" err="1">
                <a:solidFill>
                  <a:srgbClr val="374151"/>
                </a:solidFill>
                <a:effectLst/>
                <a:latin typeface="Söhne"/>
              </a:rPr>
              <a:t>pBox</a:t>
            </a:r>
            <a:r>
              <a:rPr lang="en-US" b="0" i="0" dirty="0">
                <a:solidFill>
                  <a:srgbClr val="374151"/>
                </a:solidFill>
                <a:effectLst/>
                <a:latin typeface="Söhne"/>
              </a:rPr>
              <a:t> uses a worst-case analysis approach to detect the interference. </a:t>
            </a:r>
            <a:endParaRPr lang="en-US" dirty="0"/>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23</a:t>
            </a:fld>
            <a:endParaRPr lang="zh-CN" altLang="en-US"/>
          </a:p>
        </p:txBody>
      </p:sp>
    </p:spTree>
    <p:extLst>
      <p:ext uri="{BB962C8B-B14F-4D97-AF65-F5344CB8AC3E}">
        <p14:creationId xmlns:p14="http://schemas.microsoft.com/office/powerpoint/2010/main" val="3365407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Let's delve into the process of detecting intra-application performance interference. Within </a:t>
            </a:r>
            <a:r>
              <a:rPr lang="en-US" b="0" i="0" dirty="0" err="1">
                <a:solidFill>
                  <a:srgbClr val="374151"/>
                </a:solidFill>
                <a:effectLst/>
                <a:latin typeface="Söhne"/>
              </a:rPr>
              <a:t>pBox</a:t>
            </a:r>
            <a:r>
              <a:rPr lang="en-US" b="0" i="0" dirty="0">
                <a:solidFill>
                  <a:srgbClr val="374151"/>
                </a:solidFill>
                <a:effectLst/>
                <a:latin typeface="Söhne"/>
              </a:rPr>
              <a:t>, we maintain two maps: the competitor map, and the holder map. Each of these maps maintains a list of resources.</a:t>
            </a:r>
          </a:p>
          <a:p>
            <a:endParaRPr lang="en-US" b="0" i="0" dirty="0">
              <a:solidFill>
                <a:srgbClr val="374151"/>
              </a:solidFill>
              <a:effectLst/>
              <a:latin typeface="Söhne"/>
            </a:endParaRPr>
          </a:p>
          <a:p>
            <a:r>
              <a:rPr lang="en-US" b="0" i="0" dirty="0">
                <a:solidFill>
                  <a:srgbClr val="374151"/>
                </a:solidFill>
                <a:effectLst/>
                <a:latin typeface="Söhne"/>
              </a:rPr>
              <a:t>When a </a:t>
            </a:r>
            <a:r>
              <a:rPr lang="en-US" b="0" i="0" dirty="0" err="1">
                <a:solidFill>
                  <a:srgbClr val="374151"/>
                </a:solidFill>
                <a:effectLst/>
                <a:latin typeface="Söhne"/>
              </a:rPr>
              <a:t>pBox</a:t>
            </a:r>
            <a:r>
              <a:rPr lang="en-US" b="0" i="0" dirty="0">
                <a:solidFill>
                  <a:srgbClr val="374151"/>
                </a:solidFill>
                <a:effectLst/>
                <a:latin typeface="Söhne"/>
              </a:rPr>
              <a:t> sends a HOLD event, it gets appended to the associated resource's list in the holder map. If a </a:t>
            </a:r>
            <a:r>
              <a:rPr lang="en-US" b="0" i="0" dirty="0" err="1">
                <a:solidFill>
                  <a:srgbClr val="374151"/>
                </a:solidFill>
                <a:effectLst/>
                <a:latin typeface="Söhne"/>
              </a:rPr>
              <a:t>pBox</a:t>
            </a:r>
            <a:r>
              <a:rPr lang="en-US" b="0" i="0" dirty="0">
                <a:solidFill>
                  <a:srgbClr val="374151"/>
                </a:solidFill>
                <a:effectLst/>
                <a:latin typeface="Söhne"/>
              </a:rPr>
              <a:t> sends a PREPARE event, it is placed into the competitor map. Now, when a </a:t>
            </a:r>
            <a:r>
              <a:rPr lang="en-US" b="0" i="0" dirty="0" err="1">
                <a:solidFill>
                  <a:srgbClr val="374151"/>
                </a:solidFill>
                <a:effectLst/>
                <a:latin typeface="Söhne"/>
              </a:rPr>
              <a:t>pBox</a:t>
            </a:r>
            <a:r>
              <a:rPr lang="en-US" b="0" i="0" dirty="0">
                <a:solidFill>
                  <a:srgbClr val="374151"/>
                </a:solidFill>
                <a:effectLst/>
                <a:latin typeface="Söhne"/>
              </a:rPr>
              <a:t> in the holder map release the resource, the </a:t>
            </a:r>
            <a:r>
              <a:rPr lang="en-US" b="0" i="0" dirty="0" err="1">
                <a:solidFill>
                  <a:srgbClr val="374151"/>
                </a:solidFill>
                <a:effectLst/>
                <a:latin typeface="Söhne"/>
              </a:rPr>
              <a:t>pBox</a:t>
            </a:r>
            <a:r>
              <a:rPr lang="en-US" b="0" i="0" dirty="0">
                <a:solidFill>
                  <a:srgbClr val="374151"/>
                </a:solidFill>
                <a:effectLst/>
                <a:latin typeface="Söhne"/>
              </a:rPr>
              <a:t> manager steps in and checks whether any </a:t>
            </a:r>
            <a:r>
              <a:rPr lang="en-US" b="0" i="0" dirty="0" err="1">
                <a:solidFill>
                  <a:srgbClr val="374151"/>
                </a:solidFill>
                <a:effectLst/>
                <a:latin typeface="Söhne"/>
              </a:rPr>
              <a:t>pBoxes</a:t>
            </a:r>
            <a:r>
              <a:rPr lang="en-US" b="0" i="0" dirty="0">
                <a:solidFill>
                  <a:srgbClr val="374151"/>
                </a:solidFill>
                <a:effectLst/>
                <a:latin typeface="Söhne"/>
              </a:rPr>
              <a:t> in the associated competitor map exceed their isolation rule. If this threshold is exceeded, the manager marks the </a:t>
            </a:r>
            <a:r>
              <a:rPr lang="en-US" b="0" i="0" dirty="0" err="1">
                <a:solidFill>
                  <a:srgbClr val="374151"/>
                </a:solidFill>
                <a:effectLst/>
                <a:latin typeface="Söhne"/>
              </a:rPr>
              <a:t>pBox</a:t>
            </a:r>
            <a:r>
              <a:rPr lang="en-US" b="0" i="0" dirty="0">
                <a:solidFill>
                  <a:srgbClr val="374151"/>
                </a:solidFill>
                <a:effectLst/>
                <a:latin typeface="Söhne"/>
              </a:rPr>
              <a:t> in the holder map as the  'noisy' </a:t>
            </a:r>
            <a:r>
              <a:rPr lang="en-US" b="0" i="0" dirty="0" err="1">
                <a:solidFill>
                  <a:srgbClr val="374151"/>
                </a:solidFill>
                <a:effectLst/>
                <a:latin typeface="Söhne"/>
              </a:rPr>
              <a:t>pBox</a:t>
            </a:r>
            <a:r>
              <a:rPr lang="en-US" b="0" i="0" dirty="0">
                <a:solidFill>
                  <a:srgbClr val="374151"/>
                </a:solidFill>
                <a:effectLst/>
                <a:latin typeface="Söhne"/>
              </a:rPr>
              <a:t> and the </a:t>
            </a:r>
            <a:r>
              <a:rPr lang="en-US" b="0" i="0" dirty="0" err="1">
                <a:solidFill>
                  <a:srgbClr val="374151"/>
                </a:solidFill>
                <a:effectLst/>
                <a:latin typeface="Söhne"/>
              </a:rPr>
              <a:t>pBox</a:t>
            </a:r>
            <a:r>
              <a:rPr lang="en-US" b="0" i="0" dirty="0">
                <a:solidFill>
                  <a:srgbClr val="374151"/>
                </a:solidFill>
                <a:effectLst/>
                <a:latin typeface="Söhne"/>
              </a:rPr>
              <a:t> in the competitor map as victim' </a:t>
            </a:r>
            <a:r>
              <a:rPr lang="en-US" b="0" i="0" dirty="0" err="1">
                <a:solidFill>
                  <a:srgbClr val="374151"/>
                </a:solidFill>
                <a:effectLst/>
                <a:latin typeface="Söhne"/>
              </a:rPr>
              <a:t>pBoxes</a:t>
            </a:r>
            <a:endParaRPr lang="en-US" dirty="0"/>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24</a:t>
            </a:fld>
            <a:endParaRPr lang="zh-CN" altLang="en-US"/>
          </a:p>
        </p:txBody>
      </p:sp>
    </p:spTree>
    <p:extLst>
      <p:ext uri="{BB962C8B-B14F-4D97-AF65-F5344CB8AC3E}">
        <p14:creationId xmlns:p14="http://schemas.microsoft.com/office/powerpoint/2010/main" val="945204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Once the </a:t>
            </a:r>
            <a:r>
              <a:rPr lang="en-US" b="0" i="0" err="1">
                <a:solidFill>
                  <a:srgbClr val="374151"/>
                </a:solidFill>
                <a:effectLst/>
                <a:latin typeface="Söhne"/>
              </a:rPr>
              <a:t>pBox</a:t>
            </a:r>
            <a:r>
              <a:rPr lang="en-US" b="0" i="0">
                <a:solidFill>
                  <a:srgbClr val="374151"/>
                </a:solidFill>
                <a:effectLst/>
                <a:latin typeface="Söhne"/>
              </a:rPr>
              <a:t> manager detects an interference, </a:t>
            </a:r>
            <a:r>
              <a:rPr lang="en-US"/>
              <a:t>it start to mitigate the interference. </a:t>
            </a:r>
            <a:r>
              <a:rPr lang="en-US" b="0" i="0">
                <a:solidFill>
                  <a:srgbClr val="374151"/>
                </a:solidFill>
                <a:effectLst/>
                <a:latin typeface="Söhne"/>
              </a:rPr>
              <a:t>In the mitigation process, it is crucial to ensure that any actions taken do not disrupt the application logic or introduce dangerous side effects. Thus, </a:t>
            </a:r>
            <a:r>
              <a:rPr lang="en-US" b="0" i="0" err="1">
                <a:solidFill>
                  <a:srgbClr val="374151"/>
                </a:solidFill>
                <a:effectLst/>
                <a:latin typeface="Söhne"/>
              </a:rPr>
              <a:t>pBox</a:t>
            </a:r>
            <a:r>
              <a:rPr lang="en-US" b="0" i="0">
                <a:solidFill>
                  <a:srgbClr val="374151"/>
                </a:solidFill>
                <a:effectLst/>
                <a:latin typeface="Söhne"/>
              </a:rPr>
              <a:t> uses a straightforward yet safe action: it introduces a delay to the 'noisy' activity. Before applying this delay, </a:t>
            </a:r>
            <a:r>
              <a:rPr lang="en-US" b="0" i="0" err="1">
                <a:solidFill>
                  <a:srgbClr val="374151"/>
                </a:solidFill>
                <a:effectLst/>
                <a:latin typeface="Söhne"/>
              </a:rPr>
              <a:t>pBox</a:t>
            </a:r>
            <a:r>
              <a:rPr lang="en-US" b="0" i="0">
                <a:solidFill>
                  <a:srgbClr val="374151"/>
                </a:solidFill>
                <a:effectLst/>
                <a:latin typeface="Söhne"/>
              </a:rPr>
              <a:t> waits until all resources held by the </a:t>
            </a:r>
            <a:r>
              <a:rPr lang="en-US" b="0" i="0" err="1">
                <a:solidFill>
                  <a:srgbClr val="374151"/>
                </a:solidFill>
                <a:effectLst/>
                <a:latin typeface="Söhne"/>
              </a:rPr>
              <a:t>pBox</a:t>
            </a:r>
            <a:r>
              <a:rPr lang="en-US" b="0" i="0">
                <a:solidFill>
                  <a:srgbClr val="374151"/>
                </a:solidFill>
                <a:effectLst/>
                <a:latin typeface="Söhne"/>
              </a:rPr>
              <a:t> are released to prevent exacerbating the interference.</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25</a:t>
            </a:fld>
            <a:endParaRPr lang="zh-CN" altLang="en-US"/>
          </a:p>
        </p:txBody>
      </p:sp>
    </p:spTree>
    <p:extLst>
      <p:ext uri="{BB962C8B-B14F-4D97-AF65-F5344CB8AC3E}">
        <p14:creationId xmlns:p14="http://schemas.microsoft.com/office/powerpoint/2010/main" val="36908625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Söhne"/>
              </a:rPr>
              <a:t>The duration of the penalty in </a:t>
            </a:r>
            <a:r>
              <a:rPr lang="en-US" b="0" i="0" err="1">
                <a:solidFill>
                  <a:srgbClr val="374151"/>
                </a:solidFill>
                <a:effectLst/>
                <a:latin typeface="Söhne"/>
              </a:rPr>
              <a:t>pBox</a:t>
            </a:r>
            <a:r>
              <a:rPr lang="en-US" b="0" i="0">
                <a:solidFill>
                  <a:srgbClr val="374151"/>
                </a:solidFill>
                <a:effectLst/>
                <a:latin typeface="Söhne"/>
              </a:rPr>
              <a:t> is critical, as it affects its effectiveness. We design two adaptive penalty length policies. The score-based approach assesses the penalty's impact by comparing if the previous penalty improve performance and adjust the length of the next penalty. We also have another policy detailed in the paper</a:t>
            </a:r>
            <a:endParaRPr lang="en-US"/>
          </a:p>
          <a:p>
            <a:endParaRPr lang="en-US" b="0" i="0">
              <a:solidFill>
                <a:srgbClr val="374151"/>
              </a:solidFill>
              <a:effectLst/>
              <a:latin typeface="Söhne"/>
            </a:endParaRPr>
          </a:p>
          <a:p>
            <a:endParaRPr lang="en-US" b="0" i="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26</a:t>
            </a:fld>
            <a:endParaRPr lang="zh-CN" altLang="en-US"/>
          </a:p>
        </p:txBody>
      </p:sp>
    </p:spTree>
    <p:extLst>
      <p:ext uri="{BB962C8B-B14F-4D97-AF65-F5344CB8AC3E}">
        <p14:creationId xmlns:p14="http://schemas.microsoft.com/office/powerpoint/2010/main" val="3990566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As </a:t>
            </a:r>
            <a:r>
              <a:rPr lang="en-US" b="0" i="0" err="1">
                <a:solidFill>
                  <a:srgbClr val="374151"/>
                </a:solidFill>
                <a:effectLst/>
                <a:latin typeface="Söhne"/>
              </a:rPr>
              <a:t>pBox</a:t>
            </a:r>
            <a:r>
              <a:rPr lang="en-US" b="0" i="0">
                <a:solidFill>
                  <a:srgbClr val="374151"/>
                </a:solidFill>
                <a:effectLst/>
                <a:latin typeface="Söhne"/>
              </a:rPr>
              <a:t> operates as a runtime abstraction, its performance is a critical consideration. To minimize overhead, we make several optimizations such as optimizing data structures, </a:t>
            </a:r>
            <a:r>
              <a:rPr lang="en-US" b="0" i="0" err="1">
                <a:solidFill>
                  <a:srgbClr val="374151"/>
                </a:solidFill>
                <a:effectLst/>
                <a:latin typeface="Söhne"/>
              </a:rPr>
              <a:t>preallocating</a:t>
            </a:r>
            <a:r>
              <a:rPr lang="en-US" b="0" i="0">
                <a:solidFill>
                  <a:srgbClr val="374151"/>
                </a:solidFill>
                <a:effectLst/>
                <a:latin typeface="Söhne"/>
              </a:rPr>
              <a:t> important data structures, reduced the number of system calls and implementing lazy unbind for bind API.</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27</a:t>
            </a:fld>
            <a:endParaRPr lang="zh-CN" altLang="en-US"/>
          </a:p>
        </p:txBody>
      </p:sp>
    </p:spTree>
    <p:extLst>
      <p:ext uri="{BB962C8B-B14F-4D97-AF65-F5344CB8AC3E}">
        <p14:creationId xmlns:p14="http://schemas.microsoft.com/office/powerpoint/2010/main" val="34989108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our evaluation, we want to answer the three questions:</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28</a:t>
            </a:fld>
            <a:endParaRPr lang="zh-CN" altLang="en-US"/>
          </a:p>
        </p:txBody>
      </p:sp>
    </p:spTree>
    <p:extLst>
      <p:ext uri="{BB962C8B-B14F-4D97-AF65-F5344CB8AC3E}">
        <p14:creationId xmlns:p14="http://schemas.microsoft.com/office/powerpoint/2010/main" val="21168840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err="1"/>
              <a:t>pBox</a:t>
            </a:r>
            <a:r>
              <a:rPr lang="en-US"/>
              <a:t> is implemented in Linux kernel with a user level library. We also implement a static analyzer to help inserting the state event. The </a:t>
            </a:r>
            <a:r>
              <a:rPr lang="en-US" err="1"/>
              <a:t>pBox</a:t>
            </a:r>
            <a:r>
              <a:rPr lang="en-US"/>
              <a:t> is evaluated on five </a:t>
            </a:r>
            <a:r>
              <a:rPr lang="en-US" sz="1200" b="0" i="0" u="none" strike="noStrike" kern="1200">
                <a:solidFill>
                  <a:schemeClr val="tx1"/>
                </a:solidFill>
                <a:effectLst/>
                <a:latin typeface="+mn-lt"/>
                <a:ea typeface="+mn-ea"/>
                <a:cs typeface="+mn-cs"/>
              </a:rPr>
              <a:t>populate systems. Each one has hundreds of thousands line of code and as you can see, we only add less than 200 lines of code for each system, which is a very small amount of manual effort. The last columns shows the number of function we inspect for each application if we insert the code manually. The number can be greatly reduced by our static analyzer</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29</a:t>
            </a:fld>
            <a:endParaRPr lang="zh-CN" altLang="en-US"/>
          </a:p>
        </p:txBody>
      </p:sp>
    </p:spTree>
    <p:extLst>
      <p:ext uri="{BB962C8B-B14F-4D97-AF65-F5344CB8AC3E}">
        <p14:creationId xmlns:p14="http://schemas.microsoft.com/office/powerpoint/2010/main" val="673035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start with microbenchmark. We test all six </a:t>
            </a:r>
            <a:r>
              <a:rPr lang="en-US" err="1"/>
              <a:t>pBox</a:t>
            </a:r>
            <a:r>
              <a:rPr lang="en-US"/>
              <a:t> APIs and compare the </a:t>
            </a:r>
            <a:r>
              <a:rPr lang="en-US" err="1"/>
              <a:t>pBox</a:t>
            </a:r>
            <a:r>
              <a:rPr lang="en-US"/>
              <a:t> create latency with the </a:t>
            </a:r>
            <a:r>
              <a:rPr lang="en-US" err="1"/>
              <a:t>pthread_create</a:t>
            </a:r>
            <a:r>
              <a:rPr lang="en-US"/>
              <a:t>. We show that the </a:t>
            </a:r>
            <a:r>
              <a:rPr lang="en-US" err="1"/>
              <a:t>pBox</a:t>
            </a:r>
            <a:r>
              <a:rPr lang="en-US"/>
              <a:t> creation is 3 times faster than the thread </a:t>
            </a:r>
            <a:r>
              <a:rPr lang="en-US" err="1"/>
              <a:t>creatation</a:t>
            </a:r>
            <a:r>
              <a:rPr lang="en-US"/>
              <a:t> and the latency for the rest APIs is close to </a:t>
            </a:r>
            <a:r>
              <a:rPr lang="en-US" err="1"/>
              <a:t>getpid</a:t>
            </a:r>
            <a:r>
              <a:rPr lang="en-US"/>
              <a:t> </a:t>
            </a:r>
            <a:r>
              <a:rPr lang="en-US" err="1"/>
              <a:t>syscall</a:t>
            </a:r>
            <a:r>
              <a:rPr lang="en-US"/>
              <a:t>, which is very lightweight</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30</a:t>
            </a:fld>
            <a:endParaRPr lang="zh-CN" altLang="en-US"/>
          </a:p>
        </p:txBody>
      </p:sp>
    </p:spTree>
    <p:extLst>
      <p:ext uri="{BB962C8B-B14F-4D97-AF65-F5344CB8AC3E}">
        <p14:creationId xmlns:p14="http://schemas.microsoft.com/office/powerpoint/2010/main" val="21785611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then test </a:t>
            </a:r>
            <a:r>
              <a:rPr lang="en-US" err="1"/>
              <a:t>pBox</a:t>
            </a:r>
            <a:r>
              <a:rPr lang="en-US"/>
              <a:t> on real-world applications. We collect 16 real-world intra-application performance interference cases. The contending resource for each case comes from various categories such as thread pool, table, UNDO log, and index search tree.</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31</a:t>
            </a:fld>
            <a:endParaRPr lang="zh-CN" altLang="en-US"/>
          </a:p>
        </p:txBody>
      </p:sp>
    </p:spTree>
    <p:extLst>
      <p:ext uri="{BB962C8B-B14F-4D97-AF65-F5344CB8AC3E}">
        <p14:creationId xmlns:p14="http://schemas.microsoft.com/office/powerpoint/2010/main" val="3132990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define a metric called reduction ratio to quantify the number of reductions for intra-application interference. The closer the ratio is to 100%, the more performance interference it mitigates. If the ratio is negative, it means the policy make the performance worse. As we can see, the </a:t>
            </a:r>
            <a:r>
              <a:rPr lang="en-US" err="1"/>
              <a:t>pBox</a:t>
            </a:r>
            <a:r>
              <a:rPr lang="en-US"/>
              <a:t> can mitigate the performance interference for 15 cases with an average reduction ratio of 86%</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32</a:t>
            </a:fld>
            <a:endParaRPr lang="zh-CN" altLang="en-US"/>
          </a:p>
        </p:txBody>
      </p:sp>
    </p:spTree>
    <p:extLst>
      <p:ext uri="{BB962C8B-B14F-4D97-AF65-F5344CB8AC3E}">
        <p14:creationId xmlns:p14="http://schemas.microsoft.com/office/powerpoint/2010/main" val="727567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We also conduct a comparative analysis of </a:t>
            </a:r>
            <a:r>
              <a:rPr lang="en-US" b="0" i="0" err="1">
                <a:solidFill>
                  <a:srgbClr val="374151"/>
                </a:solidFill>
                <a:effectLst/>
                <a:latin typeface="Söhne"/>
              </a:rPr>
              <a:t>pBox</a:t>
            </a:r>
            <a:r>
              <a:rPr lang="en-US" b="0" i="0">
                <a:solidFill>
                  <a:srgbClr val="374151"/>
                </a:solidFill>
                <a:effectLst/>
                <a:latin typeface="Söhne"/>
              </a:rPr>
              <a:t> with state-of-the-art solutions. These works are designed to achieve performance isolation across applications. The result shows that inter-application isolation mechanisms often result in performance degradation in most intra-application performance interference cases, while </a:t>
            </a:r>
            <a:r>
              <a:rPr lang="en-US" b="0" i="0" err="1">
                <a:solidFill>
                  <a:srgbClr val="374151"/>
                </a:solidFill>
                <a:effectLst/>
                <a:latin typeface="Söhne"/>
              </a:rPr>
              <a:t>pBox</a:t>
            </a:r>
            <a:r>
              <a:rPr lang="en-US" b="0" i="0">
                <a:solidFill>
                  <a:srgbClr val="374151"/>
                </a:solidFill>
                <a:effectLst/>
                <a:latin typeface="Söhne"/>
              </a:rPr>
              <a:t> can improve the performance for most cases. Also </a:t>
            </a:r>
            <a:r>
              <a:rPr lang="en-US" err="1"/>
              <a:t>pBox’s</a:t>
            </a:r>
            <a:r>
              <a:rPr lang="en-US"/>
              <a:t> average reduction ratio is also higher than other approaches.</a:t>
            </a:r>
          </a:p>
          <a:p>
            <a:r>
              <a:rPr lang="en-US"/>
              <a:t>.</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33</a:t>
            </a:fld>
            <a:endParaRPr lang="zh-CN" altLang="en-US"/>
          </a:p>
        </p:txBody>
      </p:sp>
    </p:spTree>
    <p:extLst>
      <p:ext uri="{BB962C8B-B14F-4D97-AF65-F5344CB8AC3E}">
        <p14:creationId xmlns:p14="http://schemas.microsoft.com/office/powerpoint/2010/main" val="4064777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In our overhead experiment, we conducted both read-intensive and write-intensive workloads on five different systems, varying the number of clients. The results demonstrate that </a:t>
            </a:r>
            <a:r>
              <a:rPr lang="en-US" b="0" i="0" err="1">
                <a:solidFill>
                  <a:srgbClr val="374151"/>
                </a:solidFill>
                <a:effectLst/>
                <a:latin typeface="Söhne"/>
              </a:rPr>
              <a:t>pBox</a:t>
            </a:r>
            <a:r>
              <a:rPr lang="en-US" b="0" i="0">
                <a:solidFill>
                  <a:srgbClr val="374151"/>
                </a:solidFill>
                <a:effectLst/>
                <a:latin typeface="Söhne"/>
              </a:rPr>
              <a:t> introduces a negligible overhead, with an impact of less than 6% in all cases.</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34</a:t>
            </a:fld>
            <a:endParaRPr lang="zh-CN" altLang="en-US"/>
          </a:p>
        </p:txBody>
      </p:sp>
    </p:spTree>
    <p:extLst>
      <p:ext uri="{BB962C8B-B14F-4D97-AF65-F5344CB8AC3E}">
        <p14:creationId xmlns:p14="http://schemas.microsoft.com/office/powerpoint/2010/main" val="42502986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in conclusion, we found that performance interference can also happen inside applications and it is difficult to mitigate. To mitigate the intra-application performance interference, we propose </a:t>
            </a:r>
            <a:r>
              <a:rPr lang="en-US" err="1"/>
              <a:t>pBox</a:t>
            </a:r>
            <a:r>
              <a:rPr lang="en-US"/>
              <a:t>, an abstraction that pushes performance isolation boundaries into applications by making the OS aware of application resource usage. </a:t>
            </a:r>
            <a:r>
              <a:rPr lang="en-US" b="0" i="0">
                <a:solidFill>
                  <a:srgbClr val="374151"/>
                </a:solidFill>
                <a:effectLst/>
                <a:latin typeface="Söhne"/>
              </a:rPr>
              <a:t>Our experiments demonstrate </a:t>
            </a:r>
            <a:r>
              <a:rPr lang="en-US" b="0" i="0" err="1">
                <a:solidFill>
                  <a:srgbClr val="374151"/>
                </a:solidFill>
                <a:effectLst/>
                <a:latin typeface="Söhne"/>
              </a:rPr>
              <a:t>pBox's</a:t>
            </a:r>
            <a:r>
              <a:rPr lang="en-US" b="0" i="0">
                <a:solidFill>
                  <a:srgbClr val="374151"/>
                </a:solidFill>
                <a:effectLst/>
                <a:latin typeface="Söhne"/>
              </a:rPr>
              <a:t>, successfully mitigating fifteen out of sixteen test cases with an average reduction ratio of 86%.</a:t>
            </a:r>
            <a:endParaRPr lang="en-US"/>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35</a:t>
            </a:fld>
            <a:endParaRPr lang="zh-CN" altLang="en-US"/>
          </a:p>
        </p:txBody>
      </p:sp>
    </p:spTree>
    <p:extLst>
      <p:ext uri="{BB962C8B-B14F-4D97-AF65-F5344CB8AC3E}">
        <p14:creationId xmlns:p14="http://schemas.microsoft.com/office/powerpoint/2010/main" val="1125880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Answer 1: It is a trade-off between performance, transparency, and flexibility. </a:t>
            </a:r>
            <a:r>
              <a:rPr lang="en-US" altLang="zh-CN" dirty="0" err="1"/>
              <a:t>pBox</a:t>
            </a:r>
            <a:r>
              <a:rPr lang="en-US" altLang="zh-CN" dirty="0"/>
              <a:t> is essentially an effort to improve the scheduling of application activities for performance isolation, which is an important property that the OS should provide to applications. Also, implementing </a:t>
            </a:r>
            <a:r>
              <a:rPr lang="en-US" altLang="zh-CN" dirty="0" err="1"/>
              <a:t>pBox</a:t>
            </a:r>
            <a:r>
              <a:rPr lang="en-US" altLang="zh-CN" dirty="0"/>
              <a:t> in the kernel makes controlling the timing of </a:t>
            </a:r>
            <a:r>
              <a:rPr lang="en-US" altLang="zh-CN" dirty="0" err="1"/>
              <a:t>pbox</a:t>
            </a:r>
            <a:r>
              <a:rPr lang="en-US" altLang="zh-CN" dirty="0"/>
              <a:t> action and tracing system resources easier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Answer 2: </a:t>
            </a:r>
            <a:r>
              <a:rPr lang="en-US" altLang="zh-CN" dirty="0" err="1"/>
              <a:t>pBox’s</a:t>
            </a:r>
            <a:r>
              <a:rPr lang="en-US" altLang="zh-CN" dirty="0"/>
              <a:t> action time might not be negligible for microsecond activity. For microsecond-level applications, if the interference is not significant, the </a:t>
            </a:r>
            <a:r>
              <a:rPr lang="en-US" altLang="zh-CN" dirty="0" err="1"/>
              <a:t>pBox</a:t>
            </a:r>
            <a:r>
              <a:rPr lang="en-US" altLang="zh-CN" dirty="0"/>
              <a:t> might not improve performance. However, </a:t>
            </a:r>
            <a:r>
              <a:rPr lang="en-US" altLang="zh-CN" dirty="0" err="1"/>
              <a:t>pBox</a:t>
            </a:r>
            <a:r>
              <a:rPr lang="en-US" altLang="zh-CN" dirty="0"/>
              <a:t> is still useful for severe performance interference for microsecond application</a:t>
            </a:r>
          </a:p>
        </p:txBody>
      </p:sp>
      <p:sp>
        <p:nvSpPr>
          <p:cNvPr id="4" name="灯片编号占位符 3"/>
          <p:cNvSpPr>
            <a:spLocks noGrp="1"/>
          </p:cNvSpPr>
          <p:nvPr>
            <p:ph type="sldNum" sz="quarter" idx="5"/>
          </p:nvPr>
        </p:nvSpPr>
        <p:spPr/>
        <p:txBody>
          <a:bodyPr/>
          <a:lstStyle/>
          <a:p>
            <a:fld id="{0ABFF6CE-9EF0-4880-ACC2-1A07A2BABDC8}" type="slidenum">
              <a:rPr lang="zh-CN" altLang="en-US" smtClean="0"/>
              <a:t>36</a:t>
            </a:fld>
            <a:endParaRPr lang="zh-CN" altLang="en-US"/>
          </a:p>
        </p:txBody>
      </p:sp>
    </p:spTree>
    <p:extLst>
      <p:ext uri="{BB962C8B-B14F-4D97-AF65-F5344CB8AC3E}">
        <p14:creationId xmlns:p14="http://schemas.microsoft.com/office/powerpoint/2010/main" val="37861585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Answer 1 The highest number of hooks is 192 SLOC in MySQL. We think this relative effort is quite acceptable. Also, much of the instrumentation efforts can be automated with our static analyzer. In our paper, we also provide a heuristic to guide developers to find state events.</a:t>
            </a:r>
          </a:p>
          <a:p>
            <a:endParaRPr lang="en-US" altLang="zh-CN" dirty="0"/>
          </a:p>
          <a:p>
            <a:r>
              <a:rPr lang="en-US" altLang="zh-CN" dirty="0"/>
              <a:t>Answer 2: Developers can write specific benchmarks that reproduce past interference issues to test the correctness of instrumentation. This effort is similar to writing a non-trivial performance test. Also, our static analyzer can run a sanity check. Also, even if developers initially miss certain instrumentation, they can easily add it later during or after a production performance issue</a:t>
            </a:r>
          </a:p>
          <a:p>
            <a:endParaRPr lang="en-US" altLang="zh-CN" dirty="0"/>
          </a:p>
          <a:p>
            <a:r>
              <a:rPr lang="en-US" altLang="zh-CN" dirty="0"/>
              <a:t>.Answer 3: No, </a:t>
            </a:r>
            <a:r>
              <a:rPr lang="en-US" altLang="zh-CN" dirty="0" err="1"/>
              <a:t>pBox</a:t>
            </a:r>
            <a:r>
              <a:rPr lang="en-US" altLang="zh-CN" dirty="0"/>
              <a:t> runs as a runtime library.</a:t>
            </a:r>
          </a:p>
          <a:p>
            <a:endParaRPr lang="en-US" altLang="zh-CN" dirty="0"/>
          </a:p>
          <a:p>
            <a:endParaRPr lang="en-US" altLang="zh-CN" dirty="0"/>
          </a:p>
          <a:p>
            <a:r>
              <a:rPr lang="en-US" altLang="zh-CN" dirty="0"/>
              <a:t>Answer 4: Yes, for some specific cases, </a:t>
            </a:r>
            <a:r>
              <a:rPr lang="en-US" altLang="zh-CN" dirty="0" err="1"/>
              <a:t>pBox</a:t>
            </a:r>
            <a:r>
              <a:rPr lang="en-US" altLang="zh-CN" dirty="0"/>
              <a:t> might make an incorrect decision. For example, if the noisy </a:t>
            </a:r>
            <a:r>
              <a:rPr lang="en-US" altLang="zh-CN" dirty="0" err="1"/>
              <a:t>pBox</a:t>
            </a:r>
            <a:r>
              <a:rPr lang="en-US" altLang="zh-CN" dirty="0"/>
              <a:t> holds the resource for a long time but not long enough to trigger the </a:t>
            </a:r>
            <a:r>
              <a:rPr lang="en-US" altLang="zh-CN" dirty="0" err="1"/>
              <a:t>pBox’s</a:t>
            </a:r>
            <a:r>
              <a:rPr lang="en-US" altLang="zh-CN" dirty="0"/>
              <a:t> detection, </a:t>
            </a:r>
            <a:r>
              <a:rPr lang="en-US" altLang="zh-CN" dirty="0" err="1"/>
              <a:t>pBox</a:t>
            </a:r>
            <a:r>
              <a:rPr lang="en-US" altLang="zh-CN" dirty="0"/>
              <a:t> might miss this noisy </a:t>
            </a:r>
            <a:r>
              <a:rPr lang="en-US" altLang="zh-CN" dirty="0" err="1"/>
              <a:t>pBox</a:t>
            </a:r>
            <a:r>
              <a:rPr lang="en-US" altLang="zh-CN" dirty="0"/>
              <a:t>. However, such situations should be uncommon as it requires subtle triggering condition. To handle this potentially rare case, one possible extension for our detection algorithm is to add another past holder map that stores past holder information.</a:t>
            </a:r>
          </a:p>
          <a:p>
            <a:endParaRPr lang="en-US" altLang="zh-CN" dirty="0"/>
          </a:p>
          <a:p>
            <a:endParaRPr lang="en-US" altLang="zh-CN" dirty="0"/>
          </a:p>
          <a:p>
            <a:r>
              <a:rPr lang="en-US" altLang="zh-CN" dirty="0"/>
              <a:t>Answer 5: Yes, if the interference is caused by a noisy </a:t>
            </a:r>
            <a:r>
              <a:rPr lang="en-US" altLang="zh-CN" dirty="0" err="1"/>
              <a:t>pBox</a:t>
            </a:r>
            <a:r>
              <a:rPr lang="en-US" altLang="zh-CN" dirty="0"/>
              <a:t> holding a virtual resource for a long time near the end of an activity’s execution, by the time the </a:t>
            </a:r>
            <a:r>
              <a:rPr lang="en-US" altLang="zh-CN" dirty="0" err="1"/>
              <a:t>pBox</a:t>
            </a:r>
            <a:r>
              <a:rPr lang="en-US" altLang="zh-CN" dirty="0"/>
              <a:t> manager can safely act, the penalty may be useless. However, we need to make a trade-off between the safety and the performance. If we add a more complex transaction-based design, the action would incur too much overhead and cause application disruption. In our </a:t>
            </a:r>
            <a:r>
              <a:rPr lang="en-US" altLang="zh-CN" dirty="0" err="1"/>
              <a:t>pBox</a:t>
            </a:r>
            <a:r>
              <a:rPr lang="en-US" altLang="zh-CN" dirty="0"/>
              <a:t> design, we make the detection algorithm proactively detect the interference to find the interference as early as possible. Also, in real-world intra-application interference cases, a noisy </a:t>
            </a:r>
            <a:r>
              <a:rPr lang="en-US" altLang="zh-CN" dirty="0" err="1"/>
              <a:t>pBox</a:t>
            </a:r>
            <a:r>
              <a:rPr lang="en-US" altLang="zh-CN" dirty="0"/>
              <a:t> often creates contention on some virtual resource more than once</a:t>
            </a:r>
          </a:p>
          <a:p>
            <a:endParaRPr lang="en-US" altLang="zh-CN" dirty="0"/>
          </a:p>
          <a:p>
            <a:r>
              <a:rPr lang="en-US" altLang="zh-CN" dirty="0"/>
              <a:t>Answer 6: The bind and unbind </a:t>
            </a:r>
            <a:r>
              <a:rPr lang="en-US" altLang="zh-CN" dirty="0" err="1"/>
              <a:t>pBox</a:t>
            </a:r>
            <a:r>
              <a:rPr lang="en-US" altLang="zh-CN" dirty="0"/>
              <a:t> APIs take a flag that can indicate whether the currently bound thread is a shared thread or a dedicated thread. If a noisy </a:t>
            </a:r>
            <a:r>
              <a:rPr lang="en-US" altLang="zh-CN" dirty="0" err="1"/>
              <a:t>pBox</a:t>
            </a:r>
            <a:r>
              <a:rPr lang="en-US" altLang="zh-CN" dirty="0"/>
              <a:t> is bound with a dedicated thread, the manager takes action immediately. If the bound thread is shared, penalizing the noisy </a:t>
            </a:r>
            <a:r>
              <a:rPr lang="en-US" altLang="zh-CN" dirty="0" err="1"/>
              <a:t>pBox</a:t>
            </a:r>
            <a:r>
              <a:rPr lang="en-US" altLang="zh-CN" dirty="0"/>
              <a:t> with a delay would prevent other </a:t>
            </a:r>
            <a:r>
              <a:rPr lang="en-US" altLang="zh-CN" dirty="0" err="1"/>
              <a:t>pBoxes</a:t>
            </a:r>
            <a:r>
              <a:rPr lang="en-US" altLang="zh-CN" dirty="0"/>
              <a:t> from using this thread. The manager instead makes the following activities from the noisy </a:t>
            </a:r>
            <a:r>
              <a:rPr lang="en-US" altLang="zh-CN" dirty="0" err="1"/>
              <a:t>pBox</a:t>
            </a:r>
            <a:r>
              <a:rPr lang="en-US" altLang="zh-CN" dirty="0"/>
              <a:t> wait in the task queue for a while.</a:t>
            </a:r>
            <a:endParaRPr lang="zh-CN" altLang="en-US" dirty="0"/>
          </a:p>
        </p:txBody>
      </p:sp>
      <p:sp>
        <p:nvSpPr>
          <p:cNvPr id="4" name="灯片编号占位符 3"/>
          <p:cNvSpPr>
            <a:spLocks noGrp="1"/>
          </p:cNvSpPr>
          <p:nvPr>
            <p:ph type="sldNum" sz="quarter" idx="5"/>
          </p:nvPr>
        </p:nvSpPr>
        <p:spPr/>
        <p:txBody>
          <a:bodyPr/>
          <a:lstStyle/>
          <a:p>
            <a:fld id="{0ABFF6CE-9EF0-4880-ACC2-1A07A2BABDC8}" type="slidenum">
              <a:rPr lang="zh-CN" altLang="en-US" smtClean="0"/>
              <a:t>37</a:t>
            </a:fld>
            <a:endParaRPr lang="zh-CN" altLang="en-US"/>
          </a:p>
        </p:txBody>
      </p:sp>
    </p:spTree>
    <p:extLst>
      <p:ext uri="{BB962C8B-B14F-4D97-AF65-F5344CB8AC3E}">
        <p14:creationId xmlns:p14="http://schemas.microsoft.com/office/powerpoint/2010/main" val="3904110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Answer 1: we measure the number of penalty actions in 8 cases. In general, </a:t>
            </a:r>
            <a:r>
              <a:rPr lang="en-US" altLang="zh-CN" dirty="0" err="1"/>
              <a:t>pBox</a:t>
            </a:r>
            <a:r>
              <a:rPr lang="en-US" altLang="zh-CN" dirty="0"/>
              <a:t> takes more penalty actions under a high interference level. However, if the interference level is too high, fewer penalty actions may occur</a:t>
            </a:r>
          </a:p>
          <a:p>
            <a:endParaRPr lang="en-US" altLang="zh-CN" dirty="0"/>
          </a:p>
          <a:p>
            <a:r>
              <a:rPr lang="en-US" altLang="zh-CN" dirty="0"/>
              <a:t>Answer 2: </a:t>
            </a:r>
            <a:r>
              <a:rPr lang="en-US" altLang="zh-CN" dirty="0" err="1"/>
              <a:t>pBox</a:t>
            </a:r>
            <a:r>
              <a:rPr lang="en-US" altLang="zh-CN" dirty="0"/>
              <a:t> design is robust to mis instrumentation. We evaluate whether </a:t>
            </a:r>
            <a:r>
              <a:rPr lang="en-US" altLang="zh-CN" dirty="0" err="1"/>
              <a:t>pBox</a:t>
            </a:r>
            <a:r>
              <a:rPr lang="en-US" altLang="zh-CN" dirty="0"/>
              <a:t> can tolerate mistakes in using </a:t>
            </a:r>
            <a:r>
              <a:rPr lang="en-US" altLang="zh-CN" dirty="0" err="1"/>
              <a:t>pBox</a:t>
            </a:r>
            <a:r>
              <a:rPr lang="en-US" altLang="zh-CN" dirty="0"/>
              <a:t> APIs by randomly removing 10% of the </a:t>
            </a:r>
            <a:r>
              <a:rPr lang="en-US" altLang="zh-CN" dirty="0" err="1"/>
              <a:t>update_pbox</a:t>
            </a:r>
            <a:r>
              <a:rPr lang="en-US" altLang="zh-CN" dirty="0"/>
              <a:t> calls. On average, 4 out of 5 cases show positive mitigation, with an average interference reduction ratio that is slightly lower than correct usage	</a:t>
            </a:r>
          </a:p>
          <a:p>
            <a:r>
              <a:rPr lang="en-US" altLang="zh-CN" dirty="0"/>
              <a:t> </a:t>
            </a:r>
          </a:p>
          <a:p>
            <a:r>
              <a:rPr lang="en-US" altLang="zh-CN" dirty="0"/>
              <a:t>Answer 3: One parameter is important when using </a:t>
            </a:r>
            <a:r>
              <a:rPr lang="en-US" altLang="zh-CN" dirty="0" err="1"/>
              <a:t>pBox</a:t>
            </a:r>
            <a:r>
              <a:rPr lang="en-US" altLang="zh-CN" dirty="0"/>
              <a:t>, the isolation rule, which specifies the maximum performance slowdown compared to the ideal noninterference execution. For example, a rule of 50% indicates that the </a:t>
            </a:r>
            <a:r>
              <a:rPr lang="en-US" altLang="zh-CN" dirty="0" err="1"/>
              <a:t>pBox’s</a:t>
            </a:r>
            <a:r>
              <a:rPr lang="en-US" altLang="zh-CN" dirty="0"/>
              <a:t> execution latency should not be more than 50% worse than the latency if there was no interference. In general, a more relaxed isolation level can decrease the mitigation effectiveness. </a:t>
            </a:r>
          </a:p>
          <a:p>
            <a:endParaRPr lang="en-US" altLang="zh-CN" dirty="0"/>
          </a:p>
          <a:p>
            <a:r>
              <a:rPr lang="en-US" altLang="zh-CN" dirty="0"/>
              <a:t>Answer 4: </a:t>
            </a:r>
            <a:r>
              <a:rPr lang="en-US" altLang="zh-CN" b="0" i="0" dirty="0">
                <a:solidFill>
                  <a:srgbClr val="333333"/>
                </a:solidFill>
                <a:effectLst/>
                <a:latin typeface="franklin-gothic-urw"/>
              </a:rPr>
              <a:t> </a:t>
            </a:r>
            <a:r>
              <a:rPr lang="en-US" altLang="zh-CN" b="0" i="0" dirty="0" err="1">
                <a:solidFill>
                  <a:srgbClr val="333333"/>
                </a:solidFill>
                <a:effectLst/>
                <a:latin typeface="franklin-gothic-urw"/>
              </a:rPr>
              <a:t>pBox</a:t>
            </a:r>
            <a:r>
              <a:rPr lang="en-US" altLang="zh-CN" b="0" i="0" dirty="0">
                <a:solidFill>
                  <a:srgbClr val="333333"/>
                </a:solidFill>
                <a:effectLst/>
                <a:latin typeface="franklin-gothic-urw"/>
              </a:rPr>
              <a:t> is a performance interference mitigation framework rather than a general scheduler. Thus, Running normal workload in </a:t>
            </a:r>
            <a:r>
              <a:rPr lang="en-US" altLang="zh-CN" b="0" i="0" dirty="0" err="1">
                <a:solidFill>
                  <a:srgbClr val="333333"/>
                </a:solidFill>
                <a:effectLst/>
                <a:latin typeface="franklin-gothic-urw"/>
              </a:rPr>
              <a:t>pBox</a:t>
            </a:r>
            <a:r>
              <a:rPr lang="en-US" altLang="zh-CN" b="0" i="0" dirty="0">
                <a:solidFill>
                  <a:srgbClr val="333333"/>
                </a:solidFill>
                <a:effectLst/>
                <a:latin typeface="franklin-gothic-urw"/>
              </a:rPr>
              <a:t> would not trigger any actions.</a:t>
            </a:r>
            <a:endParaRPr lang="zh-CN" altLang="en-US" dirty="0"/>
          </a:p>
        </p:txBody>
      </p:sp>
      <p:sp>
        <p:nvSpPr>
          <p:cNvPr id="4" name="灯片编号占位符 3"/>
          <p:cNvSpPr>
            <a:spLocks noGrp="1"/>
          </p:cNvSpPr>
          <p:nvPr>
            <p:ph type="sldNum" sz="quarter" idx="5"/>
          </p:nvPr>
        </p:nvSpPr>
        <p:spPr/>
        <p:txBody>
          <a:bodyPr/>
          <a:lstStyle/>
          <a:p>
            <a:fld id="{0ABFF6CE-9EF0-4880-ACC2-1A07A2BABDC8}" type="slidenum">
              <a:rPr lang="zh-CN" altLang="en-US" smtClean="0"/>
              <a:t>38</a:t>
            </a:fld>
            <a:endParaRPr lang="zh-CN" altLang="en-US"/>
          </a:p>
        </p:txBody>
      </p:sp>
    </p:spTree>
    <p:extLst>
      <p:ext uri="{BB962C8B-B14F-4D97-AF65-F5344CB8AC3E}">
        <p14:creationId xmlns:p14="http://schemas.microsoft.com/office/powerpoint/2010/main" val="21749950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39</a:t>
            </a:fld>
            <a:endParaRPr lang="zh-CN" altLang="en-US"/>
          </a:p>
        </p:txBody>
      </p:sp>
    </p:spTree>
    <p:extLst>
      <p:ext uri="{BB962C8B-B14F-4D97-AF65-F5344CB8AC3E}">
        <p14:creationId xmlns:p14="http://schemas.microsoft.com/office/powerpoint/2010/main" val="31452517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then test the effectiveness of </a:t>
            </a:r>
            <a:r>
              <a:rPr lang="en-US" err="1"/>
              <a:t>pBox</a:t>
            </a:r>
            <a:r>
              <a:rPr lang="en-US"/>
              <a:t> when choosing different penalty length. We use a fixed penalty length of 10 </a:t>
            </a:r>
            <a:r>
              <a:rPr lang="en-US" err="1"/>
              <a:t>ms</a:t>
            </a:r>
            <a:r>
              <a:rPr lang="en-US"/>
              <a:t>, 100 </a:t>
            </a:r>
            <a:r>
              <a:rPr lang="en-US" err="1"/>
              <a:t>ms</a:t>
            </a:r>
            <a:r>
              <a:rPr lang="en-US"/>
              <a:t> and the adaptive policy. The adaptive penalty performs better for 7 out of 9 cases</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40</a:t>
            </a:fld>
            <a:endParaRPr lang="zh-CN" altLang="en-US"/>
          </a:p>
        </p:txBody>
      </p:sp>
    </p:spTree>
    <p:extLst>
      <p:ext uri="{BB962C8B-B14F-4D97-AF65-F5344CB8AC3E}">
        <p14:creationId xmlns:p14="http://schemas.microsoft.com/office/powerpoint/2010/main" val="5696259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The tasks inside application can also has performance interference with each other and cause server performance degradation.  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When application tasks is contenting on an application resource and some task hold the resource for a very long time, the user would observe a serve performance degradation on the application overall performance. As you can see, for example, a contention on a thread queue in MySQL causes a 6 times performance degradation to the MySQL’s throughput. For simplicity, we call this </a:t>
            </a:r>
            <a:r>
              <a:rPr lang="en-US" altLang="zh-CN" sz="1200" b="1">
                <a:solidFill>
                  <a:schemeClr val="accent1">
                    <a:lumMod val="75000"/>
                  </a:schemeClr>
                </a:solidFill>
                <a:latin typeface="helvetica" panose="020B0604020202020204" pitchFamily="34" charset="0"/>
                <a:cs typeface="helvetica" panose="020B0604020202020204" pitchFamily="34" charset="0"/>
              </a:rPr>
              <a:t>intra-application performance interference.</a:t>
            </a:r>
            <a:endParaRPr lang="zh-CN" altLang="en-US"/>
          </a:p>
          <a:p>
            <a:endParaRPr lang="en-US" altLang="zh-CN"/>
          </a:p>
          <a:p>
            <a:endParaRPr lang="en-US" altLang="zh-CN"/>
          </a:p>
          <a:p>
            <a:endParaRPr lang="en-US" altLang="zh-CN"/>
          </a:p>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performance interference can also happen inside application.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in addition to the system resources, application also implements different resources that are shared by tasks inside the application. This resource can be a software buffer pool, a queue or a global index. The As modern application are high concurrent, many application tasks can run simultaneously on these shared resources. Since the application resource is used on the software path, they do affect the performance </a:t>
            </a:r>
            <a:endParaRPr lang="zh-CN" altLang="en-US"/>
          </a:p>
        </p:txBody>
      </p:sp>
      <p:sp>
        <p:nvSpPr>
          <p:cNvPr id="4" name="灯片编号占位符 3"/>
          <p:cNvSpPr>
            <a:spLocks noGrp="1"/>
          </p:cNvSpPr>
          <p:nvPr>
            <p:ph type="sldNum" sz="quarter" idx="5"/>
          </p:nvPr>
        </p:nvSpPr>
        <p:spPr/>
        <p:txBody>
          <a:bodyPr/>
          <a:lstStyle/>
          <a:p>
            <a:fld id="{0ABFF6CE-9EF0-4880-ACC2-1A07A2BABDC8}" type="slidenum">
              <a:rPr lang="zh-CN" altLang="en-US" smtClean="0"/>
              <a:t>41</a:t>
            </a:fld>
            <a:endParaRPr lang="zh-CN" altLang="en-US"/>
          </a:p>
        </p:txBody>
      </p:sp>
    </p:spTree>
    <p:extLst>
      <p:ext uri="{BB962C8B-B14F-4D97-AF65-F5344CB8AC3E}">
        <p14:creationId xmlns:p14="http://schemas.microsoft.com/office/powerpoint/2010/main" val="37271835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The tasks inside application can also has performance interference with each other and cause server performance degradation.  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When application tasks is contenting on an application resource and some task hold the resource for a very long time, the user would observe a serve performance degradation on the application overall performance. As you can see, for example, a contention on a thread queue in MySQL causes a 6 times performance degradation to the MySQL’s throughput. For simplicity, we call this </a:t>
            </a:r>
            <a:r>
              <a:rPr lang="en-US" altLang="zh-CN" sz="1200" b="1">
                <a:solidFill>
                  <a:schemeClr val="accent1">
                    <a:lumMod val="75000"/>
                  </a:schemeClr>
                </a:solidFill>
                <a:latin typeface="helvetica" panose="020B0604020202020204" pitchFamily="34" charset="0"/>
                <a:cs typeface="helvetica" panose="020B0604020202020204" pitchFamily="34" charset="0"/>
              </a:rPr>
              <a:t>intra-application performance interference.</a:t>
            </a:r>
            <a:endParaRPr lang="zh-CN" altLang="en-US"/>
          </a:p>
          <a:p>
            <a:endParaRPr lang="en-US" altLang="zh-CN"/>
          </a:p>
          <a:p>
            <a:endParaRPr lang="en-US" altLang="zh-CN"/>
          </a:p>
          <a:p>
            <a:endParaRPr lang="en-US" altLang="zh-CN"/>
          </a:p>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performance interference can also happen inside application.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in addition to the system resources, application also implements different resources that are shared by tasks inside the application. This resource can be a software buffer pool, a queue or a global index. The As modern application are high concurrent, many application tasks can run simultaneously on these shared resources. Since the application resource is used on the software path, they do affect the performance </a:t>
            </a:r>
            <a:endParaRPr lang="zh-CN" altLang="en-US"/>
          </a:p>
        </p:txBody>
      </p:sp>
      <p:sp>
        <p:nvSpPr>
          <p:cNvPr id="4" name="灯片编号占位符 3"/>
          <p:cNvSpPr>
            <a:spLocks noGrp="1"/>
          </p:cNvSpPr>
          <p:nvPr>
            <p:ph type="sldNum" sz="quarter" idx="5"/>
          </p:nvPr>
        </p:nvSpPr>
        <p:spPr/>
        <p:txBody>
          <a:bodyPr/>
          <a:lstStyle/>
          <a:p>
            <a:fld id="{0ABFF6CE-9EF0-4880-ACC2-1A07A2BABDC8}" type="slidenum">
              <a:rPr lang="zh-CN" altLang="en-US" smtClean="0"/>
              <a:t>42</a:t>
            </a:fld>
            <a:endParaRPr lang="zh-CN" altLang="en-US"/>
          </a:p>
        </p:txBody>
      </p:sp>
    </p:spTree>
    <p:extLst>
      <p:ext uri="{BB962C8B-B14F-4D97-AF65-F5344CB8AC3E}">
        <p14:creationId xmlns:p14="http://schemas.microsoft.com/office/powerpoint/2010/main" val="15438246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the state event, the next question is how to insert all state events in an application. The instrumentation require a lot of domain knowledges and would might take long time for developer to find all the state event. The instrumentation itself can also be error-prone</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43</a:t>
            </a:fld>
            <a:endParaRPr lang="zh-CN" altLang="en-US"/>
          </a:p>
        </p:txBody>
      </p:sp>
    </p:spTree>
    <p:extLst>
      <p:ext uri="{BB962C8B-B14F-4D97-AF65-F5344CB8AC3E}">
        <p14:creationId xmlns:p14="http://schemas.microsoft.com/office/powerpoint/2010/main" val="6231104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example of instrumentation of state event. MySQL’s </a:t>
            </a:r>
            <a:r>
              <a:rPr lang="en-US" err="1"/>
              <a:t>innodb</a:t>
            </a:r>
            <a:r>
              <a:rPr lang="en-US"/>
              <a:t> has a concurrency control mechanism, only the </a:t>
            </a:r>
            <a:r>
              <a:rPr lang="en-US" err="1"/>
              <a:t>n_active</a:t>
            </a:r>
            <a:r>
              <a:rPr lang="en-US"/>
              <a:t> number of thread can enter the </a:t>
            </a:r>
            <a:r>
              <a:rPr lang="en-US" err="1"/>
              <a:t>innodb</a:t>
            </a:r>
            <a:r>
              <a:rPr lang="en-US"/>
              <a:t> at the same time. If the concurrency limit is reached, the thread would blocked itself and try to enter the </a:t>
            </a:r>
            <a:r>
              <a:rPr lang="en-US" err="1"/>
              <a:t>innodb</a:t>
            </a:r>
            <a:r>
              <a:rPr lang="en-US"/>
              <a:t> later. We find that the variable </a:t>
            </a:r>
            <a:r>
              <a:rPr lang="en-US" err="1"/>
              <a:t>n_active</a:t>
            </a:r>
            <a:r>
              <a:rPr lang="en-US"/>
              <a:t> is the variable that control the </a:t>
            </a:r>
            <a:r>
              <a:rPr lang="en-US" err="1"/>
              <a:t>innodb</a:t>
            </a:r>
            <a:r>
              <a:rPr lang="en-US"/>
              <a:t> thread concurrency. If the thread enter the </a:t>
            </a:r>
            <a:r>
              <a:rPr lang="en-US" err="1"/>
              <a:t>innodb</a:t>
            </a:r>
            <a:r>
              <a:rPr lang="en-US"/>
              <a:t>, it will increment the </a:t>
            </a:r>
            <a:r>
              <a:rPr lang="en-US" err="1"/>
              <a:t>n_active</a:t>
            </a:r>
            <a:r>
              <a:rPr lang="en-US"/>
              <a:t> by one and when the thread exit the </a:t>
            </a:r>
            <a:r>
              <a:rPr lang="en-US" err="1"/>
              <a:t>innodb</a:t>
            </a:r>
            <a:r>
              <a:rPr lang="en-US"/>
              <a:t>, it will decrease the </a:t>
            </a:r>
            <a:r>
              <a:rPr lang="en-US" err="1"/>
              <a:t>n_active</a:t>
            </a:r>
            <a:r>
              <a:rPr lang="en-US"/>
              <a:t>.</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44</a:t>
            </a:fld>
            <a:endParaRPr lang="zh-CN" altLang="en-US"/>
          </a:p>
        </p:txBody>
      </p:sp>
    </p:spTree>
    <p:extLst>
      <p:ext uri="{BB962C8B-B14F-4D97-AF65-F5344CB8AC3E}">
        <p14:creationId xmlns:p14="http://schemas.microsoft.com/office/powerpoint/2010/main" val="28788080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Thus, the developers just needs to locate the </a:t>
            </a:r>
            <a:r>
              <a:rPr lang="en-US" err="1"/>
              <a:t>n_active</a:t>
            </a:r>
            <a:r>
              <a:rPr lang="en-US"/>
              <a:t> and insert the PREPARE event before the loop, insert the ENTER event when exit the loop, the HOLD event when increasing the </a:t>
            </a:r>
            <a:r>
              <a:rPr lang="en-US" err="1"/>
              <a:t>n_active</a:t>
            </a:r>
            <a:r>
              <a:rPr lang="en-US"/>
              <a:t> by 1 and the UNHOLD event when </a:t>
            </a:r>
            <a:r>
              <a:rPr lang="en-US" err="1"/>
              <a:t>decreacng</a:t>
            </a:r>
            <a:r>
              <a:rPr lang="en-US"/>
              <a:t> the </a:t>
            </a:r>
            <a:r>
              <a:rPr lang="en-US" err="1"/>
              <a:t>n_active</a:t>
            </a:r>
            <a:r>
              <a:rPr lang="en-US"/>
              <a:t> by one.</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45</a:t>
            </a:fld>
            <a:endParaRPr lang="zh-CN" altLang="en-US"/>
          </a:p>
        </p:txBody>
      </p:sp>
    </p:spTree>
    <p:extLst>
      <p:ext uri="{BB962C8B-B14F-4D97-AF65-F5344CB8AC3E}">
        <p14:creationId xmlns:p14="http://schemas.microsoft.com/office/powerpoint/2010/main" val="4127761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our study, we propose a heuristic to automatically search for the state event. We first find the loop that has a block function in some execution path but not all path and then check whether the loop’s conditional variable is a global variable that can be modified by multiple tasks. If so, we can insert the state event around the loop and the key variable.</a:t>
            </a:r>
          </a:p>
        </p:txBody>
      </p:sp>
      <p:sp>
        <p:nvSpPr>
          <p:cNvPr id="4" name="Slide Number Placeholder 3"/>
          <p:cNvSpPr>
            <a:spLocks noGrp="1"/>
          </p:cNvSpPr>
          <p:nvPr>
            <p:ph type="sldNum" sz="quarter" idx="5"/>
          </p:nvPr>
        </p:nvSpPr>
        <p:spPr/>
        <p:txBody>
          <a:bodyPr/>
          <a:lstStyle/>
          <a:p>
            <a:fld id="{0ABFF6CE-9EF0-4880-ACC2-1A07A2BABDC8}" type="slidenum">
              <a:rPr lang="zh-CN" altLang="en-US" smtClean="0"/>
              <a:t>46</a:t>
            </a:fld>
            <a:endParaRPr lang="zh-CN" altLang="en-US"/>
          </a:p>
        </p:txBody>
      </p:sp>
    </p:spTree>
    <p:extLst>
      <p:ext uri="{BB962C8B-B14F-4D97-AF65-F5344CB8AC3E}">
        <p14:creationId xmlns:p14="http://schemas.microsoft.com/office/powerpoint/2010/main" val="199159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150B409-6C43-4632-B51D-45FC13072343}" type="datetime1">
              <a:rPr lang="en-US" altLang="zh-CN"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9E57AB-DFBA-4C0D-A874-9849B055AA12}" type="datetime1">
              <a:rPr lang="en-US" altLang="zh-CN"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FD9130-9A10-476B-AADE-AC0EE2B9B406}" type="datetime1">
              <a:rPr lang="en-US" altLang="zh-CN"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F55090-742D-4A83-A364-8DC9C9FA9A78}" type="datetime1">
              <a:rPr lang="en-US" altLang="zh-CN"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04DE39-92D0-46BB-82AC-C11CE042E6EC}" type="datetime1">
              <a:rPr lang="en-US" altLang="zh-CN" smtClean="0"/>
              <a:t>10/24/2023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C50385-9E18-4625-A065-E18BE20C1C73}" type="datetime1">
              <a:rPr lang="en-US" altLang="zh-CN" smtClean="0"/>
              <a:t>10/24/2023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6AF8A-0230-4606-B241-A445E27A74B4}" type="datetime1">
              <a:rPr lang="en-US" altLang="zh-CN" smtClean="0"/>
              <a:t>10/24/2023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08033F-2432-4670-A2E7-82DCEEA8E82B}" type="datetime1">
              <a:rPr lang="en-US" altLang="zh-CN"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D6128A-2BBD-4E6B-BA8A-5426D9A40877}" type="datetime1">
              <a:rPr lang="en-US" altLang="zh-CN"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A25461-ED74-4D99-ACCD-536B69BA7C4D}" type="datetime1">
              <a:rPr lang="en-US" altLang="zh-CN"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DD4EFF-684C-4C11-A09B-1B21C8761D4A}" type="datetime1">
              <a:rPr lang="en-US" altLang="zh-CN"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4DE78-FA82-4096-B05D-3DD82A4F379F}" type="datetime1">
              <a:rPr lang="en-US" altLang="zh-CN" smtClean="0"/>
              <a:t>10/24/2023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1.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23.sv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474" y="517574"/>
            <a:ext cx="11582400" cy="2387600"/>
          </a:xfrm>
        </p:spPr>
        <p:txBody>
          <a:bodyPr>
            <a:normAutofit fontScale="90000"/>
          </a:bodyPr>
          <a:lstStyle/>
          <a:p>
            <a:r>
              <a:rPr lang="en-US" b="1">
                <a:solidFill>
                  <a:schemeClr val="tx1">
                    <a:lumMod val="85000"/>
                    <a:lumOff val="15000"/>
                  </a:schemeClr>
                </a:solidFill>
                <a:latin typeface="quadon"/>
                <a:cs typeface="Calibri Light"/>
              </a:rPr>
              <a:t>Pushing Performance Isolation </a:t>
            </a:r>
            <a:r>
              <a:rPr lang="en-US" b="1">
                <a:solidFill>
                  <a:schemeClr val="tx1">
                    <a:lumMod val="85000"/>
                    <a:lumOff val="15000"/>
                  </a:schemeClr>
                </a:solidFill>
                <a:latin typeface="quadon"/>
                <a:ea typeface="+mj-lt"/>
                <a:cs typeface="+mj-lt"/>
              </a:rPr>
              <a:t>Boundaries into Application with </a:t>
            </a:r>
            <a:r>
              <a:rPr lang="en-US" b="1" err="1">
                <a:solidFill>
                  <a:schemeClr val="tx1">
                    <a:lumMod val="85000"/>
                    <a:lumOff val="15000"/>
                  </a:schemeClr>
                </a:solidFill>
                <a:latin typeface="quadon"/>
                <a:ea typeface="+mj-lt"/>
                <a:cs typeface="+mj-lt"/>
              </a:rPr>
              <a:t>pBox</a:t>
            </a:r>
            <a:endParaRPr lang="en-US" b="1">
              <a:solidFill>
                <a:schemeClr val="tx1">
                  <a:lumMod val="85000"/>
                  <a:lumOff val="15000"/>
                </a:schemeClr>
              </a:solidFill>
              <a:latin typeface="quadon"/>
            </a:endParaRPr>
          </a:p>
        </p:txBody>
      </p:sp>
      <p:sp>
        <p:nvSpPr>
          <p:cNvPr id="3" name="Subtitle 2"/>
          <p:cNvSpPr>
            <a:spLocks noGrp="1"/>
          </p:cNvSpPr>
          <p:nvPr>
            <p:ph type="subTitle" idx="1"/>
          </p:nvPr>
        </p:nvSpPr>
        <p:spPr>
          <a:xfrm>
            <a:off x="1192265" y="3429000"/>
            <a:ext cx="9144000" cy="1655762"/>
          </a:xfrm>
        </p:spPr>
        <p:txBody>
          <a:bodyPr vert="horz" lIns="91440" tIns="45720" rIns="91440" bIns="45720" rtlCol="0" anchor="t">
            <a:normAutofit/>
          </a:bodyPr>
          <a:lstStyle/>
          <a:p>
            <a:r>
              <a:rPr lang="en-US" sz="3200" b="1">
                <a:cs typeface="Calibri"/>
              </a:rPr>
              <a:t>Yigong Hu</a:t>
            </a:r>
            <a:r>
              <a:rPr lang="en-US" sz="3200">
                <a:cs typeface="Calibri"/>
              </a:rPr>
              <a:t>, </a:t>
            </a:r>
            <a:r>
              <a:rPr lang="en-US" sz="3200" err="1">
                <a:cs typeface="Calibri"/>
              </a:rPr>
              <a:t>Gongqi</a:t>
            </a:r>
            <a:r>
              <a:rPr lang="en-US" sz="3200">
                <a:cs typeface="Calibri"/>
              </a:rPr>
              <a:t> Huang, Ryan Huang</a:t>
            </a:r>
            <a:endParaRPr lang="en-US" sz="3200"/>
          </a:p>
        </p:txBody>
      </p:sp>
      <p:pic>
        <p:nvPicPr>
          <p:cNvPr id="4" name="Picture 3">
            <a:extLst>
              <a:ext uri="{FF2B5EF4-FFF2-40B4-BE49-F238E27FC236}">
                <a16:creationId xmlns:a16="http://schemas.microsoft.com/office/drawing/2014/main" id="{23C25D01-F1D3-6EF5-BF11-40A1B5AB2D2F}"/>
              </a:ext>
            </a:extLst>
          </p:cNvPr>
          <p:cNvPicPr>
            <a:picLocks noChangeAspect="1"/>
          </p:cNvPicPr>
          <p:nvPr/>
        </p:nvPicPr>
        <p:blipFill>
          <a:blip r:embed="rId3"/>
          <a:stretch>
            <a:fillRect/>
          </a:stretch>
        </p:blipFill>
        <p:spPr>
          <a:xfrm>
            <a:off x="3148881" y="4256881"/>
            <a:ext cx="2403176" cy="2024742"/>
          </a:xfrm>
          <a:prstGeom prst="rect">
            <a:avLst/>
          </a:prstGeom>
        </p:spPr>
      </p:pic>
      <p:pic>
        <p:nvPicPr>
          <p:cNvPr id="6" name="Picture 5" descr="A yellow letter on a blue background&#10;&#10;Description automatically generated">
            <a:extLst>
              <a:ext uri="{FF2B5EF4-FFF2-40B4-BE49-F238E27FC236}">
                <a16:creationId xmlns:a16="http://schemas.microsoft.com/office/drawing/2014/main" id="{B8DF986E-3BEC-B3CC-BFF0-A4A833D97A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21297" y="4472667"/>
            <a:ext cx="1349367" cy="1432635"/>
          </a:xfrm>
          <a:prstGeom prst="rect">
            <a:avLst/>
          </a:prstGeom>
        </p:spPr>
      </p:pic>
      <p:sp>
        <p:nvSpPr>
          <p:cNvPr id="7" name="TextBox 6">
            <a:extLst>
              <a:ext uri="{FF2B5EF4-FFF2-40B4-BE49-F238E27FC236}">
                <a16:creationId xmlns:a16="http://schemas.microsoft.com/office/drawing/2014/main" id="{3C5E6FAC-27B3-AA5B-E5BA-181E924FF098}"/>
              </a:ext>
            </a:extLst>
          </p:cNvPr>
          <p:cNvSpPr txBox="1"/>
          <p:nvPr/>
        </p:nvSpPr>
        <p:spPr>
          <a:xfrm>
            <a:off x="271306" y="6037539"/>
            <a:ext cx="1146468"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SOSP’23</a:t>
            </a:r>
          </a:p>
        </p:txBody>
      </p:sp>
      <p:sp>
        <p:nvSpPr>
          <p:cNvPr id="8" name="灯片编号占位符 7">
            <a:extLst>
              <a:ext uri="{FF2B5EF4-FFF2-40B4-BE49-F238E27FC236}">
                <a16:creationId xmlns:a16="http://schemas.microsoft.com/office/drawing/2014/main" id="{4DCCDC30-0E8E-CA4A-D250-7B0E421F1219}"/>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1999" cy="1188720"/>
          </a:xfrm>
        </p:spPr>
        <p:txBody>
          <a:bodyPr>
            <a:normAutofit fontScale="90000"/>
          </a:bodyPr>
          <a:lstStyle/>
          <a:p>
            <a:pPr algn="ctr"/>
            <a:r>
              <a:rPr lang="en-US" b="1">
                <a:latin typeface="helvetica" panose="020B0604020202020204" pitchFamily="34" charset="0"/>
                <a:cs typeface="helvetica" panose="020B0604020202020204" pitchFamily="34" charset="0"/>
              </a:rPr>
              <a:t>Performance Isolation Is Critical in Application</a:t>
            </a:r>
          </a:p>
        </p:txBody>
      </p:sp>
      <p:sp>
        <p:nvSpPr>
          <p:cNvPr id="5" name="灯片编号占位符 4">
            <a:extLst>
              <a:ext uri="{FF2B5EF4-FFF2-40B4-BE49-F238E27FC236}">
                <a16:creationId xmlns:a16="http://schemas.microsoft.com/office/drawing/2014/main" id="{D2CE7B8B-75F8-94CF-BBCE-AF9A4289792C}"/>
              </a:ext>
            </a:extLst>
          </p:cNvPr>
          <p:cNvSpPr>
            <a:spLocks noGrp="1"/>
          </p:cNvSpPr>
          <p:nvPr>
            <p:ph type="sldNum" sz="quarter" idx="12"/>
          </p:nvPr>
        </p:nvSpPr>
        <p:spPr/>
        <p:txBody>
          <a:bodyPr/>
          <a:lstStyle/>
          <a:p>
            <a:fld id="{330EA680-D336-4FF7-8B7A-9848BB0A1C32}" type="slidenum">
              <a:rPr lang="en-US" smtClean="0"/>
              <a:t>2</a:t>
            </a:fld>
            <a:endParaRPr lang="en-US"/>
          </a:p>
        </p:txBody>
      </p:sp>
      <p:sp>
        <p:nvSpPr>
          <p:cNvPr id="4" name="矩形: 圆角 3">
            <a:extLst>
              <a:ext uri="{FF2B5EF4-FFF2-40B4-BE49-F238E27FC236}">
                <a16:creationId xmlns:a16="http://schemas.microsoft.com/office/drawing/2014/main" id="{6AE31E73-5214-7024-8F63-78E539C0C320}"/>
              </a:ext>
            </a:extLst>
          </p:cNvPr>
          <p:cNvSpPr/>
          <p:nvPr/>
        </p:nvSpPr>
        <p:spPr>
          <a:xfrm>
            <a:off x="2625704" y="1489510"/>
            <a:ext cx="5750522" cy="1775450"/>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9C8AB5B7-AC94-0033-E822-744371A23C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472" y="1934996"/>
            <a:ext cx="947261" cy="976848"/>
          </a:xfrm>
          <a:prstGeom prst="rect">
            <a:avLst/>
          </a:prstGeom>
        </p:spPr>
      </p:pic>
      <p:grpSp>
        <p:nvGrpSpPr>
          <p:cNvPr id="12" name="Group 47">
            <a:extLst>
              <a:ext uri="{FF2B5EF4-FFF2-40B4-BE49-F238E27FC236}">
                <a16:creationId xmlns:a16="http://schemas.microsoft.com/office/drawing/2014/main" id="{FC5B2326-D644-8816-AEAE-A7E6582CEFBF}"/>
              </a:ext>
            </a:extLst>
          </p:cNvPr>
          <p:cNvGrpSpPr/>
          <p:nvPr/>
        </p:nvGrpSpPr>
        <p:grpSpPr>
          <a:xfrm>
            <a:off x="3901731" y="4515608"/>
            <a:ext cx="1260303" cy="855130"/>
            <a:chOff x="3321978" y="4557911"/>
            <a:chExt cx="1822693" cy="855130"/>
          </a:xfrm>
          <a:solidFill>
            <a:srgbClr val="4472C4"/>
          </a:solidFill>
        </p:grpSpPr>
        <p:sp>
          <p:nvSpPr>
            <p:cNvPr id="15" name="文本框 2">
              <a:extLst>
                <a:ext uri="{FF2B5EF4-FFF2-40B4-BE49-F238E27FC236}">
                  <a16:creationId xmlns:a16="http://schemas.microsoft.com/office/drawing/2014/main" id="{EEA8BE05-F455-25DA-71B3-2B07316F6A94}"/>
                </a:ext>
              </a:extLst>
            </p:cNvPr>
            <p:cNvSpPr txBox="1"/>
            <p:nvPr/>
          </p:nvSpPr>
          <p:spPr>
            <a:xfrm>
              <a:off x="4047391" y="5047281"/>
              <a:ext cx="1097280" cy="36576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sp>
          <p:nvSpPr>
            <p:cNvPr id="14" name="文本框 2">
              <a:extLst>
                <a:ext uri="{FF2B5EF4-FFF2-40B4-BE49-F238E27FC236}">
                  <a16:creationId xmlns:a16="http://schemas.microsoft.com/office/drawing/2014/main" id="{835A18EB-D060-B586-12F2-A7342795C757}"/>
                </a:ext>
              </a:extLst>
            </p:cNvPr>
            <p:cNvSpPr txBox="1"/>
            <p:nvPr/>
          </p:nvSpPr>
          <p:spPr>
            <a:xfrm>
              <a:off x="3657934" y="4756873"/>
              <a:ext cx="1079961" cy="36933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sp>
          <p:nvSpPr>
            <p:cNvPr id="13" name="文本框 2">
              <a:extLst>
                <a:ext uri="{FF2B5EF4-FFF2-40B4-BE49-F238E27FC236}">
                  <a16:creationId xmlns:a16="http://schemas.microsoft.com/office/drawing/2014/main" id="{ACBF68AB-5F81-B0FC-6505-AE2021D35312}"/>
                </a:ext>
              </a:extLst>
            </p:cNvPr>
            <p:cNvSpPr txBox="1"/>
            <p:nvPr/>
          </p:nvSpPr>
          <p:spPr>
            <a:xfrm>
              <a:off x="3321978" y="4557911"/>
              <a:ext cx="1005840" cy="36933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grpSp>
      <p:grpSp>
        <p:nvGrpSpPr>
          <p:cNvPr id="17" name="Group 47">
            <a:extLst>
              <a:ext uri="{FF2B5EF4-FFF2-40B4-BE49-F238E27FC236}">
                <a16:creationId xmlns:a16="http://schemas.microsoft.com/office/drawing/2014/main" id="{65A5D0F1-2CD0-5FD6-61E0-94CDD5251156}"/>
              </a:ext>
            </a:extLst>
          </p:cNvPr>
          <p:cNvGrpSpPr/>
          <p:nvPr/>
        </p:nvGrpSpPr>
        <p:grpSpPr>
          <a:xfrm>
            <a:off x="5237121" y="4493306"/>
            <a:ext cx="1260303" cy="855130"/>
            <a:chOff x="3321978" y="4557911"/>
            <a:chExt cx="1822693" cy="855130"/>
          </a:xfrm>
        </p:grpSpPr>
        <p:sp>
          <p:nvSpPr>
            <p:cNvPr id="18" name="文本框 2">
              <a:extLst>
                <a:ext uri="{FF2B5EF4-FFF2-40B4-BE49-F238E27FC236}">
                  <a16:creationId xmlns:a16="http://schemas.microsoft.com/office/drawing/2014/main" id="{14E44A5A-0D4A-2823-C52A-E52E1458BE0A}"/>
                </a:ext>
              </a:extLst>
            </p:cNvPr>
            <p:cNvSpPr txBox="1"/>
            <p:nvPr/>
          </p:nvSpPr>
          <p:spPr>
            <a:xfrm>
              <a:off x="4047391" y="5047281"/>
              <a:ext cx="1097280" cy="365760"/>
            </a:xfrm>
            <a:prstGeom prst="rect">
              <a:avLst/>
            </a:prstGeom>
            <a:solidFill>
              <a:srgbClr val="C55A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sp>
          <p:nvSpPr>
            <p:cNvPr id="19" name="文本框 2">
              <a:extLst>
                <a:ext uri="{FF2B5EF4-FFF2-40B4-BE49-F238E27FC236}">
                  <a16:creationId xmlns:a16="http://schemas.microsoft.com/office/drawing/2014/main" id="{EA14C2F3-2532-0E17-63DF-CD6416AF4A88}"/>
                </a:ext>
              </a:extLst>
            </p:cNvPr>
            <p:cNvSpPr txBox="1"/>
            <p:nvPr/>
          </p:nvSpPr>
          <p:spPr>
            <a:xfrm>
              <a:off x="3657934" y="4756873"/>
              <a:ext cx="1079961" cy="369332"/>
            </a:xfrm>
            <a:prstGeom prst="rect">
              <a:avLst/>
            </a:prstGeom>
            <a:solidFill>
              <a:srgbClr val="C55A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sp>
          <p:nvSpPr>
            <p:cNvPr id="20" name="文本框 2">
              <a:extLst>
                <a:ext uri="{FF2B5EF4-FFF2-40B4-BE49-F238E27FC236}">
                  <a16:creationId xmlns:a16="http://schemas.microsoft.com/office/drawing/2014/main" id="{CD9336E7-7D34-97A8-15FD-B5BC2FD4E9F8}"/>
                </a:ext>
              </a:extLst>
            </p:cNvPr>
            <p:cNvSpPr txBox="1"/>
            <p:nvPr/>
          </p:nvSpPr>
          <p:spPr>
            <a:xfrm>
              <a:off x="3321978" y="4557911"/>
              <a:ext cx="1005840" cy="369332"/>
            </a:xfrm>
            <a:prstGeom prst="rect">
              <a:avLst/>
            </a:prstGeom>
            <a:solidFill>
              <a:srgbClr val="C55A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grpSp>
      <p:grpSp>
        <p:nvGrpSpPr>
          <p:cNvPr id="21" name="Group 47">
            <a:extLst>
              <a:ext uri="{FF2B5EF4-FFF2-40B4-BE49-F238E27FC236}">
                <a16:creationId xmlns:a16="http://schemas.microsoft.com/office/drawing/2014/main" id="{36507279-0BDF-F0B3-7D1F-DE52BCA798DF}"/>
              </a:ext>
            </a:extLst>
          </p:cNvPr>
          <p:cNvGrpSpPr/>
          <p:nvPr/>
        </p:nvGrpSpPr>
        <p:grpSpPr>
          <a:xfrm>
            <a:off x="6578322" y="4493306"/>
            <a:ext cx="1260303" cy="855130"/>
            <a:chOff x="3321978" y="4557911"/>
            <a:chExt cx="1822693" cy="855130"/>
          </a:xfrm>
          <a:solidFill>
            <a:srgbClr val="BF9000"/>
          </a:solidFill>
        </p:grpSpPr>
        <p:sp>
          <p:nvSpPr>
            <p:cNvPr id="22" name="文本框 2">
              <a:extLst>
                <a:ext uri="{FF2B5EF4-FFF2-40B4-BE49-F238E27FC236}">
                  <a16:creationId xmlns:a16="http://schemas.microsoft.com/office/drawing/2014/main" id="{C2C0E122-AB27-87F3-F052-56B2D4711817}"/>
                </a:ext>
              </a:extLst>
            </p:cNvPr>
            <p:cNvSpPr txBox="1"/>
            <p:nvPr/>
          </p:nvSpPr>
          <p:spPr>
            <a:xfrm>
              <a:off x="4047391" y="5047281"/>
              <a:ext cx="1097280" cy="36576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sp>
          <p:nvSpPr>
            <p:cNvPr id="23" name="文本框 2">
              <a:extLst>
                <a:ext uri="{FF2B5EF4-FFF2-40B4-BE49-F238E27FC236}">
                  <a16:creationId xmlns:a16="http://schemas.microsoft.com/office/drawing/2014/main" id="{85457AE9-6F0D-8CA1-3E57-D1D08B1C1F8B}"/>
                </a:ext>
              </a:extLst>
            </p:cNvPr>
            <p:cNvSpPr txBox="1"/>
            <p:nvPr/>
          </p:nvSpPr>
          <p:spPr>
            <a:xfrm>
              <a:off x="3657934" y="4756873"/>
              <a:ext cx="1079961" cy="36933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sp>
          <p:nvSpPr>
            <p:cNvPr id="24" name="文本框 2">
              <a:extLst>
                <a:ext uri="{FF2B5EF4-FFF2-40B4-BE49-F238E27FC236}">
                  <a16:creationId xmlns:a16="http://schemas.microsoft.com/office/drawing/2014/main" id="{D528ECCD-B97F-C508-2500-325E3D125C87}"/>
                </a:ext>
              </a:extLst>
            </p:cNvPr>
            <p:cNvSpPr txBox="1"/>
            <p:nvPr/>
          </p:nvSpPr>
          <p:spPr>
            <a:xfrm>
              <a:off x="3321978" y="4557911"/>
              <a:ext cx="1005840" cy="36933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endParaRPr lang="zh-CN" altLang="en-US" b="1">
                <a:latin typeface="helvetica" panose="020B0604020202020204" pitchFamily="34" charset="0"/>
                <a:cs typeface="helvetica" panose="020B0604020202020204" pitchFamily="34" charset="0"/>
              </a:endParaRPr>
            </a:p>
          </p:txBody>
        </p:sp>
      </p:grpSp>
      <p:sp>
        <p:nvSpPr>
          <p:cNvPr id="26" name="文本框 25">
            <a:extLst>
              <a:ext uri="{FF2B5EF4-FFF2-40B4-BE49-F238E27FC236}">
                <a16:creationId xmlns:a16="http://schemas.microsoft.com/office/drawing/2014/main" id="{DF73C77E-0CAE-4FE5-DF8D-0E1416E2552F}"/>
              </a:ext>
            </a:extLst>
          </p:cNvPr>
          <p:cNvSpPr txBox="1"/>
          <p:nvPr/>
        </p:nvSpPr>
        <p:spPr>
          <a:xfrm>
            <a:off x="8044491" y="4725531"/>
            <a:ext cx="2324033" cy="369332"/>
          </a:xfrm>
          <a:prstGeom prst="rect">
            <a:avLst/>
          </a:prstGeom>
          <a:noFill/>
        </p:spPr>
        <p:txBody>
          <a:bodyPr wrap="square">
            <a:spAutoFit/>
          </a:bodyPr>
          <a:lstStyle/>
          <a:p>
            <a:r>
              <a:rPr lang="en-US" altLang="zh-CN"/>
              <a:t>Shared Resource </a:t>
            </a:r>
            <a:endParaRPr lang="zh-CN" altLang="en-US"/>
          </a:p>
        </p:txBody>
      </p:sp>
      <p:cxnSp>
        <p:nvCxnSpPr>
          <p:cNvPr id="6" name="Straight Connector 5">
            <a:extLst>
              <a:ext uri="{FF2B5EF4-FFF2-40B4-BE49-F238E27FC236}">
                <a16:creationId xmlns:a16="http://schemas.microsoft.com/office/drawing/2014/main" id="{5A56C76B-E797-A55D-EEB7-C6314BB3B0F7}"/>
              </a:ext>
            </a:extLst>
          </p:cNvPr>
          <p:cNvCxnSpPr>
            <a:cxnSpLocks/>
          </p:cNvCxnSpPr>
          <p:nvPr/>
        </p:nvCxnSpPr>
        <p:spPr>
          <a:xfrm flipH="1">
            <a:off x="1943588" y="4025500"/>
            <a:ext cx="7354042" cy="0"/>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8" name="直接箭头连接符 110">
            <a:extLst>
              <a:ext uri="{FF2B5EF4-FFF2-40B4-BE49-F238E27FC236}">
                <a16:creationId xmlns:a16="http://schemas.microsoft.com/office/drawing/2014/main" id="{22F89584-42F2-8A76-48C4-C7FFE2FB5229}"/>
              </a:ext>
            </a:extLst>
          </p:cNvPr>
          <p:cNvCxnSpPr>
            <a:cxnSpLocks/>
            <a:endCxn id="13" idx="0"/>
          </p:cNvCxnSpPr>
          <p:nvPr/>
        </p:nvCxnSpPr>
        <p:spPr>
          <a:xfrm flipH="1">
            <a:off x="4249476" y="2890389"/>
            <a:ext cx="28905" cy="1625219"/>
          </a:xfrm>
          <a:prstGeom prst="straightConnector1">
            <a:avLst/>
          </a:prstGeom>
          <a:ln w="38100">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6" name="直接箭头连接符 110">
            <a:extLst>
              <a:ext uri="{FF2B5EF4-FFF2-40B4-BE49-F238E27FC236}">
                <a16:creationId xmlns:a16="http://schemas.microsoft.com/office/drawing/2014/main" id="{48599133-1F39-4F7D-5606-568B869358A4}"/>
              </a:ext>
            </a:extLst>
          </p:cNvPr>
          <p:cNvCxnSpPr>
            <a:cxnSpLocks/>
            <a:endCxn id="20" idx="0"/>
          </p:cNvCxnSpPr>
          <p:nvPr/>
        </p:nvCxnSpPr>
        <p:spPr>
          <a:xfrm>
            <a:off x="4313755" y="2919955"/>
            <a:ext cx="1271111" cy="1573351"/>
          </a:xfrm>
          <a:prstGeom prst="straightConnector1">
            <a:avLst/>
          </a:prstGeom>
          <a:ln w="38100">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8" name="直接箭头连接符 110">
            <a:extLst>
              <a:ext uri="{FF2B5EF4-FFF2-40B4-BE49-F238E27FC236}">
                <a16:creationId xmlns:a16="http://schemas.microsoft.com/office/drawing/2014/main" id="{E4868650-8563-3830-93F0-515648C5D1BE}"/>
              </a:ext>
            </a:extLst>
          </p:cNvPr>
          <p:cNvCxnSpPr>
            <a:cxnSpLocks/>
            <a:stCxn id="7" idx="2"/>
            <a:endCxn id="24" idx="0"/>
          </p:cNvCxnSpPr>
          <p:nvPr/>
        </p:nvCxnSpPr>
        <p:spPr>
          <a:xfrm>
            <a:off x="4313756" y="2919955"/>
            <a:ext cx="2612311" cy="1573351"/>
          </a:xfrm>
          <a:prstGeom prst="straightConnector1">
            <a:avLst/>
          </a:prstGeom>
          <a:ln w="38100">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32" name="直接箭头连接符 110">
            <a:extLst>
              <a:ext uri="{FF2B5EF4-FFF2-40B4-BE49-F238E27FC236}">
                <a16:creationId xmlns:a16="http://schemas.microsoft.com/office/drawing/2014/main" id="{2F2203B0-9CDB-FFF4-1B3F-2B556E6B541F}"/>
              </a:ext>
            </a:extLst>
          </p:cNvPr>
          <p:cNvCxnSpPr>
            <a:cxnSpLocks/>
            <a:stCxn id="11" idx="2"/>
          </p:cNvCxnSpPr>
          <p:nvPr/>
        </p:nvCxnSpPr>
        <p:spPr>
          <a:xfrm flipH="1">
            <a:off x="4401876" y="2911844"/>
            <a:ext cx="2065227" cy="1756164"/>
          </a:xfrm>
          <a:prstGeom prst="straightConnector1">
            <a:avLst/>
          </a:prstGeom>
          <a:ln w="38100">
            <a:solidFill>
              <a:schemeClr val="tx1"/>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34" name="直接箭头连接符 110">
            <a:extLst>
              <a:ext uri="{FF2B5EF4-FFF2-40B4-BE49-F238E27FC236}">
                <a16:creationId xmlns:a16="http://schemas.microsoft.com/office/drawing/2014/main" id="{E7ABBF26-6F5C-B6F6-4097-82DE85E4FB5B}"/>
              </a:ext>
            </a:extLst>
          </p:cNvPr>
          <p:cNvCxnSpPr>
            <a:cxnSpLocks/>
            <a:stCxn id="11" idx="2"/>
            <a:endCxn id="20" idx="0"/>
          </p:cNvCxnSpPr>
          <p:nvPr/>
        </p:nvCxnSpPr>
        <p:spPr>
          <a:xfrm flipH="1">
            <a:off x="5584866" y="2911844"/>
            <a:ext cx="882237" cy="1581462"/>
          </a:xfrm>
          <a:prstGeom prst="straightConnector1">
            <a:avLst/>
          </a:prstGeom>
          <a:ln w="38100">
            <a:solidFill>
              <a:schemeClr val="tx1"/>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37" name="直接箭头连接符 110">
            <a:extLst>
              <a:ext uri="{FF2B5EF4-FFF2-40B4-BE49-F238E27FC236}">
                <a16:creationId xmlns:a16="http://schemas.microsoft.com/office/drawing/2014/main" id="{25B155BE-6EE6-7077-FF41-FC55ED4AC464}"/>
              </a:ext>
            </a:extLst>
          </p:cNvPr>
          <p:cNvCxnSpPr>
            <a:cxnSpLocks/>
            <a:endCxn id="24" idx="0"/>
          </p:cNvCxnSpPr>
          <p:nvPr/>
        </p:nvCxnSpPr>
        <p:spPr>
          <a:xfrm>
            <a:off x="6636677" y="2930699"/>
            <a:ext cx="289390" cy="1562607"/>
          </a:xfrm>
          <a:prstGeom prst="straightConnector1">
            <a:avLst/>
          </a:prstGeom>
          <a:ln w="38100">
            <a:solidFill>
              <a:schemeClr val="tx1"/>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81" name="Group 80">
            <a:extLst>
              <a:ext uri="{FF2B5EF4-FFF2-40B4-BE49-F238E27FC236}">
                <a16:creationId xmlns:a16="http://schemas.microsoft.com/office/drawing/2014/main" id="{1CB7FEE2-4C63-B517-0B79-12E1008EAE3F}"/>
              </a:ext>
            </a:extLst>
          </p:cNvPr>
          <p:cNvGrpSpPr/>
          <p:nvPr/>
        </p:nvGrpSpPr>
        <p:grpSpPr>
          <a:xfrm>
            <a:off x="3650302" y="1764370"/>
            <a:ext cx="1271110" cy="1324848"/>
            <a:chOff x="5360569" y="1798236"/>
            <a:chExt cx="1271110" cy="1324848"/>
          </a:xfrm>
        </p:grpSpPr>
        <p:pic>
          <p:nvPicPr>
            <p:cNvPr id="7" name="图形 6">
              <a:extLst>
                <a:ext uri="{FF2B5EF4-FFF2-40B4-BE49-F238E27FC236}">
                  <a16:creationId xmlns:a16="http://schemas.microsoft.com/office/drawing/2014/main" id="{2FC45AA8-AF0A-8C1C-364C-52BF3B161E6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5599" y="1976974"/>
              <a:ext cx="976847" cy="976847"/>
            </a:xfrm>
            <a:prstGeom prst="rect">
              <a:avLst/>
            </a:prstGeom>
          </p:spPr>
        </p:pic>
        <p:sp>
          <p:nvSpPr>
            <p:cNvPr id="41" name="Rectangle: Rounded Corners 40">
              <a:extLst>
                <a:ext uri="{FF2B5EF4-FFF2-40B4-BE49-F238E27FC236}">
                  <a16:creationId xmlns:a16="http://schemas.microsoft.com/office/drawing/2014/main" id="{927B5CCD-754C-4527-F8DB-EC52972FD5D6}"/>
                </a:ext>
              </a:extLst>
            </p:cNvPr>
            <p:cNvSpPr/>
            <p:nvPr/>
          </p:nvSpPr>
          <p:spPr>
            <a:xfrm>
              <a:off x="5360569" y="1798236"/>
              <a:ext cx="1271110" cy="1324848"/>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741ABE47-67A8-42BF-210E-0E00D15F1CCC}"/>
              </a:ext>
            </a:extLst>
          </p:cNvPr>
          <p:cNvGrpSpPr>
            <a:grpSpLocks noChangeAspect="1"/>
          </p:cNvGrpSpPr>
          <p:nvPr/>
        </p:nvGrpSpPr>
        <p:grpSpPr>
          <a:xfrm>
            <a:off x="4602504" y="1596670"/>
            <a:ext cx="866914" cy="843967"/>
            <a:chOff x="2903926" y="5181310"/>
            <a:chExt cx="1579086" cy="1492904"/>
          </a:xfrm>
        </p:grpSpPr>
        <p:grpSp>
          <p:nvGrpSpPr>
            <p:cNvPr id="43" name="Group 42">
              <a:extLst>
                <a:ext uri="{FF2B5EF4-FFF2-40B4-BE49-F238E27FC236}">
                  <a16:creationId xmlns:a16="http://schemas.microsoft.com/office/drawing/2014/main" id="{EE134543-1D2D-ECE0-538C-5E3BF3D4C71D}"/>
                </a:ext>
              </a:extLst>
            </p:cNvPr>
            <p:cNvGrpSpPr/>
            <p:nvPr/>
          </p:nvGrpSpPr>
          <p:grpSpPr>
            <a:xfrm>
              <a:off x="2903926" y="5181310"/>
              <a:ext cx="1492905" cy="1492904"/>
              <a:chOff x="2607287" y="5332739"/>
              <a:chExt cx="1492905" cy="1492904"/>
            </a:xfrm>
          </p:grpSpPr>
          <p:sp>
            <p:nvSpPr>
              <p:cNvPr id="45" name="Octagon 44">
                <a:extLst>
                  <a:ext uri="{FF2B5EF4-FFF2-40B4-BE49-F238E27FC236}">
                    <a16:creationId xmlns:a16="http://schemas.microsoft.com/office/drawing/2014/main" id="{5A76422C-5BCC-085A-EA80-CBA29A4F43EE}"/>
                  </a:ext>
                </a:extLst>
              </p:cNvPr>
              <p:cNvSpPr>
                <a:spLocks noChangeAspect="1"/>
              </p:cNvSpPr>
              <p:nvPr/>
            </p:nvSpPr>
            <p:spPr>
              <a:xfrm>
                <a:off x="2720326" y="5445779"/>
                <a:ext cx="1266825" cy="1266825"/>
              </a:xfrm>
              <a:prstGeom prst="oct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ctagon 45">
                <a:extLst>
                  <a:ext uri="{FF2B5EF4-FFF2-40B4-BE49-F238E27FC236}">
                    <a16:creationId xmlns:a16="http://schemas.microsoft.com/office/drawing/2014/main" id="{436E9A69-0FE9-115A-D1CF-4E85D06BB4C9}"/>
                  </a:ext>
                </a:extLst>
              </p:cNvPr>
              <p:cNvSpPr>
                <a:spLocks noChangeAspect="1"/>
              </p:cNvSpPr>
              <p:nvPr/>
            </p:nvSpPr>
            <p:spPr>
              <a:xfrm>
                <a:off x="2607287" y="5332739"/>
                <a:ext cx="1492905" cy="1492904"/>
              </a:xfrm>
              <a:prstGeom prst="octagon">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71FB2405-28C1-611D-4730-2AECFBB11128}"/>
                </a:ext>
              </a:extLst>
            </p:cNvPr>
            <p:cNvSpPr txBox="1"/>
            <p:nvPr/>
          </p:nvSpPr>
          <p:spPr>
            <a:xfrm>
              <a:off x="2990107" y="5666151"/>
              <a:ext cx="1492905" cy="653316"/>
            </a:xfrm>
            <a:prstGeom prst="rect">
              <a:avLst/>
            </a:prstGeom>
            <a:noFill/>
            <a:ln>
              <a:solidFill>
                <a:srgbClr val="C00000"/>
              </a:solidFill>
            </a:ln>
          </p:spPr>
          <p:txBody>
            <a:bodyPr wrap="square" rtlCol="0">
              <a:spAutoFit/>
            </a:bodyPr>
            <a:lstStyle/>
            <a:p>
              <a:r>
                <a:rPr lang="en-US" b="1">
                  <a:solidFill>
                    <a:schemeClr val="bg1"/>
                  </a:solidFill>
                </a:rPr>
                <a:t>SLOW</a:t>
              </a:r>
            </a:p>
          </p:txBody>
        </p:sp>
      </p:grpSp>
      <p:pic>
        <p:nvPicPr>
          <p:cNvPr id="53" name="Graphic 52" descr="Warning with solid fill">
            <a:extLst>
              <a:ext uri="{FF2B5EF4-FFF2-40B4-BE49-F238E27FC236}">
                <a16:creationId xmlns:a16="http://schemas.microsoft.com/office/drawing/2014/main" id="{C832AFFB-AFB9-511F-09F1-A9AD576368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4775" y="4025500"/>
            <a:ext cx="591474" cy="591474"/>
          </a:xfrm>
          <a:prstGeom prst="rect">
            <a:avLst/>
          </a:prstGeom>
        </p:spPr>
      </p:pic>
      <p:pic>
        <p:nvPicPr>
          <p:cNvPr id="54" name="Graphic 53" descr="Warning with solid fill">
            <a:extLst>
              <a:ext uri="{FF2B5EF4-FFF2-40B4-BE49-F238E27FC236}">
                <a16:creationId xmlns:a16="http://schemas.microsoft.com/office/drawing/2014/main" id="{72325CD8-8DD9-2822-5DB9-0E6ED1C1FB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93417" y="4035446"/>
            <a:ext cx="591474" cy="591474"/>
          </a:xfrm>
          <a:prstGeom prst="rect">
            <a:avLst/>
          </a:prstGeom>
        </p:spPr>
      </p:pic>
      <p:sp>
        <p:nvSpPr>
          <p:cNvPr id="83" name="TextBox 82">
            <a:extLst>
              <a:ext uri="{FF2B5EF4-FFF2-40B4-BE49-F238E27FC236}">
                <a16:creationId xmlns:a16="http://schemas.microsoft.com/office/drawing/2014/main" id="{84659622-9E88-1EB7-FE42-920CD3B2E5E6}"/>
              </a:ext>
            </a:extLst>
          </p:cNvPr>
          <p:cNvSpPr txBox="1"/>
          <p:nvPr/>
        </p:nvSpPr>
        <p:spPr>
          <a:xfrm>
            <a:off x="142618" y="6466052"/>
            <a:ext cx="11400340" cy="369332"/>
          </a:xfrm>
          <a:prstGeom prst="rect">
            <a:avLst/>
          </a:prstGeom>
          <a:noFill/>
        </p:spPr>
        <p:txBody>
          <a:bodyPr wrap="square">
            <a:spAutoFit/>
          </a:bodyPr>
          <a:lstStyle/>
          <a:p>
            <a:pPr algn="l"/>
            <a:r>
              <a:rPr lang="en-US" b="1" i="0">
                <a:solidFill>
                  <a:schemeClr val="bg1">
                    <a:lumMod val="65000"/>
                  </a:schemeClr>
                </a:solidFill>
                <a:effectLst/>
                <a:latin typeface="Open Sans" panose="020B0606030504020204" pitchFamily="34" charset="0"/>
              </a:rPr>
              <a:t>*</a:t>
            </a:r>
            <a:r>
              <a:rPr lang="en-US" b="1" i="0" err="1">
                <a:solidFill>
                  <a:schemeClr val="bg1">
                    <a:lumMod val="65000"/>
                  </a:schemeClr>
                </a:solidFill>
                <a:effectLst/>
                <a:latin typeface="Open Sans" panose="020B0606030504020204" pitchFamily="34" charset="0"/>
              </a:rPr>
              <a:t>Caladan</a:t>
            </a:r>
            <a:r>
              <a:rPr lang="en-US" b="1">
                <a:solidFill>
                  <a:schemeClr val="bg1">
                    <a:lumMod val="65000"/>
                  </a:schemeClr>
                </a:solidFill>
                <a:latin typeface="Open Sans" panose="020B0606030504020204" pitchFamily="34" charset="0"/>
              </a:rPr>
              <a:t>(</a:t>
            </a:r>
            <a:r>
              <a:rPr lang="en-US" b="1" i="0">
                <a:solidFill>
                  <a:schemeClr val="bg1">
                    <a:lumMod val="65000"/>
                  </a:schemeClr>
                </a:solidFill>
                <a:effectLst/>
                <a:latin typeface="Open Sans" panose="020B0606030504020204" pitchFamily="34" charset="0"/>
              </a:rPr>
              <a:t>OSDI’20),PARTIES</a:t>
            </a:r>
            <a:r>
              <a:rPr lang="en-US" b="1">
                <a:solidFill>
                  <a:schemeClr val="bg1">
                    <a:lumMod val="65000"/>
                  </a:schemeClr>
                </a:solidFill>
                <a:latin typeface="Open Sans" panose="020B0606030504020204" pitchFamily="34" charset="0"/>
              </a:rPr>
              <a:t>(ASPLOS’19)</a:t>
            </a:r>
            <a:endParaRPr lang="en-US" b="1" i="0">
              <a:solidFill>
                <a:schemeClr val="bg1">
                  <a:lumMod val="65000"/>
                </a:schemeClr>
              </a:solidFill>
              <a:effectLst/>
              <a:latin typeface="Open Sans" panose="020B0606030504020204" pitchFamily="34" charset="0"/>
            </a:endParaRPr>
          </a:p>
        </p:txBody>
      </p:sp>
      <p:sp>
        <p:nvSpPr>
          <p:cNvPr id="63" name="矩形: 圆角 3">
            <a:extLst>
              <a:ext uri="{FF2B5EF4-FFF2-40B4-BE49-F238E27FC236}">
                <a16:creationId xmlns:a16="http://schemas.microsoft.com/office/drawing/2014/main" id="{97679D9F-D59A-E394-E038-3D888801430A}"/>
              </a:ext>
            </a:extLst>
          </p:cNvPr>
          <p:cNvSpPr/>
          <p:nvPr/>
        </p:nvSpPr>
        <p:spPr>
          <a:xfrm>
            <a:off x="8610600" y="2066550"/>
            <a:ext cx="3077152" cy="890576"/>
          </a:xfrm>
          <a:prstGeom prst="roundRect">
            <a:avLst/>
          </a:prstGeom>
          <a:noFill/>
          <a:ln w="28575">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a:t>Inter-application performance interference</a:t>
            </a:r>
            <a:endParaRPr lang="zh-CN" altLang="en-US" sz="2000"/>
          </a:p>
        </p:txBody>
      </p:sp>
    </p:spTree>
    <p:extLst>
      <p:ext uri="{BB962C8B-B14F-4D97-AF65-F5344CB8AC3E}">
        <p14:creationId xmlns:p14="http://schemas.microsoft.com/office/powerpoint/2010/main" val="4249017351"/>
      </p:ext>
    </p:extLst>
  </p:cSld>
  <p:clrMapOvr>
    <a:masterClrMapping/>
  </p:clrMapOvr>
  <mc:AlternateContent xmlns:mc="http://schemas.openxmlformats.org/markup-compatibility/2006" xmlns:p14="http://schemas.microsoft.com/office/powerpoint/2010/main">
    <mc:Choice Requires="p14">
      <p:transition spd="slow" p14:dur="2000" advTm="33930"/>
    </mc:Choice>
    <mc:Fallback xmlns="">
      <p:transition spd="slow" advTm="3393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18C40734-2983-29BF-6CB1-F9D3E243EEFE}"/>
              </a:ext>
            </a:extLst>
          </p:cNvPr>
          <p:cNvSpPr/>
          <p:nvPr/>
        </p:nvSpPr>
        <p:spPr>
          <a:xfrm>
            <a:off x="54208" y="1131968"/>
            <a:ext cx="12083584" cy="1446550"/>
          </a:xfrm>
          <a:prstGeom prst="rect">
            <a:avLst/>
          </a:prstGeom>
        </p:spPr>
        <p:txBody>
          <a:bodyPr wrap="square">
            <a:spAutoFit/>
          </a:bodyPr>
          <a:lstStyle/>
          <a:p>
            <a:pPr marL="457200" indent="-457200">
              <a:buFont typeface="Arial" panose="020B0604020202020204" pitchFamily="34" charset="0"/>
              <a:buChar char="•"/>
            </a:pPr>
            <a:r>
              <a:rPr lang="en-US" sz="3200" b="1"/>
              <a:t>Performance interference can happen inside application</a:t>
            </a:r>
          </a:p>
          <a:p>
            <a:pPr marL="803275" lvl="1" indent="-346075">
              <a:buFont typeface="Courier New" panose="02070309020205020404" pitchFamily="49" charset="0"/>
              <a:buChar char="o"/>
            </a:pPr>
            <a:r>
              <a:rPr lang="en-US" sz="2800"/>
              <a:t>Tasks in same application contend for shared </a:t>
            </a:r>
            <a:r>
              <a:rPr lang="en-US" sz="2800" b="1">
                <a:solidFill>
                  <a:schemeClr val="accent5">
                    <a:lumMod val="50000"/>
                  </a:schemeClr>
                </a:solidFill>
              </a:rPr>
              <a:t>application </a:t>
            </a:r>
            <a:r>
              <a:rPr lang="en-US" sz="2800" b="1" i="1">
                <a:solidFill>
                  <a:schemeClr val="accent5">
                    <a:lumMod val="50000"/>
                  </a:schemeClr>
                </a:solidFill>
              </a:rPr>
              <a:t>virtual</a:t>
            </a:r>
            <a:r>
              <a:rPr lang="en-US" sz="2800" i="1">
                <a:solidFill>
                  <a:schemeClr val="accent5">
                    <a:lumMod val="50000"/>
                  </a:schemeClr>
                </a:solidFill>
              </a:rPr>
              <a:t> </a:t>
            </a:r>
            <a:r>
              <a:rPr lang="en-US" sz="2800" b="1" i="1">
                <a:solidFill>
                  <a:schemeClr val="accent5">
                    <a:lumMod val="50000"/>
                  </a:schemeClr>
                </a:solidFill>
              </a:rPr>
              <a:t>resources</a:t>
            </a:r>
          </a:p>
          <a:p>
            <a:pPr marL="803275" lvl="1" indent="-346075">
              <a:buFont typeface="Courier New" panose="02070309020205020404" pitchFamily="49" charset="0"/>
              <a:buChar char="o"/>
            </a:pPr>
            <a:r>
              <a:rPr lang="en-US" sz="2800"/>
              <a:t>Cause severe performance interference in production</a:t>
            </a:r>
          </a:p>
        </p:txBody>
      </p:sp>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920"/>
            <a:ext cx="12192000" cy="1188720"/>
          </a:xfrm>
        </p:spPr>
        <p:txBody>
          <a:bodyPr/>
          <a:lstStyle/>
          <a:p>
            <a:pPr algn="ctr"/>
            <a:r>
              <a:rPr lang="en-US" altLang="zh-CN" b="1">
                <a:latin typeface="helvetica" panose="020B0604020202020204" pitchFamily="34" charset="0"/>
                <a:cs typeface="helvetica" panose="020B0604020202020204" pitchFamily="34" charset="0"/>
              </a:rPr>
              <a:t>Intra-application Performance Interference</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F942B18F-E9F4-17FC-C054-7FE256D584B8}"/>
              </a:ext>
            </a:extLst>
          </p:cNvPr>
          <p:cNvSpPr>
            <a:spLocks noGrp="1"/>
          </p:cNvSpPr>
          <p:nvPr>
            <p:ph type="sldNum" sz="quarter" idx="12"/>
          </p:nvPr>
        </p:nvSpPr>
        <p:spPr/>
        <p:txBody>
          <a:bodyPr/>
          <a:lstStyle/>
          <a:p>
            <a:fld id="{330EA680-D336-4FF7-8B7A-9848BB0A1C32}" type="slidenum">
              <a:rPr lang="en-US" smtClean="0"/>
              <a:t>3</a:t>
            </a:fld>
            <a:endParaRPr lang="en-US"/>
          </a:p>
        </p:txBody>
      </p:sp>
      <p:grpSp>
        <p:nvGrpSpPr>
          <p:cNvPr id="59" name="Group 58">
            <a:extLst>
              <a:ext uri="{FF2B5EF4-FFF2-40B4-BE49-F238E27FC236}">
                <a16:creationId xmlns:a16="http://schemas.microsoft.com/office/drawing/2014/main" id="{A63FB76A-85E6-C1AD-F58A-3DA7EFAD8BD2}"/>
              </a:ext>
            </a:extLst>
          </p:cNvPr>
          <p:cNvGrpSpPr/>
          <p:nvPr/>
        </p:nvGrpSpPr>
        <p:grpSpPr>
          <a:xfrm>
            <a:off x="3865651" y="3062025"/>
            <a:ext cx="4053926" cy="3380921"/>
            <a:chOff x="3952434" y="3052107"/>
            <a:chExt cx="4053926" cy="3380921"/>
          </a:xfrm>
        </p:grpSpPr>
        <p:grpSp>
          <p:nvGrpSpPr>
            <p:cNvPr id="7" name="组合 99">
              <a:extLst>
                <a:ext uri="{FF2B5EF4-FFF2-40B4-BE49-F238E27FC236}">
                  <a16:creationId xmlns:a16="http://schemas.microsoft.com/office/drawing/2014/main" id="{F435F256-D2DA-6174-5A09-3B852AA3518E}"/>
                </a:ext>
              </a:extLst>
            </p:cNvPr>
            <p:cNvGrpSpPr/>
            <p:nvPr/>
          </p:nvGrpSpPr>
          <p:grpSpPr>
            <a:xfrm>
              <a:off x="5520167" y="5237175"/>
              <a:ext cx="1108728" cy="1147965"/>
              <a:chOff x="2392521" y="3470063"/>
              <a:chExt cx="1108728" cy="1147965"/>
            </a:xfrm>
          </p:grpSpPr>
          <p:grpSp>
            <p:nvGrpSpPr>
              <p:cNvPr id="101" name="组合 126">
                <a:extLst>
                  <a:ext uri="{FF2B5EF4-FFF2-40B4-BE49-F238E27FC236}">
                    <a16:creationId xmlns:a16="http://schemas.microsoft.com/office/drawing/2014/main" id="{97E80088-49E4-D54B-F574-12E3A7EE8EF7}"/>
                  </a:ext>
                </a:extLst>
              </p:cNvPr>
              <p:cNvGrpSpPr/>
              <p:nvPr/>
            </p:nvGrpSpPr>
            <p:grpSpPr>
              <a:xfrm>
                <a:off x="2392521" y="3470063"/>
                <a:ext cx="1108728" cy="942510"/>
                <a:chOff x="2359187" y="3053838"/>
                <a:chExt cx="1108728" cy="942510"/>
              </a:xfrm>
            </p:grpSpPr>
            <p:sp>
              <p:nvSpPr>
                <p:cNvPr id="103" name="矩形: 圆角 128">
                  <a:extLst>
                    <a:ext uri="{FF2B5EF4-FFF2-40B4-BE49-F238E27FC236}">
                      <a16:creationId xmlns:a16="http://schemas.microsoft.com/office/drawing/2014/main" id="{224F49BE-1074-B32F-BDDB-535591DCA7C7}"/>
                    </a:ext>
                  </a:extLst>
                </p:cNvPr>
                <p:cNvSpPr/>
                <p:nvPr/>
              </p:nvSpPr>
              <p:spPr>
                <a:xfrm>
                  <a:off x="3239315" y="3767748"/>
                  <a:ext cx="228600" cy="228600"/>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104" name="组合 129">
                  <a:extLst>
                    <a:ext uri="{FF2B5EF4-FFF2-40B4-BE49-F238E27FC236}">
                      <a16:creationId xmlns:a16="http://schemas.microsoft.com/office/drawing/2014/main" id="{540E2F5F-5399-E6F3-AA3D-EC57B06B3349}"/>
                    </a:ext>
                  </a:extLst>
                </p:cNvPr>
                <p:cNvGrpSpPr/>
                <p:nvPr/>
              </p:nvGrpSpPr>
              <p:grpSpPr>
                <a:xfrm>
                  <a:off x="2359187" y="3053838"/>
                  <a:ext cx="325656" cy="337355"/>
                  <a:chOff x="2359187" y="3053838"/>
                  <a:chExt cx="325656" cy="337355"/>
                </a:xfrm>
              </p:grpSpPr>
              <p:sp>
                <p:nvSpPr>
                  <p:cNvPr id="111" name="矩形: 圆角 136">
                    <a:extLst>
                      <a:ext uri="{FF2B5EF4-FFF2-40B4-BE49-F238E27FC236}">
                        <a16:creationId xmlns:a16="http://schemas.microsoft.com/office/drawing/2014/main" id="{B67DA442-DAE8-18B3-B181-8C3B5AB03212}"/>
                      </a:ext>
                    </a:extLst>
                  </p:cNvPr>
                  <p:cNvSpPr/>
                  <p:nvPr/>
                </p:nvSpPr>
                <p:spPr>
                  <a:xfrm>
                    <a:off x="2359187" y="3053838"/>
                    <a:ext cx="228600" cy="228600"/>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2" name="连接符: 肘形 137">
                    <a:extLst>
                      <a:ext uri="{FF2B5EF4-FFF2-40B4-BE49-F238E27FC236}">
                        <a16:creationId xmlns:a16="http://schemas.microsoft.com/office/drawing/2014/main" id="{6A7EE394-261C-F29C-9335-70320084D47B}"/>
                      </a:ext>
                    </a:extLst>
                  </p:cNvPr>
                  <p:cNvCxnSpPr>
                    <a:cxnSpLocks/>
                  </p:cNvCxnSpPr>
                  <p:nvPr/>
                </p:nvCxnSpPr>
                <p:spPr>
                  <a:xfrm rot="16200000" flipH="1">
                    <a:off x="2524788" y="3231138"/>
                    <a:ext cx="223055" cy="97055"/>
                  </a:xfrm>
                  <a:prstGeom prst="bentConnector3">
                    <a:avLst>
                      <a:gd name="adj1" fmla="val 3028"/>
                    </a:avLst>
                  </a:prstGeom>
                  <a:ln w="28575">
                    <a:tailEnd type="triangle"/>
                  </a:ln>
                </p:spPr>
                <p:style>
                  <a:lnRef idx="1">
                    <a:schemeClr val="dk1"/>
                  </a:lnRef>
                  <a:fillRef idx="0">
                    <a:schemeClr val="dk1"/>
                  </a:fillRef>
                  <a:effectRef idx="0">
                    <a:schemeClr val="dk1"/>
                  </a:effectRef>
                  <a:fontRef idx="minor">
                    <a:schemeClr val="tx1"/>
                  </a:fontRef>
                </p:style>
              </p:cxnSp>
            </p:grpSp>
            <p:grpSp>
              <p:nvGrpSpPr>
                <p:cNvPr id="105" name="组合 130">
                  <a:extLst>
                    <a:ext uri="{FF2B5EF4-FFF2-40B4-BE49-F238E27FC236}">
                      <a16:creationId xmlns:a16="http://schemas.microsoft.com/office/drawing/2014/main" id="{346E986F-1D4D-618C-8E4A-A76A172B4A48}"/>
                    </a:ext>
                  </a:extLst>
                </p:cNvPr>
                <p:cNvGrpSpPr/>
                <p:nvPr/>
              </p:nvGrpSpPr>
              <p:grpSpPr>
                <a:xfrm>
                  <a:off x="2569607" y="3408164"/>
                  <a:ext cx="784008" cy="337161"/>
                  <a:chOff x="2572130" y="3391194"/>
                  <a:chExt cx="784008" cy="337161"/>
                </a:xfrm>
              </p:grpSpPr>
              <p:grpSp>
                <p:nvGrpSpPr>
                  <p:cNvPr id="106" name="组合 131">
                    <a:extLst>
                      <a:ext uri="{FF2B5EF4-FFF2-40B4-BE49-F238E27FC236}">
                        <a16:creationId xmlns:a16="http://schemas.microsoft.com/office/drawing/2014/main" id="{0BA16951-35DE-CE67-C6EF-4157426804FC}"/>
                      </a:ext>
                    </a:extLst>
                  </p:cNvPr>
                  <p:cNvGrpSpPr/>
                  <p:nvPr/>
                </p:nvGrpSpPr>
                <p:grpSpPr>
                  <a:xfrm>
                    <a:off x="2572130" y="3391194"/>
                    <a:ext cx="685800" cy="234950"/>
                    <a:chOff x="2751513" y="3434833"/>
                    <a:chExt cx="685800" cy="234950"/>
                  </a:xfrm>
                </p:grpSpPr>
                <p:sp>
                  <p:nvSpPr>
                    <p:cNvPr id="108" name="矩形: 圆角 133">
                      <a:extLst>
                        <a:ext uri="{FF2B5EF4-FFF2-40B4-BE49-F238E27FC236}">
                          <a16:creationId xmlns:a16="http://schemas.microsoft.com/office/drawing/2014/main" id="{F9CBBEE6-061D-D043-20FE-88E9A68539B5}"/>
                        </a:ext>
                      </a:extLst>
                    </p:cNvPr>
                    <p:cNvSpPr/>
                    <p:nvPr/>
                  </p:nvSpPr>
                  <p:spPr>
                    <a:xfrm>
                      <a:off x="2751513" y="3441183"/>
                      <a:ext cx="685800" cy="228600"/>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09" name="直接连接符 134">
                      <a:extLst>
                        <a:ext uri="{FF2B5EF4-FFF2-40B4-BE49-F238E27FC236}">
                          <a16:creationId xmlns:a16="http://schemas.microsoft.com/office/drawing/2014/main" id="{FE7C9F79-C6E1-0464-3F09-F7E26451751B}"/>
                        </a:ext>
                      </a:extLst>
                    </p:cNvPr>
                    <p:cNvCxnSpPr>
                      <a:cxnSpLocks/>
                    </p:cNvCxnSpPr>
                    <p:nvPr/>
                  </p:nvCxnSpPr>
                  <p:spPr>
                    <a:xfrm>
                      <a:off x="2976938" y="3434833"/>
                      <a:ext cx="0" cy="228600"/>
                    </a:xfrm>
                    <a:prstGeom prst="line">
                      <a:avLst/>
                    </a:prstGeom>
                    <a:ln w="28575"/>
                  </p:spPr>
                  <p:style>
                    <a:lnRef idx="1">
                      <a:schemeClr val="dk1"/>
                    </a:lnRef>
                    <a:fillRef idx="0">
                      <a:schemeClr val="dk1"/>
                    </a:fillRef>
                    <a:effectRef idx="0">
                      <a:schemeClr val="dk1"/>
                    </a:effectRef>
                    <a:fontRef idx="minor">
                      <a:schemeClr val="tx1"/>
                    </a:fontRef>
                  </p:style>
                </p:cxnSp>
                <p:cxnSp>
                  <p:nvCxnSpPr>
                    <p:cNvPr id="110" name="直接连接符 135">
                      <a:extLst>
                        <a:ext uri="{FF2B5EF4-FFF2-40B4-BE49-F238E27FC236}">
                          <a16:creationId xmlns:a16="http://schemas.microsoft.com/office/drawing/2014/main" id="{E0A66B63-37FA-EA01-FA00-8319E87B9B89}"/>
                        </a:ext>
                      </a:extLst>
                    </p:cNvPr>
                    <p:cNvCxnSpPr>
                      <a:cxnSpLocks/>
                    </p:cNvCxnSpPr>
                    <p:nvPr/>
                  </p:nvCxnSpPr>
                  <p:spPr>
                    <a:xfrm>
                      <a:off x="3205538" y="3441183"/>
                      <a:ext cx="0" cy="228600"/>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107" name="连接符: 肘形 132">
                    <a:extLst>
                      <a:ext uri="{FF2B5EF4-FFF2-40B4-BE49-F238E27FC236}">
                        <a16:creationId xmlns:a16="http://schemas.microsoft.com/office/drawing/2014/main" id="{0D6835A5-4445-1E8F-5773-EC3E966E92B3}"/>
                      </a:ext>
                    </a:extLst>
                  </p:cNvPr>
                  <p:cNvCxnSpPr>
                    <a:cxnSpLocks/>
                  </p:cNvCxnSpPr>
                  <p:nvPr/>
                </p:nvCxnSpPr>
                <p:spPr>
                  <a:xfrm rot="16200000" flipH="1">
                    <a:off x="3196083" y="3568300"/>
                    <a:ext cx="223055" cy="97055"/>
                  </a:xfrm>
                  <a:prstGeom prst="bentConnector3">
                    <a:avLst>
                      <a:gd name="adj1" fmla="val 3028"/>
                    </a:avLst>
                  </a:prstGeom>
                  <a:ln w="28575">
                    <a:tailEnd type="triangle"/>
                  </a:ln>
                </p:spPr>
                <p:style>
                  <a:lnRef idx="1">
                    <a:schemeClr val="dk1"/>
                  </a:lnRef>
                  <a:fillRef idx="0">
                    <a:schemeClr val="dk1"/>
                  </a:fillRef>
                  <a:effectRef idx="0">
                    <a:schemeClr val="dk1"/>
                  </a:effectRef>
                  <a:fontRef idx="minor">
                    <a:schemeClr val="tx1"/>
                  </a:fontRef>
                </p:style>
              </p:cxnSp>
            </p:grpSp>
          </p:grpSp>
          <p:sp>
            <p:nvSpPr>
              <p:cNvPr id="102" name="文本框 127">
                <a:extLst>
                  <a:ext uri="{FF2B5EF4-FFF2-40B4-BE49-F238E27FC236}">
                    <a16:creationId xmlns:a16="http://schemas.microsoft.com/office/drawing/2014/main" id="{97B5061C-2DBD-684D-7FE0-BE6ADDD09CF5}"/>
                  </a:ext>
                </a:extLst>
              </p:cNvPr>
              <p:cNvSpPr txBox="1"/>
              <p:nvPr/>
            </p:nvSpPr>
            <p:spPr>
              <a:xfrm>
                <a:off x="2432174" y="4248696"/>
                <a:ext cx="1059179" cy="369332"/>
              </a:xfrm>
              <a:prstGeom prst="rect">
                <a:avLst/>
              </a:prstGeom>
              <a:noFill/>
            </p:spPr>
            <p:txBody>
              <a:bodyPr wrap="square" rtlCol="0">
                <a:spAutoFit/>
              </a:bodyPr>
              <a:lstStyle/>
              <a:p>
                <a:r>
                  <a:rPr lang="en-US" altLang="zh-CN" b="1">
                    <a:solidFill>
                      <a:srgbClr val="C00000"/>
                    </a:solidFill>
                    <a:latin typeface="helvetica" panose="020B0604020202020204" pitchFamily="34" charset="0"/>
                    <a:cs typeface="helvetica" panose="020B0604020202020204" pitchFamily="34" charset="0"/>
                  </a:rPr>
                  <a:t>queue</a:t>
                </a:r>
                <a:endParaRPr lang="zh-CN" altLang="en-US" b="1">
                  <a:solidFill>
                    <a:srgbClr val="C00000"/>
                  </a:solidFill>
                  <a:latin typeface="helvetica" panose="020B0604020202020204" pitchFamily="34" charset="0"/>
                  <a:cs typeface="helvetica" panose="020B0604020202020204" pitchFamily="34" charset="0"/>
                </a:endParaRPr>
              </a:p>
            </p:txBody>
          </p:sp>
        </p:grpSp>
        <p:grpSp>
          <p:nvGrpSpPr>
            <p:cNvPr id="8" name="组合 100">
              <a:extLst>
                <a:ext uri="{FF2B5EF4-FFF2-40B4-BE49-F238E27FC236}">
                  <a16:creationId xmlns:a16="http://schemas.microsoft.com/office/drawing/2014/main" id="{8BD224EE-43B1-7FA8-0781-E6F5DE69765A}"/>
                </a:ext>
              </a:extLst>
            </p:cNvPr>
            <p:cNvGrpSpPr/>
            <p:nvPr/>
          </p:nvGrpSpPr>
          <p:grpSpPr>
            <a:xfrm>
              <a:off x="3952434" y="5263051"/>
              <a:ext cx="1059179" cy="1169977"/>
              <a:chOff x="868191" y="3777524"/>
              <a:chExt cx="1059179" cy="1169977"/>
            </a:xfrm>
          </p:grpSpPr>
          <p:pic>
            <p:nvPicPr>
              <p:cNvPr id="99" name="图形 124">
                <a:extLst>
                  <a:ext uri="{FF2B5EF4-FFF2-40B4-BE49-F238E27FC236}">
                    <a16:creationId xmlns:a16="http://schemas.microsoft.com/office/drawing/2014/main" id="{502346E1-38B4-8C9F-CBB9-8297A0FF89F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3145" y="3777524"/>
                <a:ext cx="787249" cy="787249"/>
              </a:xfrm>
              <a:prstGeom prst="rect">
                <a:avLst/>
              </a:prstGeom>
            </p:spPr>
          </p:pic>
          <p:sp>
            <p:nvSpPr>
              <p:cNvPr id="100" name="文本框 125">
                <a:extLst>
                  <a:ext uri="{FF2B5EF4-FFF2-40B4-BE49-F238E27FC236}">
                    <a16:creationId xmlns:a16="http://schemas.microsoft.com/office/drawing/2014/main" id="{D0FD68F1-8C79-08DD-C463-42DA7459550C}"/>
                  </a:ext>
                </a:extLst>
              </p:cNvPr>
              <p:cNvSpPr txBox="1"/>
              <p:nvPr/>
            </p:nvSpPr>
            <p:spPr>
              <a:xfrm>
                <a:off x="868191" y="4578169"/>
                <a:ext cx="1059179"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buffer</a:t>
                </a:r>
                <a:endParaRPr lang="zh-CN" altLang="en-US" b="1">
                  <a:latin typeface="helvetica" panose="020B0604020202020204" pitchFamily="34" charset="0"/>
                  <a:cs typeface="helvetica" panose="020B0604020202020204" pitchFamily="34" charset="0"/>
                </a:endParaRPr>
              </a:p>
            </p:txBody>
          </p:sp>
        </p:grpSp>
        <p:grpSp>
          <p:nvGrpSpPr>
            <p:cNvPr id="9" name="组合 101">
              <a:extLst>
                <a:ext uri="{FF2B5EF4-FFF2-40B4-BE49-F238E27FC236}">
                  <a16:creationId xmlns:a16="http://schemas.microsoft.com/office/drawing/2014/main" id="{41911BE2-35E5-B783-EAA2-E71BC88626C0}"/>
                </a:ext>
              </a:extLst>
            </p:cNvPr>
            <p:cNvGrpSpPr/>
            <p:nvPr/>
          </p:nvGrpSpPr>
          <p:grpSpPr>
            <a:xfrm>
              <a:off x="6947181" y="5226868"/>
              <a:ext cx="1059179" cy="1148513"/>
              <a:chOff x="3685768" y="3821254"/>
              <a:chExt cx="1059179" cy="1148513"/>
            </a:xfrm>
          </p:grpSpPr>
          <p:pic>
            <p:nvPicPr>
              <p:cNvPr id="97" name="图形 122">
                <a:extLst>
                  <a:ext uri="{FF2B5EF4-FFF2-40B4-BE49-F238E27FC236}">
                    <a16:creationId xmlns:a16="http://schemas.microsoft.com/office/drawing/2014/main" id="{1481520F-984E-1131-41A8-9EF423E4FE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13515" y="3821254"/>
                <a:ext cx="746652" cy="746652"/>
              </a:xfrm>
              <a:prstGeom prst="rect">
                <a:avLst/>
              </a:prstGeom>
            </p:spPr>
          </p:pic>
          <p:sp>
            <p:nvSpPr>
              <p:cNvPr id="98" name="文本框 123">
                <a:extLst>
                  <a:ext uri="{FF2B5EF4-FFF2-40B4-BE49-F238E27FC236}">
                    <a16:creationId xmlns:a16="http://schemas.microsoft.com/office/drawing/2014/main" id="{762B1C35-3894-8806-F5B4-4A7B077E4A9C}"/>
                  </a:ext>
                </a:extLst>
              </p:cNvPr>
              <p:cNvSpPr txBox="1"/>
              <p:nvPr/>
            </p:nvSpPr>
            <p:spPr>
              <a:xfrm>
                <a:off x="3685768" y="4600435"/>
                <a:ext cx="1059179"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Index</a:t>
                </a:r>
                <a:endParaRPr lang="zh-CN" altLang="en-US" b="1">
                  <a:latin typeface="helvetica" panose="020B0604020202020204" pitchFamily="34" charset="0"/>
                  <a:cs typeface="helvetica" panose="020B0604020202020204" pitchFamily="34" charset="0"/>
                </a:endParaRPr>
              </a:p>
            </p:txBody>
          </p:sp>
        </p:grpSp>
        <p:sp>
          <p:nvSpPr>
            <p:cNvPr id="10" name="文本框 102">
              <a:extLst>
                <a:ext uri="{FF2B5EF4-FFF2-40B4-BE49-F238E27FC236}">
                  <a16:creationId xmlns:a16="http://schemas.microsoft.com/office/drawing/2014/main" id="{060FC1D2-02F1-4AAA-2FC5-59453AA03E7B}"/>
                </a:ext>
              </a:extLst>
            </p:cNvPr>
            <p:cNvSpPr txBox="1"/>
            <p:nvPr/>
          </p:nvSpPr>
          <p:spPr>
            <a:xfrm>
              <a:off x="6556030" y="3891101"/>
              <a:ext cx="1341178" cy="369332"/>
            </a:xfrm>
            <a:prstGeom prst="rect">
              <a:avLst/>
            </a:prstGeom>
            <a:noFill/>
          </p:spPr>
          <p:txBody>
            <a:bodyPr wrap="square" rtlCol="0">
              <a:spAutoFit/>
            </a:bodyPr>
            <a:lstStyle/>
            <a:p>
              <a:r>
                <a:rPr lang="en-US" altLang="zh-CN">
                  <a:solidFill>
                    <a:schemeClr val="tx2"/>
                  </a:solidFill>
                  <a:latin typeface="helvetica" panose="020B0604020202020204" pitchFamily="34" charset="0"/>
                  <a:cs typeface="helvetica" panose="020B0604020202020204" pitchFamily="34" charset="0"/>
                </a:rPr>
                <a:t>Application</a:t>
              </a:r>
              <a:endParaRPr lang="zh-CN" altLang="en-US">
                <a:solidFill>
                  <a:schemeClr val="tx2"/>
                </a:solidFill>
                <a:latin typeface="helvetica" panose="020B0604020202020204" pitchFamily="34" charset="0"/>
                <a:cs typeface="helvetica" panose="020B0604020202020204" pitchFamily="34" charset="0"/>
              </a:endParaRPr>
            </a:p>
          </p:txBody>
        </p:sp>
        <p:sp>
          <p:nvSpPr>
            <p:cNvPr id="11" name="任意多边形: 形状 103">
              <a:extLst>
                <a:ext uri="{FF2B5EF4-FFF2-40B4-BE49-F238E27FC236}">
                  <a16:creationId xmlns:a16="http://schemas.microsoft.com/office/drawing/2014/main" id="{0370FB39-7FD7-A223-ECDC-C3E19FFF57EF}"/>
                </a:ext>
              </a:extLst>
            </p:cNvPr>
            <p:cNvSpPr/>
            <p:nvPr/>
          </p:nvSpPr>
          <p:spPr>
            <a:xfrm rot="16200000">
              <a:off x="4977112" y="4197448"/>
              <a:ext cx="731520" cy="11882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solidFill>
              <a:srgbClr val="C00000"/>
            </a:solid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4" name="任意多边形: 形状 104">
              <a:extLst>
                <a:ext uri="{FF2B5EF4-FFF2-40B4-BE49-F238E27FC236}">
                  <a16:creationId xmlns:a16="http://schemas.microsoft.com/office/drawing/2014/main" id="{A31D0B02-065B-D270-2AB8-1E197AC07459}"/>
                </a:ext>
              </a:extLst>
            </p:cNvPr>
            <p:cNvSpPr/>
            <p:nvPr/>
          </p:nvSpPr>
          <p:spPr>
            <a:xfrm rot="16200000">
              <a:off x="5801450" y="4091921"/>
              <a:ext cx="640080" cy="11882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106">
              <a:extLst>
                <a:ext uri="{FF2B5EF4-FFF2-40B4-BE49-F238E27FC236}">
                  <a16:creationId xmlns:a16="http://schemas.microsoft.com/office/drawing/2014/main" id="{884EA7DF-296C-66EE-D2E7-61ED4FF0E03E}"/>
                </a:ext>
              </a:extLst>
            </p:cNvPr>
            <p:cNvCxnSpPr>
              <a:cxnSpLocks/>
              <a:stCxn id="11" idx="1"/>
            </p:cNvCxnSpPr>
            <p:nvPr/>
          </p:nvCxnSpPr>
          <p:spPr>
            <a:xfrm flipH="1">
              <a:off x="4370182" y="4616445"/>
              <a:ext cx="968338" cy="62073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8" name="直接箭头连接符 107">
              <a:extLst>
                <a:ext uri="{FF2B5EF4-FFF2-40B4-BE49-F238E27FC236}">
                  <a16:creationId xmlns:a16="http://schemas.microsoft.com/office/drawing/2014/main" id="{04487C19-51E2-196A-9B94-659733F2AFFE}"/>
                </a:ext>
              </a:extLst>
            </p:cNvPr>
            <p:cNvCxnSpPr>
              <a:cxnSpLocks/>
              <a:stCxn id="11" idx="1"/>
            </p:cNvCxnSpPr>
            <p:nvPr/>
          </p:nvCxnSpPr>
          <p:spPr>
            <a:xfrm>
              <a:off x="5338520" y="4616445"/>
              <a:ext cx="1901045" cy="51851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直接箭头连接符 108">
              <a:extLst>
                <a:ext uri="{FF2B5EF4-FFF2-40B4-BE49-F238E27FC236}">
                  <a16:creationId xmlns:a16="http://schemas.microsoft.com/office/drawing/2014/main" id="{4C19CE70-9434-CAFB-D84A-682EE40CEC4F}"/>
                </a:ext>
              </a:extLst>
            </p:cNvPr>
            <p:cNvCxnSpPr>
              <a:cxnSpLocks/>
              <a:stCxn id="24" idx="1"/>
            </p:cNvCxnSpPr>
            <p:nvPr/>
          </p:nvCxnSpPr>
          <p:spPr>
            <a:xfrm flipH="1">
              <a:off x="5976198" y="4465970"/>
              <a:ext cx="140940" cy="69614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3" name="直接箭头连接符 110">
              <a:extLst>
                <a:ext uri="{FF2B5EF4-FFF2-40B4-BE49-F238E27FC236}">
                  <a16:creationId xmlns:a16="http://schemas.microsoft.com/office/drawing/2014/main" id="{8C5540E6-C5DF-5FD9-C141-2E7431CFED87}"/>
                </a:ext>
              </a:extLst>
            </p:cNvPr>
            <p:cNvCxnSpPr>
              <a:cxnSpLocks/>
              <a:stCxn id="11" idx="0"/>
            </p:cNvCxnSpPr>
            <p:nvPr/>
          </p:nvCxnSpPr>
          <p:spPr>
            <a:xfrm>
              <a:off x="5342334" y="4618095"/>
              <a:ext cx="523866" cy="53935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6" name="文本框 113">
              <a:extLst>
                <a:ext uri="{FF2B5EF4-FFF2-40B4-BE49-F238E27FC236}">
                  <a16:creationId xmlns:a16="http://schemas.microsoft.com/office/drawing/2014/main" id="{E3FC8B3E-E217-C28B-AC6A-778BE9ADFD0C}"/>
                </a:ext>
              </a:extLst>
            </p:cNvPr>
            <p:cNvSpPr txBox="1"/>
            <p:nvPr/>
          </p:nvSpPr>
          <p:spPr>
            <a:xfrm>
              <a:off x="4299453" y="3052107"/>
              <a:ext cx="1039067" cy="307777"/>
            </a:xfrm>
            <a:prstGeom prst="rect">
              <a:avLst/>
            </a:prstGeom>
            <a:noFill/>
          </p:spPr>
          <p:txBody>
            <a:bodyPr wrap="none" rtlCol="0">
              <a:spAutoFit/>
            </a:bodyPr>
            <a:lstStyle/>
            <a:p>
              <a:r>
                <a:rPr lang="en-US" altLang="zh-CN" sz="1400" b="1">
                  <a:latin typeface="helvetica" panose="020B0604020202020204" pitchFamily="34" charset="0"/>
                  <a:cs typeface="helvetica" panose="020B0604020202020204" pitchFamily="34" charset="0"/>
                </a:rPr>
                <a:t>Request 1</a:t>
              </a:r>
              <a:endParaRPr lang="zh-CN" altLang="en-US" sz="1400" b="1">
                <a:latin typeface="helvetica" panose="020B0604020202020204" pitchFamily="34" charset="0"/>
                <a:cs typeface="helvetica" panose="020B0604020202020204" pitchFamily="34" charset="0"/>
              </a:endParaRPr>
            </a:p>
          </p:txBody>
        </p:sp>
        <p:grpSp>
          <p:nvGrpSpPr>
            <p:cNvPr id="90" name="组合 115">
              <a:extLst>
                <a:ext uri="{FF2B5EF4-FFF2-40B4-BE49-F238E27FC236}">
                  <a16:creationId xmlns:a16="http://schemas.microsoft.com/office/drawing/2014/main" id="{F1134162-5C4B-F7DE-5EAE-9E398692E4A8}"/>
                </a:ext>
              </a:extLst>
            </p:cNvPr>
            <p:cNvGrpSpPr/>
            <p:nvPr/>
          </p:nvGrpSpPr>
          <p:grpSpPr>
            <a:xfrm>
              <a:off x="4913788" y="3355149"/>
              <a:ext cx="429091" cy="535952"/>
              <a:chOff x="1352877" y="1901266"/>
              <a:chExt cx="429091" cy="535952"/>
            </a:xfrm>
          </p:grpSpPr>
          <p:cxnSp>
            <p:nvCxnSpPr>
              <p:cNvPr id="95" name="直接箭头连接符 120">
                <a:extLst>
                  <a:ext uri="{FF2B5EF4-FFF2-40B4-BE49-F238E27FC236}">
                    <a16:creationId xmlns:a16="http://schemas.microsoft.com/office/drawing/2014/main" id="{4E2E5390-B973-AB90-0482-4FFB3AB9D01E}"/>
                  </a:ext>
                </a:extLst>
              </p:cNvPr>
              <p:cNvCxnSpPr>
                <a:cxnSpLocks/>
                <a:endCxn id="11" idx="14"/>
              </p:cNvCxnSpPr>
              <p:nvPr/>
            </p:nvCxnSpPr>
            <p:spPr>
              <a:xfrm>
                <a:off x="1412283" y="1984457"/>
                <a:ext cx="369685" cy="45276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6" name="椭圆 121">
                <a:extLst>
                  <a:ext uri="{FF2B5EF4-FFF2-40B4-BE49-F238E27FC236}">
                    <a16:creationId xmlns:a16="http://schemas.microsoft.com/office/drawing/2014/main" id="{290F07F2-6485-FD11-035D-4ED28EE92D2E}"/>
                  </a:ext>
                </a:extLst>
              </p:cNvPr>
              <p:cNvSpPr/>
              <p:nvPr/>
            </p:nvSpPr>
            <p:spPr>
              <a:xfrm>
                <a:off x="1352877" y="1901266"/>
                <a:ext cx="91440" cy="91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1" name="文本框 116">
              <a:extLst>
                <a:ext uri="{FF2B5EF4-FFF2-40B4-BE49-F238E27FC236}">
                  <a16:creationId xmlns:a16="http://schemas.microsoft.com/office/drawing/2014/main" id="{082486BB-E95F-EAE6-5F11-0D8CD2B76B6B}"/>
                </a:ext>
              </a:extLst>
            </p:cNvPr>
            <p:cNvSpPr txBox="1"/>
            <p:nvPr/>
          </p:nvSpPr>
          <p:spPr>
            <a:xfrm>
              <a:off x="5441846" y="3063323"/>
              <a:ext cx="1039067" cy="307777"/>
            </a:xfrm>
            <a:prstGeom prst="rect">
              <a:avLst/>
            </a:prstGeom>
            <a:noFill/>
          </p:spPr>
          <p:txBody>
            <a:bodyPr wrap="none" rtlCol="0">
              <a:spAutoFit/>
            </a:bodyPr>
            <a:lstStyle/>
            <a:p>
              <a:r>
                <a:rPr lang="en-US" altLang="zh-CN" sz="1400" b="1">
                  <a:latin typeface="helvetica" panose="020B0604020202020204" pitchFamily="34" charset="0"/>
                  <a:cs typeface="helvetica" panose="020B0604020202020204" pitchFamily="34" charset="0"/>
                </a:rPr>
                <a:t>Request 2</a:t>
              </a:r>
              <a:endParaRPr lang="zh-CN" altLang="en-US" sz="1400" b="1">
                <a:latin typeface="helvetica" panose="020B0604020202020204" pitchFamily="34" charset="0"/>
                <a:cs typeface="helvetica" panose="020B0604020202020204" pitchFamily="34" charset="0"/>
              </a:endParaRPr>
            </a:p>
          </p:txBody>
        </p:sp>
        <p:grpSp>
          <p:nvGrpSpPr>
            <p:cNvPr id="92" name="组合 117">
              <a:extLst>
                <a:ext uri="{FF2B5EF4-FFF2-40B4-BE49-F238E27FC236}">
                  <a16:creationId xmlns:a16="http://schemas.microsoft.com/office/drawing/2014/main" id="{7954F0A8-9815-4C13-9185-C99314332346}"/>
                </a:ext>
              </a:extLst>
            </p:cNvPr>
            <p:cNvGrpSpPr/>
            <p:nvPr/>
          </p:nvGrpSpPr>
          <p:grpSpPr>
            <a:xfrm>
              <a:off x="5874639" y="3313627"/>
              <a:ext cx="249817" cy="459284"/>
              <a:chOff x="1171727" y="1859342"/>
              <a:chExt cx="249817" cy="459284"/>
            </a:xfrm>
          </p:grpSpPr>
          <p:cxnSp>
            <p:nvCxnSpPr>
              <p:cNvPr id="93" name="直接箭头连接符 118">
                <a:extLst>
                  <a:ext uri="{FF2B5EF4-FFF2-40B4-BE49-F238E27FC236}">
                    <a16:creationId xmlns:a16="http://schemas.microsoft.com/office/drawing/2014/main" id="{B21F2C0E-DF25-D0D1-7CD0-AB92766D78B8}"/>
                  </a:ext>
                </a:extLst>
              </p:cNvPr>
              <p:cNvCxnSpPr>
                <a:cxnSpLocks/>
              </p:cNvCxnSpPr>
              <p:nvPr/>
            </p:nvCxnSpPr>
            <p:spPr>
              <a:xfrm>
                <a:off x="1236050" y="1959033"/>
                <a:ext cx="185494" cy="35959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4" name="椭圆 119">
                <a:extLst>
                  <a:ext uri="{FF2B5EF4-FFF2-40B4-BE49-F238E27FC236}">
                    <a16:creationId xmlns:a16="http://schemas.microsoft.com/office/drawing/2014/main" id="{2F3AC58B-FA9F-46E7-D248-EB0EFC1AD8C5}"/>
                  </a:ext>
                </a:extLst>
              </p:cNvPr>
              <p:cNvSpPr/>
              <p:nvPr/>
            </p:nvSpPr>
            <p:spPr>
              <a:xfrm>
                <a:off x="1171727" y="1859342"/>
                <a:ext cx="91440" cy="91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0" name="矩形: 圆角 3">
            <a:extLst>
              <a:ext uri="{FF2B5EF4-FFF2-40B4-BE49-F238E27FC236}">
                <a16:creationId xmlns:a16="http://schemas.microsoft.com/office/drawing/2014/main" id="{40279C89-02AA-0620-AC15-F3C16CA2F133}"/>
              </a:ext>
            </a:extLst>
          </p:cNvPr>
          <p:cNvSpPr/>
          <p:nvPr/>
        </p:nvSpPr>
        <p:spPr>
          <a:xfrm>
            <a:off x="3581401" y="3791080"/>
            <a:ext cx="4436532" cy="2839198"/>
          </a:xfrm>
          <a:prstGeom prst="roundRect">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61" name="Group 60">
            <a:extLst>
              <a:ext uri="{FF2B5EF4-FFF2-40B4-BE49-F238E27FC236}">
                <a16:creationId xmlns:a16="http://schemas.microsoft.com/office/drawing/2014/main" id="{B76E3D9C-D32C-39AD-3F54-03890D666AD7}"/>
              </a:ext>
            </a:extLst>
          </p:cNvPr>
          <p:cNvGrpSpPr>
            <a:grpSpLocks noChangeAspect="1"/>
          </p:cNvGrpSpPr>
          <p:nvPr/>
        </p:nvGrpSpPr>
        <p:grpSpPr>
          <a:xfrm>
            <a:off x="4292882" y="3620282"/>
            <a:ext cx="819601" cy="716160"/>
            <a:chOff x="2990107" y="5294351"/>
            <a:chExt cx="1492905" cy="1266825"/>
          </a:xfrm>
        </p:grpSpPr>
        <p:sp>
          <p:nvSpPr>
            <p:cNvPr id="64" name="Octagon 63">
              <a:extLst>
                <a:ext uri="{FF2B5EF4-FFF2-40B4-BE49-F238E27FC236}">
                  <a16:creationId xmlns:a16="http://schemas.microsoft.com/office/drawing/2014/main" id="{B8F5144E-1A60-95AC-09AE-37B511100914}"/>
                </a:ext>
              </a:extLst>
            </p:cNvPr>
            <p:cNvSpPr>
              <a:spLocks noChangeAspect="1"/>
            </p:cNvSpPr>
            <p:nvPr/>
          </p:nvSpPr>
          <p:spPr>
            <a:xfrm>
              <a:off x="3016965" y="5294351"/>
              <a:ext cx="1266826" cy="1266825"/>
            </a:xfrm>
            <a:prstGeom prst="oct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28640942-DCC9-14C1-2F12-928C0B918833}"/>
                </a:ext>
              </a:extLst>
            </p:cNvPr>
            <p:cNvSpPr txBox="1"/>
            <p:nvPr/>
          </p:nvSpPr>
          <p:spPr>
            <a:xfrm>
              <a:off x="2990107" y="5666151"/>
              <a:ext cx="1492905" cy="653316"/>
            </a:xfrm>
            <a:prstGeom prst="rect">
              <a:avLst/>
            </a:prstGeom>
            <a:noFill/>
            <a:ln>
              <a:noFill/>
            </a:ln>
          </p:spPr>
          <p:txBody>
            <a:bodyPr wrap="square" rtlCol="0">
              <a:spAutoFit/>
            </a:bodyPr>
            <a:lstStyle/>
            <a:p>
              <a:r>
                <a:rPr lang="en-US" b="1">
                  <a:solidFill>
                    <a:schemeClr val="bg1"/>
                  </a:solidFill>
                </a:rPr>
                <a:t>SLOW</a:t>
              </a:r>
            </a:p>
          </p:txBody>
        </p:sp>
      </p:grpSp>
    </p:spTree>
    <p:extLst>
      <p:ext uri="{BB962C8B-B14F-4D97-AF65-F5344CB8AC3E}">
        <p14:creationId xmlns:p14="http://schemas.microsoft.com/office/powerpoint/2010/main" val="2653284761"/>
      </p:ext>
    </p:extLst>
  </p:cSld>
  <p:clrMapOvr>
    <a:masterClrMapping/>
  </p:clrMapOvr>
  <mc:AlternateContent xmlns:mc="http://schemas.openxmlformats.org/markup-compatibility/2006" xmlns:p14="http://schemas.microsoft.com/office/powerpoint/2010/main">
    <mc:Choice Requires="p14">
      <p:transition spd="slow" p14:dur="2000" advTm="33295"/>
    </mc:Choice>
    <mc:Fallback xmlns="">
      <p:transition spd="slow" advTm="3329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图表 21">
            <a:extLst>
              <a:ext uri="{FF2B5EF4-FFF2-40B4-BE49-F238E27FC236}">
                <a16:creationId xmlns:a16="http://schemas.microsoft.com/office/drawing/2014/main" id="{D0285D63-5DE4-BEC7-0FB6-EA8F34E95490}"/>
              </a:ext>
            </a:extLst>
          </p:cNvPr>
          <p:cNvGraphicFramePr>
            <a:graphicFrameLocks/>
          </p:cNvGraphicFramePr>
          <p:nvPr>
            <p:extLst>
              <p:ext uri="{D42A27DB-BD31-4B8C-83A1-F6EECF244321}">
                <p14:modId xmlns:p14="http://schemas.microsoft.com/office/powerpoint/2010/main" val="344320417"/>
              </p:ext>
            </p:extLst>
          </p:nvPr>
        </p:nvGraphicFramePr>
        <p:xfrm>
          <a:off x="423049" y="3506286"/>
          <a:ext cx="11438467" cy="3340700"/>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5947"/>
            <a:ext cx="12192000" cy="1188720"/>
          </a:xfrm>
        </p:spPr>
        <p:txBody>
          <a:bodyPr>
            <a:normAutofit/>
          </a:bodyPr>
          <a:lstStyle/>
          <a:p>
            <a:pPr algn="ctr"/>
            <a:r>
              <a:rPr lang="en-US" b="1" dirty="0">
                <a:latin typeface="helvetica" panose="020B0604020202020204" pitchFamily="34" charset="0"/>
                <a:cs typeface="helvetica" panose="020B0604020202020204" pitchFamily="34" charset="0"/>
              </a:rPr>
              <a:t>Intra-app Interference </a:t>
            </a:r>
            <a:r>
              <a:rPr lang="en-US" altLang="zh-CN" b="1" dirty="0">
                <a:latin typeface="helvetica" panose="020B0604020202020204" pitchFamily="34" charset="0"/>
                <a:cs typeface="helvetica" panose="020B0604020202020204" pitchFamily="34" charset="0"/>
              </a:rPr>
              <a:t>Example</a:t>
            </a:r>
            <a:endParaRPr lang="en-US" b="1" dirty="0">
              <a:latin typeface="helvetica" panose="020B0604020202020204" pitchFamily="34" charset="0"/>
              <a:cs typeface="helvetica" panose="020B0604020202020204" pitchFamily="34" charset="0"/>
            </a:endParaRPr>
          </a:p>
        </p:txBody>
      </p:sp>
      <p:sp>
        <p:nvSpPr>
          <p:cNvPr id="4" name="灯片编号占位符 3">
            <a:extLst>
              <a:ext uri="{FF2B5EF4-FFF2-40B4-BE49-F238E27FC236}">
                <a16:creationId xmlns:a16="http://schemas.microsoft.com/office/drawing/2014/main" id="{C26413A1-0B11-AADB-6CE2-0DEFC4DF02D0}"/>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17" name="矩形: 圆角 3">
            <a:extLst>
              <a:ext uri="{FF2B5EF4-FFF2-40B4-BE49-F238E27FC236}">
                <a16:creationId xmlns:a16="http://schemas.microsoft.com/office/drawing/2014/main" id="{27BD7C8A-AC4D-210C-DBC3-7586F6FF8D9F}"/>
              </a:ext>
            </a:extLst>
          </p:cNvPr>
          <p:cNvSpPr/>
          <p:nvPr/>
        </p:nvSpPr>
        <p:spPr>
          <a:xfrm>
            <a:off x="7923936" y="1210888"/>
            <a:ext cx="1312901" cy="596570"/>
          </a:xfrm>
          <a:prstGeom prst="roundRect">
            <a:avLst/>
          </a:prstGeom>
          <a:noFill/>
          <a:ln w="28575">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Purge thread</a:t>
            </a:r>
            <a:endParaRPr lang="zh-CN" altLang="en-US"/>
          </a:p>
        </p:txBody>
      </p:sp>
      <p:grpSp>
        <p:nvGrpSpPr>
          <p:cNvPr id="33" name="Group 32">
            <a:extLst>
              <a:ext uri="{FF2B5EF4-FFF2-40B4-BE49-F238E27FC236}">
                <a16:creationId xmlns:a16="http://schemas.microsoft.com/office/drawing/2014/main" id="{14773B41-4C8A-2842-2D2A-62BC987DB6E2}"/>
              </a:ext>
            </a:extLst>
          </p:cNvPr>
          <p:cNvGrpSpPr/>
          <p:nvPr/>
        </p:nvGrpSpPr>
        <p:grpSpPr>
          <a:xfrm>
            <a:off x="2554170" y="3632338"/>
            <a:ext cx="2828472" cy="2724012"/>
            <a:chOff x="3693147" y="1841137"/>
            <a:chExt cx="2828472" cy="2724012"/>
          </a:xfrm>
        </p:grpSpPr>
        <p:cxnSp>
          <p:nvCxnSpPr>
            <p:cNvPr id="11" name="Straight Connector 45">
              <a:extLst>
                <a:ext uri="{FF2B5EF4-FFF2-40B4-BE49-F238E27FC236}">
                  <a16:creationId xmlns:a16="http://schemas.microsoft.com/office/drawing/2014/main" id="{61F42D17-7885-77F8-9C02-06EC645EB70D}"/>
                </a:ext>
              </a:extLst>
            </p:cNvPr>
            <p:cNvCxnSpPr>
              <a:cxnSpLocks/>
            </p:cNvCxnSpPr>
            <p:nvPr/>
          </p:nvCxnSpPr>
          <p:spPr>
            <a:xfrm flipV="1">
              <a:off x="5561630" y="2998892"/>
              <a:ext cx="806143" cy="397933"/>
            </a:xfrm>
            <a:prstGeom prst="line">
              <a:avLst/>
            </a:prstGeom>
            <a:ln w="3810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Connector 45">
              <a:extLst>
                <a:ext uri="{FF2B5EF4-FFF2-40B4-BE49-F238E27FC236}">
                  <a16:creationId xmlns:a16="http://schemas.microsoft.com/office/drawing/2014/main" id="{03A86ADE-CE54-B174-43E4-DDE2D90FCFE6}"/>
                </a:ext>
              </a:extLst>
            </p:cNvPr>
            <p:cNvCxnSpPr>
              <a:cxnSpLocks/>
            </p:cNvCxnSpPr>
            <p:nvPr/>
          </p:nvCxnSpPr>
          <p:spPr>
            <a:xfrm flipV="1">
              <a:off x="6521619" y="1841137"/>
              <a:ext cx="0" cy="2724012"/>
            </a:xfrm>
            <a:prstGeom prst="line">
              <a:avLst/>
            </a:prstGeom>
            <a:ln w="38100">
              <a:solidFill>
                <a:schemeClr val="tx1">
                  <a:lumMod val="95000"/>
                  <a:lumOff val="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矩形: 圆角 3">
              <a:extLst>
                <a:ext uri="{FF2B5EF4-FFF2-40B4-BE49-F238E27FC236}">
                  <a16:creationId xmlns:a16="http://schemas.microsoft.com/office/drawing/2014/main" id="{61BF86C9-B6D6-0EAB-AF76-598BB4E0DFC0}"/>
                </a:ext>
              </a:extLst>
            </p:cNvPr>
            <p:cNvSpPr/>
            <p:nvPr/>
          </p:nvSpPr>
          <p:spPr>
            <a:xfrm>
              <a:off x="3693147" y="3203143"/>
              <a:ext cx="1805453" cy="596570"/>
            </a:xfrm>
            <a:prstGeom prst="roundRect">
              <a:avLst/>
            </a:prstGeom>
            <a:noFill/>
            <a:ln w="28575">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Long read transaction join </a:t>
              </a:r>
              <a:endParaRPr lang="zh-CN" altLang="en-US"/>
            </a:p>
          </p:txBody>
        </p:sp>
      </p:grpSp>
      <p:grpSp>
        <p:nvGrpSpPr>
          <p:cNvPr id="31" name="Group 30">
            <a:extLst>
              <a:ext uri="{FF2B5EF4-FFF2-40B4-BE49-F238E27FC236}">
                <a16:creationId xmlns:a16="http://schemas.microsoft.com/office/drawing/2014/main" id="{041CD610-7EF9-DDCA-E30B-7DDB034403A2}"/>
              </a:ext>
            </a:extLst>
          </p:cNvPr>
          <p:cNvGrpSpPr/>
          <p:nvPr/>
        </p:nvGrpSpPr>
        <p:grpSpPr>
          <a:xfrm>
            <a:off x="6527146" y="3506286"/>
            <a:ext cx="3238648" cy="2842053"/>
            <a:chOff x="7126406" y="1723096"/>
            <a:chExt cx="3238648" cy="2842053"/>
          </a:xfrm>
        </p:grpSpPr>
        <p:grpSp>
          <p:nvGrpSpPr>
            <p:cNvPr id="27" name="Group 26">
              <a:extLst>
                <a:ext uri="{FF2B5EF4-FFF2-40B4-BE49-F238E27FC236}">
                  <a16:creationId xmlns:a16="http://schemas.microsoft.com/office/drawing/2014/main" id="{94CDC908-2E7B-57E5-F3D0-A95DCD5C8478}"/>
                </a:ext>
              </a:extLst>
            </p:cNvPr>
            <p:cNvGrpSpPr/>
            <p:nvPr/>
          </p:nvGrpSpPr>
          <p:grpSpPr>
            <a:xfrm>
              <a:off x="7126407" y="1723096"/>
              <a:ext cx="3238647" cy="2842053"/>
              <a:chOff x="7126407" y="1723096"/>
              <a:chExt cx="3238647" cy="2842053"/>
            </a:xfrm>
          </p:grpSpPr>
          <p:cxnSp>
            <p:nvCxnSpPr>
              <p:cNvPr id="23" name="Straight Connector 45">
                <a:extLst>
                  <a:ext uri="{FF2B5EF4-FFF2-40B4-BE49-F238E27FC236}">
                    <a16:creationId xmlns:a16="http://schemas.microsoft.com/office/drawing/2014/main" id="{CA7C3F0B-534A-34FC-FD0C-333759539444}"/>
                  </a:ext>
                </a:extLst>
              </p:cNvPr>
              <p:cNvCxnSpPr>
                <a:cxnSpLocks/>
              </p:cNvCxnSpPr>
              <p:nvPr/>
            </p:nvCxnSpPr>
            <p:spPr>
              <a:xfrm flipV="1">
                <a:off x="7126407" y="1841137"/>
                <a:ext cx="0" cy="2724012"/>
              </a:xfrm>
              <a:prstGeom prst="line">
                <a:avLst/>
              </a:prstGeom>
              <a:ln w="38100">
                <a:solidFill>
                  <a:schemeClr val="tx1">
                    <a:lumMod val="95000"/>
                    <a:lumOff val="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矩形: 圆角 3">
                <a:extLst>
                  <a:ext uri="{FF2B5EF4-FFF2-40B4-BE49-F238E27FC236}">
                    <a16:creationId xmlns:a16="http://schemas.microsoft.com/office/drawing/2014/main" id="{217B87CA-F0D1-93BD-CF5B-6B5E74A8A407}"/>
                  </a:ext>
                </a:extLst>
              </p:cNvPr>
              <p:cNvSpPr/>
              <p:nvPr/>
            </p:nvSpPr>
            <p:spPr>
              <a:xfrm>
                <a:off x="8559601" y="1723096"/>
                <a:ext cx="1805453" cy="596570"/>
              </a:xfrm>
              <a:prstGeom prst="roundRect">
                <a:avLst/>
              </a:prstGeom>
              <a:noFill/>
              <a:ln w="28575">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Purge thread triggered</a:t>
                </a:r>
                <a:endParaRPr lang="zh-CN" altLang="en-US" dirty="0"/>
              </a:p>
            </p:txBody>
          </p:sp>
          <p:cxnSp>
            <p:nvCxnSpPr>
              <p:cNvPr id="25" name="Straight Connector 45">
                <a:extLst>
                  <a:ext uri="{FF2B5EF4-FFF2-40B4-BE49-F238E27FC236}">
                    <a16:creationId xmlns:a16="http://schemas.microsoft.com/office/drawing/2014/main" id="{C1563385-95FB-8815-2429-E4BB0B796020}"/>
                  </a:ext>
                </a:extLst>
              </p:cNvPr>
              <p:cNvCxnSpPr>
                <a:cxnSpLocks/>
                <a:stCxn id="24" idx="1"/>
              </p:cNvCxnSpPr>
              <p:nvPr/>
            </p:nvCxnSpPr>
            <p:spPr>
              <a:xfrm flipH="1">
                <a:off x="7146340" y="2021381"/>
                <a:ext cx="1413261" cy="481187"/>
              </a:xfrm>
              <a:prstGeom prst="line">
                <a:avLst/>
              </a:prstGeom>
              <a:ln w="3810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9EFC704D-FA38-BF23-A6D2-C2A246DC6C80}"/>
                </a:ext>
              </a:extLst>
            </p:cNvPr>
            <p:cNvGrpSpPr/>
            <p:nvPr/>
          </p:nvGrpSpPr>
          <p:grpSpPr>
            <a:xfrm>
              <a:off x="7126406" y="2496347"/>
              <a:ext cx="1097281" cy="1671877"/>
              <a:chOff x="7126406" y="2496347"/>
              <a:chExt cx="1097281" cy="1671877"/>
            </a:xfrm>
          </p:grpSpPr>
          <p:cxnSp>
            <p:nvCxnSpPr>
              <p:cNvPr id="28" name="Straight Connector 45">
                <a:extLst>
                  <a:ext uri="{FF2B5EF4-FFF2-40B4-BE49-F238E27FC236}">
                    <a16:creationId xmlns:a16="http://schemas.microsoft.com/office/drawing/2014/main" id="{FDA0F47B-F9DC-A5E0-CECE-59AF18F8BAFE}"/>
                  </a:ext>
                </a:extLst>
              </p:cNvPr>
              <p:cNvCxnSpPr>
                <a:cxnSpLocks/>
              </p:cNvCxnSpPr>
              <p:nvPr/>
            </p:nvCxnSpPr>
            <p:spPr>
              <a:xfrm>
                <a:off x="7126407" y="2502568"/>
                <a:ext cx="1097280" cy="0"/>
              </a:xfrm>
              <a:prstGeom prst="line">
                <a:avLst/>
              </a:prstGeom>
              <a:ln w="38100">
                <a:solidFill>
                  <a:schemeClr val="tx1">
                    <a:lumMod val="95000"/>
                    <a:lumOff val="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45">
                <a:extLst>
                  <a:ext uri="{FF2B5EF4-FFF2-40B4-BE49-F238E27FC236}">
                    <a16:creationId xmlns:a16="http://schemas.microsoft.com/office/drawing/2014/main" id="{3ED5AB8E-83F0-33DB-DD60-FB771E1DE5BC}"/>
                  </a:ext>
                </a:extLst>
              </p:cNvPr>
              <p:cNvCxnSpPr>
                <a:cxnSpLocks/>
              </p:cNvCxnSpPr>
              <p:nvPr/>
            </p:nvCxnSpPr>
            <p:spPr>
              <a:xfrm flipV="1">
                <a:off x="7126406" y="4168224"/>
                <a:ext cx="1097280" cy="0"/>
              </a:xfrm>
              <a:prstGeom prst="line">
                <a:avLst/>
              </a:prstGeom>
              <a:ln w="38100">
                <a:solidFill>
                  <a:schemeClr val="tx1">
                    <a:lumMod val="95000"/>
                    <a:lumOff val="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45">
                <a:extLst>
                  <a:ext uri="{FF2B5EF4-FFF2-40B4-BE49-F238E27FC236}">
                    <a16:creationId xmlns:a16="http://schemas.microsoft.com/office/drawing/2014/main" id="{67115E14-A7FE-099B-E118-497EFD7B89DE}"/>
                  </a:ext>
                </a:extLst>
              </p:cNvPr>
              <p:cNvCxnSpPr>
                <a:cxnSpLocks/>
              </p:cNvCxnSpPr>
              <p:nvPr/>
            </p:nvCxnSpPr>
            <p:spPr>
              <a:xfrm>
                <a:off x="8149427" y="2496347"/>
                <a:ext cx="0" cy="1604872"/>
              </a:xfrm>
              <a:prstGeom prst="line">
                <a:avLst/>
              </a:prstGeom>
              <a:ln w="3810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
        <p:nvSpPr>
          <p:cNvPr id="35" name="矩形: 圆角 3">
            <a:extLst>
              <a:ext uri="{FF2B5EF4-FFF2-40B4-BE49-F238E27FC236}">
                <a16:creationId xmlns:a16="http://schemas.microsoft.com/office/drawing/2014/main" id="{49D8A3C9-E380-D212-D03F-2A7789165353}"/>
              </a:ext>
            </a:extLst>
          </p:cNvPr>
          <p:cNvSpPr/>
          <p:nvPr/>
        </p:nvSpPr>
        <p:spPr>
          <a:xfrm>
            <a:off x="7986967" y="4817276"/>
            <a:ext cx="1480181" cy="596570"/>
          </a:xfrm>
          <a:prstGeom prst="roundRect">
            <a:avLst/>
          </a:prstGeom>
          <a:noFill/>
          <a:ln w="28575">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helvetica" panose="020B0604020202020204" pitchFamily="34" charset="0"/>
                <a:cs typeface="helvetica" panose="020B0604020202020204" pitchFamily="34" charset="0"/>
              </a:rPr>
              <a:t>4X throughput decreases </a:t>
            </a:r>
            <a:endParaRPr lang="zh-CN" altLang="en-US" b="1" dirty="0">
              <a:latin typeface="helvetica" panose="020B0604020202020204" pitchFamily="34" charset="0"/>
              <a:cs typeface="helvetica" panose="020B0604020202020204" pitchFamily="34" charset="0"/>
            </a:endParaRPr>
          </a:p>
        </p:txBody>
      </p:sp>
      <p:sp>
        <p:nvSpPr>
          <p:cNvPr id="3" name="矩形: 圆角 3">
            <a:extLst>
              <a:ext uri="{FF2B5EF4-FFF2-40B4-BE49-F238E27FC236}">
                <a16:creationId xmlns:a16="http://schemas.microsoft.com/office/drawing/2014/main" id="{E2090F62-42AC-F080-9814-7D3B6C25B497}"/>
              </a:ext>
            </a:extLst>
          </p:cNvPr>
          <p:cNvSpPr/>
          <p:nvPr/>
        </p:nvSpPr>
        <p:spPr>
          <a:xfrm>
            <a:off x="3220699" y="1118511"/>
            <a:ext cx="6482962" cy="2134979"/>
          </a:xfrm>
          <a:prstGeom prst="roundRect">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矩形: 圆角 3">
            <a:extLst>
              <a:ext uri="{FF2B5EF4-FFF2-40B4-BE49-F238E27FC236}">
                <a16:creationId xmlns:a16="http://schemas.microsoft.com/office/drawing/2014/main" id="{72518CB5-0D85-952D-BA79-E42C30A97B6D}"/>
              </a:ext>
            </a:extLst>
          </p:cNvPr>
          <p:cNvSpPr/>
          <p:nvPr/>
        </p:nvSpPr>
        <p:spPr>
          <a:xfrm>
            <a:off x="4108310" y="1238511"/>
            <a:ext cx="1312901" cy="596570"/>
          </a:xfrm>
          <a:prstGeom prst="roundRect">
            <a:avLst/>
          </a:prstGeom>
          <a:noFill/>
          <a:ln w="28575">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Long read Transaction</a:t>
            </a:r>
            <a:endParaRPr lang="zh-CN" altLang="en-US"/>
          </a:p>
        </p:txBody>
      </p:sp>
      <p:sp>
        <p:nvSpPr>
          <p:cNvPr id="8" name="TextBox 7">
            <a:extLst>
              <a:ext uri="{FF2B5EF4-FFF2-40B4-BE49-F238E27FC236}">
                <a16:creationId xmlns:a16="http://schemas.microsoft.com/office/drawing/2014/main" id="{D1F43CC2-9197-DF00-7A6C-DE4580517C45}"/>
              </a:ext>
            </a:extLst>
          </p:cNvPr>
          <p:cNvSpPr txBox="1"/>
          <p:nvPr/>
        </p:nvSpPr>
        <p:spPr>
          <a:xfrm>
            <a:off x="3246329" y="2745968"/>
            <a:ext cx="979755"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MySQL</a:t>
            </a:r>
          </a:p>
        </p:txBody>
      </p:sp>
      <p:sp>
        <p:nvSpPr>
          <p:cNvPr id="16" name="矩形: 圆角 3">
            <a:extLst>
              <a:ext uri="{FF2B5EF4-FFF2-40B4-BE49-F238E27FC236}">
                <a16:creationId xmlns:a16="http://schemas.microsoft.com/office/drawing/2014/main" id="{53B9F9C2-A8D8-00A1-46D7-C22370D2A523}"/>
              </a:ext>
            </a:extLst>
          </p:cNvPr>
          <p:cNvSpPr/>
          <p:nvPr/>
        </p:nvSpPr>
        <p:spPr>
          <a:xfrm>
            <a:off x="5831221" y="1262825"/>
            <a:ext cx="1539770" cy="596570"/>
          </a:xfrm>
          <a:prstGeom prst="roundRect">
            <a:avLst/>
          </a:prstGeom>
          <a:noFill/>
          <a:ln w="285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Continuous</a:t>
            </a:r>
          </a:p>
          <a:p>
            <a:pPr algn="ctr"/>
            <a:r>
              <a:rPr lang="en-US" altLang="zh-CN"/>
              <a:t>write queries</a:t>
            </a:r>
            <a:endParaRPr lang="zh-CN" altLang="en-US"/>
          </a:p>
        </p:txBody>
      </p:sp>
      <p:grpSp>
        <p:nvGrpSpPr>
          <p:cNvPr id="20" name="Group 19">
            <a:extLst>
              <a:ext uri="{FF2B5EF4-FFF2-40B4-BE49-F238E27FC236}">
                <a16:creationId xmlns:a16="http://schemas.microsoft.com/office/drawing/2014/main" id="{154DC195-A2D5-39C7-1CB7-29A713FA2AE1}"/>
              </a:ext>
            </a:extLst>
          </p:cNvPr>
          <p:cNvGrpSpPr/>
          <p:nvPr/>
        </p:nvGrpSpPr>
        <p:grpSpPr>
          <a:xfrm>
            <a:off x="4264688" y="2537215"/>
            <a:ext cx="4203338" cy="636839"/>
            <a:chOff x="1388789" y="5876712"/>
            <a:chExt cx="4203338" cy="636839"/>
          </a:xfrm>
        </p:grpSpPr>
        <p:sp>
          <p:nvSpPr>
            <p:cNvPr id="10" name="TextBox 9">
              <a:extLst>
                <a:ext uri="{FF2B5EF4-FFF2-40B4-BE49-F238E27FC236}">
                  <a16:creationId xmlns:a16="http://schemas.microsoft.com/office/drawing/2014/main" id="{9955F048-7EB3-3B52-032F-A24381E21D8A}"/>
                </a:ext>
              </a:extLst>
            </p:cNvPr>
            <p:cNvSpPr txBox="1"/>
            <p:nvPr/>
          </p:nvSpPr>
          <p:spPr>
            <a:xfrm>
              <a:off x="1388789" y="6030600"/>
              <a:ext cx="1112805" cy="369332"/>
            </a:xfrm>
            <a:prstGeom prst="rect">
              <a:avLst/>
            </a:prstGeom>
            <a:noFill/>
          </p:spPr>
          <p:txBody>
            <a:bodyPr wrap="none" rtlCol="0">
              <a:spAutoFit/>
            </a:bodyPr>
            <a:lstStyle/>
            <a:p>
              <a:r>
                <a:rPr lang="en-US"/>
                <a:t>UNDO log</a:t>
              </a:r>
            </a:p>
          </p:txBody>
        </p:sp>
        <p:grpSp>
          <p:nvGrpSpPr>
            <p:cNvPr id="19" name="Group 18">
              <a:extLst>
                <a:ext uri="{FF2B5EF4-FFF2-40B4-BE49-F238E27FC236}">
                  <a16:creationId xmlns:a16="http://schemas.microsoft.com/office/drawing/2014/main" id="{0D422212-0B84-130D-F812-A40AE816C0D0}"/>
                </a:ext>
              </a:extLst>
            </p:cNvPr>
            <p:cNvGrpSpPr/>
            <p:nvPr/>
          </p:nvGrpSpPr>
          <p:grpSpPr>
            <a:xfrm>
              <a:off x="2491198" y="5876712"/>
              <a:ext cx="3100929" cy="636839"/>
              <a:chOff x="2491198" y="5876712"/>
              <a:chExt cx="3100929" cy="636839"/>
            </a:xfrm>
          </p:grpSpPr>
          <p:sp>
            <p:nvSpPr>
              <p:cNvPr id="5" name="矩形: 圆角 3">
                <a:extLst>
                  <a:ext uri="{FF2B5EF4-FFF2-40B4-BE49-F238E27FC236}">
                    <a16:creationId xmlns:a16="http://schemas.microsoft.com/office/drawing/2014/main" id="{1E008C99-74C2-176C-8EE7-2D4956FA328A}"/>
                  </a:ext>
                </a:extLst>
              </p:cNvPr>
              <p:cNvSpPr/>
              <p:nvPr/>
            </p:nvSpPr>
            <p:spPr>
              <a:xfrm>
                <a:off x="2491198" y="5916981"/>
                <a:ext cx="643112" cy="596570"/>
              </a:xfrm>
              <a:prstGeom prst="roundRect">
                <a:avLst/>
              </a:prstGeom>
              <a:noFill/>
              <a:ln w="28575">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 name="矩形: 圆角 3">
                <a:extLst>
                  <a:ext uri="{FF2B5EF4-FFF2-40B4-BE49-F238E27FC236}">
                    <a16:creationId xmlns:a16="http://schemas.microsoft.com/office/drawing/2014/main" id="{23E78166-95F9-DE91-E161-84345E680CF7}"/>
                  </a:ext>
                </a:extLst>
              </p:cNvPr>
              <p:cNvSpPr/>
              <p:nvPr/>
            </p:nvSpPr>
            <p:spPr>
              <a:xfrm>
                <a:off x="3134310" y="5916981"/>
                <a:ext cx="643112" cy="596570"/>
              </a:xfrm>
              <a:prstGeom prst="roundRect">
                <a:avLst/>
              </a:prstGeom>
              <a:noFill/>
              <a:ln w="28575">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矩形: 圆角 3">
                <a:extLst>
                  <a:ext uri="{FF2B5EF4-FFF2-40B4-BE49-F238E27FC236}">
                    <a16:creationId xmlns:a16="http://schemas.microsoft.com/office/drawing/2014/main" id="{EF0D56C2-A8A8-48D1-07D2-6FF7AED351A9}"/>
                  </a:ext>
                </a:extLst>
              </p:cNvPr>
              <p:cNvSpPr/>
              <p:nvPr/>
            </p:nvSpPr>
            <p:spPr>
              <a:xfrm>
                <a:off x="3777422" y="5916981"/>
                <a:ext cx="643112" cy="596570"/>
              </a:xfrm>
              <a:prstGeom prst="roundRect">
                <a:avLst/>
              </a:prstGeom>
              <a:noFill/>
              <a:ln w="28575">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 name="矩形: 圆角 3">
                <a:extLst>
                  <a:ext uri="{FF2B5EF4-FFF2-40B4-BE49-F238E27FC236}">
                    <a16:creationId xmlns:a16="http://schemas.microsoft.com/office/drawing/2014/main" id="{F8EC8D4B-B350-5E42-FE95-546ACDAB8AB8}"/>
                  </a:ext>
                </a:extLst>
              </p:cNvPr>
              <p:cNvSpPr/>
              <p:nvPr/>
            </p:nvSpPr>
            <p:spPr>
              <a:xfrm>
                <a:off x="4949015" y="5916981"/>
                <a:ext cx="643112" cy="596570"/>
              </a:xfrm>
              <a:prstGeom prst="roundRect">
                <a:avLst/>
              </a:prstGeom>
              <a:noFill/>
              <a:ln w="28575">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8" name="TextBox 17">
                <a:extLst>
                  <a:ext uri="{FF2B5EF4-FFF2-40B4-BE49-F238E27FC236}">
                    <a16:creationId xmlns:a16="http://schemas.microsoft.com/office/drawing/2014/main" id="{3F13293E-A4F8-1985-C29E-894A1A005515}"/>
                  </a:ext>
                </a:extLst>
              </p:cNvPr>
              <p:cNvSpPr txBox="1"/>
              <p:nvPr/>
            </p:nvSpPr>
            <p:spPr>
              <a:xfrm>
                <a:off x="4465002" y="5876712"/>
                <a:ext cx="439544" cy="523220"/>
              </a:xfrm>
              <a:prstGeom prst="rect">
                <a:avLst/>
              </a:prstGeom>
              <a:noFill/>
            </p:spPr>
            <p:txBody>
              <a:bodyPr wrap="none" rtlCol="0">
                <a:spAutoFit/>
              </a:bodyPr>
              <a:lstStyle/>
              <a:p>
                <a:r>
                  <a:rPr lang="en-US" sz="2800" b="1"/>
                  <a:t>…</a:t>
                </a:r>
              </a:p>
            </p:txBody>
          </p:sp>
        </p:grpSp>
      </p:grpSp>
      <p:sp>
        <p:nvSpPr>
          <p:cNvPr id="36" name="Arrow: Right 35">
            <a:extLst>
              <a:ext uri="{FF2B5EF4-FFF2-40B4-BE49-F238E27FC236}">
                <a16:creationId xmlns:a16="http://schemas.microsoft.com/office/drawing/2014/main" id="{0AE258D4-3762-3F4B-5E97-3C60420924B3}"/>
              </a:ext>
            </a:extLst>
          </p:cNvPr>
          <p:cNvSpPr/>
          <p:nvPr/>
        </p:nvSpPr>
        <p:spPr>
          <a:xfrm>
            <a:off x="8559360" y="2633453"/>
            <a:ext cx="978408" cy="484632"/>
          </a:xfrm>
          <a:prstGeom prst="rightArrow">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31361576-0C8F-3417-2208-EF53A224667E}"/>
              </a:ext>
            </a:extLst>
          </p:cNvPr>
          <p:cNvCxnSpPr>
            <a:cxnSpLocks/>
            <a:stCxn id="6" idx="2"/>
          </p:cNvCxnSpPr>
          <p:nvPr/>
        </p:nvCxnSpPr>
        <p:spPr>
          <a:xfrm>
            <a:off x="4764761" y="1835081"/>
            <a:ext cx="1377521" cy="662967"/>
          </a:xfrm>
          <a:prstGeom prst="straightConnector1">
            <a:avLst/>
          </a:prstGeom>
          <a:ln w="3810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ED70B84-46FD-B942-10D0-164CB25A5B33}"/>
              </a:ext>
            </a:extLst>
          </p:cNvPr>
          <p:cNvCxnSpPr>
            <a:cxnSpLocks/>
          </p:cNvCxnSpPr>
          <p:nvPr/>
        </p:nvCxnSpPr>
        <p:spPr>
          <a:xfrm flipH="1">
            <a:off x="6462180" y="1960008"/>
            <a:ext cx="162098" cy="508881"/>
          </a:xfrm>
          <a:prstGeom prst="straightConnector1">
            <a:avLst/>
          </a:prstGeom>
          <a:ln w="3810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Straight Connector 45">
            <a:extLst>
              <a:ext uri="{FF2B5EF4-FFF2-40B4-BE49-F238E27FC236}">
                <a16:creationId xmlns:a16="http://schemas.microsoft.com/office/drawing/2014/main" id="{D80B1AC1-59E2-5586-0C04-F4F8A26B8CF5}"/>
              </a:ext>
            </a:extLst>
          </p:cNvPr>
          <p:cNvCxnSpPr>
            <a:cxnSpLocks/>
          </p:cNvCxnSpPr>
          <p:nvPr/>
        </p:nvCxnSpPr>
        <p:spPr>
          <a:xfrm flipH="1">
            <a:off x="7177223" y="1801237"/>
            <a:ext cx="1465752" cy="667652"/>
          </a:xfrm>
          <a:prstGeom prst="line">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49" name="Graphic 48">
            <a:extLst>
              <a:ext uri="{FF2B5EF4-FFF2-40B4-BE49-F238E27FC236}">
                <a16:creationId xmlns:a16="http://schemas.microsoft.com/office/drawing/2014/main" id="{42F06C36-982A-E49C-28EC-C15C09F6F51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7900" y="1949734"/>
            <a:ext cx="370658" cy="370658"/>
          </a:xfrm>
          <a:prstGeom prst="rect">
            <a:avLst/>
          </a:prstGeom>
        </p:spPr>
      </p:pic>
      <p:pic>
        <p:nvPicPr>
          <p:cNvPr id="50" name="Graphic 49">
            <a:extLst>
              <a:ext uri="{FF2B5EF4-FFF2-40B4-BE49-F238E27FC236}">
                <a16:creationId xmlns:a16="http://schemas.microsoft.com/office/drawing/2014/main" id="{6832ADEF-94EE-F1A4-717D-956F95C24C4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8912" y="1936573"/>
            <a:ext cx="370658" cy="370658"/>
          </a:xfrm>
          <a:prstGeom prst="rect">
            <a:avLst/>
          </a:prstGeom>
        </p:spPr>
      </p:pic>
      <p:sp>
        <p:nvSpPr>
          <p:cNvPr id="51" name="Rectangle 50">
            <a:extLst>
              <a:ext uri="{FF2B5EF4-FFF2-40B4-BE49-F238E27FC236}">
                <a16:creationId xmlns:a16="http://schemas.microsoft.com/office/drawing/2014/main" id="{3EF17BB4-E4E7-C07F-8BD7-9357CAE10C51}"/>
              </a:ext>
            </a:extLst>
          </p:cNvPr>
          <p:cNvSpPr/>
          <p:nvPr/>
        </p:nvSpPr>
        <p:spPr>
          <a:xfrm>
            <a:off x="5328107" y="3778524"/>
            <a:ext cx="6841351" cy="2298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95415487"/>
      </p:ext>
    </p:extLst>
  </p:cSld>
  <p:clrMapOvr>
    <a:masterClrMapping/>
  </p:clrMapOvr>
  <mc:AlternateContent xmlns:mc="http://schemas.openxmlformats.org/markup-compatibility/2006" xmlns:p14="http://schemas.microsoft.com/office/powerpoint/2010/main">
    <mc:Choice Requires="p14">
      <p:transition spd="slow" p14:dur="2000" advTm="52116"/>
    </mc:Choice>
    <mc:Fallback xmlns="">
      <p:transition spd="slow" advTm="521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par>
                                <p:cTn id="8" presetID="1" presetClass="exit"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hidden"/>
                                      </p:to>
                                    </p:set>
                                  </p:childTnLst>
                                </p:cTn>
                              </p:par>
                              <p:par>
                                <p:cTn id="10" presetID="9" presetClass="entr" presetSubtype="0"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dissolve">
                                      <p:cBhvr>
                                        <p:cTn id="12" dur="500"/>
                                        <p:tgtEl>
                                          <p:spTgt spid="36"/>
                                        </p:tgtEl>
                                      </p:cBhvr>
                                    </p:animEffect>
                                  </p:childTnLst>
                                </p:cTn>
                              </p:par>
                              <p:par>
                                <p:cTn id="13" presetID="9"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dissolve">
                                      <p:cBhvr>
                                        <p:cTn id="15" dur="500"/>
                                        <p:tgtEl>
                                          <p:spTgt spid="3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par>
                                <p:cTn id="19" presetID="9"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dissolve">
                                      <p:cBhvr>
                                        <p:cTn id="21" dur="500"/>
                                        <p:tgtEl>
                                          <p:spTgt spid="42"/>
                                        </p:tgtEl>
                                      </p:cBhvr>
                                    </p:animEffect>
                                  </p:childTnLst>
                                </p:cTn>
                              </p:par>
                              <p:par>
                                <p:cTn id="22" presetID="9" presetClass="entr" presetSubtype="0" fill="hold"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dissolve">
                                      <p:cBhvr>
                                        <p:cTn id="24" dur="500"/>
                                        <p:tgtEl>
                                          <p:spTgt spid="4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dissolve">
                                      <p:cBhvr>
                                        <p:cTn id="29" dur="500"/>
                                        <p:tgtEl>
                                          <p:spTgt spid="17"/>
                                        </p:tgtEl>
                                      </p:cBhvr>
                                    </p:animEffect>
                                  </p:childTnLst>
                                </p:cTn>
                              </p:par>
                              <p:par>
                                <p:cTn id="30" presetID="9" presetClass="entr" presetSubtype="0"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dissolve">
                                      <p:cBhvr>
                                        <p:cTn id="35" dur="500"/>
                                        <p:tgtEl>
                                          <p:spTgt spid="35"/>
                                        </p:tgtEl>
                                      </p:cBhvr>
                                    </p:animEffect>
                                  </p:childTnLst>
                                </p:cTn>
                              </p:par>
                              <p:par>
                                <p:cTn id="36" presetID="1" presetClass="entr" presetSubtype="0" fill="hold" nodeType="withEffect">
                                  <p:stCondLst>
                                    <p:cond delay="0"/>
                                  </p:stCondLst>
                                  <p:childTnLst>
                                    <p:set>
                                      <p:cBhvr>
                                        <p:cTn id="37" dur="1" fill="hold">
                                          <p:stCondLst>
                                            <p:cond delay="0"/>
                                          </p:stCondLst>
                                        </p:cTn>
                                        <p:tgtEl>
                                          <p:spTgt spid="49"/>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0"/>
                                        </p:tgtEl>
                                        <p:attrNameLst>
                                          <p:attrName>style.visibility</p:attrName>
                                        </p:attrNameLst>
                                      </p:cBhvr>
                                      <p:to>
                                        <p:strVal val="visible"/>
                                      </p:to>
                                    </p:set>
                                  </p:childTnLst>
                                </p:cTn>
                              </p:par>
                              <p:par>
                                <p:cTn id="40" presetID="9"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dissolve">
                                      <p:cBhvr>
                                        <p:cTn id="4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5" grpId="0"/>
      <p:bldP spid="6" grpId="0" animBg="1"/>
      <p:bldP spid="36" grpId="0" animBg="1"/>
      <p:bldP spid="5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920"/>
            <a:ext cx="12192000" cy="1188720"/>
          </a:xfrm>
        </p:spPr>
        <p:txBody>
          <a:bodyPr>
            <a:normAutofit/>
          </a:bodyPr>
          <a:lstStyle/>
          <a:p>
            <a:pPr algn="ctr"/>
            <a:r>
              <a:rPr lang="en-US" altLang="zh-CN" b="1">
                <a:latin typeface="helvetica" panose="020B0604020202020204" pitchFamily="34" charset="0"/>
                <a:cs typeface="helvetica" panose="020B0604020202020204" pitchFamily="34" charset="0"/>
              </a:rPr>
              <a:t>Intra-app Interference Is Prevalent</a:t>
            </a:r>
            <a:endParaRPr lang="en-US" b="1">
              <a:latin typeface="helvetica" panose="020B0604020202020204" pitchFamily="34" charset="0"/>
              <a:cs typeface="helvetica" panose="020B0604020202020204" pitchFamily="34" charset="0"/>
            </a:endParaRPr>
          </a:p>
        </p:txBody>
      </p:sp>
      <p:sp>
        <p:nvSpPr>
          <p:cNvPr id="4" name="灯片编号占位符 3">
            <a:extLst>
              <a:ext uri="{FF2B5EF4-FFF2-40B4-BE49-F238E27FC236}">
                <a16:creationId xmlns:a16="http://schemas.microsoft.com/office/drawing/2014/main" id="{257B48C2-443F-8FF9-0973-F4EF1A16BB9D}"/>
              </a:ext>
            </a:extLst>
          </p:cNvPr>
          <p:cNvSpPr>
            <a:spLocks noGrp="1"/>
          </p:cNvSpPr>
          <p:nvPr>
            <p:ph type="sldNum" sz="quarter" idx="12"/>
          </p:nvPr>
        </p:nvSpPr>
        <p:spPr/>
        <p:txBody>
          <a:bodyPr/>
          <a:lstStyle/>
          <a:p>
            <a:fld id="{330EA680-D336-4FF7-8B7A-9848BB0A1C32}" type="slidenum">
              <a:rPr lang="en-US" smtClean="0"/>
              <a:t>5</a:t>
            </a:fld>
            <a:endParaRPr lang="en-US"/>
          </a:p>
        </p:txBody>
      </p:sp>
      <p:grpSp>
        <p:nvGrpSpPr>
          <p:cNvPr id="12" name="Group 11">
            <a:extLst>
              <a:ext uri="{FF2B5EF4-FFF2-40B4-BE49-F238E27FC236}">
                <a16:creationId xmlns:a16="http://schemas.microsoft.com/office/drawing/2014/main" id="{04B30D61-BA14-8DA0-0D59-378C7C04DFFE}"/>
              </a:ext>
            </a:extLst>
          </p:cNvPr>
          <p:cNvGrpSpPr/>
          <p:nvPr/>
        </p:nvGrpSpPr>
        <p:grpSpPr>
          <a:xfrm>
            <a:off x="128588" y="931444"/>
            <a:ext cx="11058524" cy="2543027"/>
            <a:chOff x="381001" y="1460992"/>
            <a:chExt cx="11058524" cy="2543027"/>
          </a:xfrm>
        </p:grpSpPr>
        <p:pic>
          <p:nvPicPr>
            <p:cNvPr id="8" name="Picture 7">
              <a:extLst>
                <a:ext uri="{FF2B5EF4-FFF2-40B4-BE49-F238E27FC236}">
                  <a16:creationId xmlns:a16="http://schemas.microsoft.com/office/drawing/2014/main" id="{0F08C9CC-966A-AF11-19CB-3F9FAF6A4053}"/>
                </a:ext>
              </a:extLst>
            </p:cNvPr>
            <p:cNvPicPr>
              <a:picLocks noChangeAspect="1"/>
            </p:cNvPicPr>
            <p:nvPr/>
          </p:nvPicPr>
          <p:blipFill>
            <a:blip r:embed="rId3"/>
            <a:stretch>
              <a:fillRect/>
            </a:stretch>
          </p:blipFill>
          <p:spPr>
            <a:xfrm>
              <a:off x="381001" y="1460992"/>
              <a:ext cx="7124700" cy="1153478"/>
            </a:xfrm>
            <a:prstGeom prst="rect">
              <a:avLst/>
            </a:prstGeom>
          </p:spPr>
        </p:pic>
        <p:pic>
          <p:nvPicPr>
            <p:cNvPr id="10" name="Picture 9">
              <a:extLst>
                <a:ext uri="{FF2B5EF4-FFF2-40B4-BE49-F238E27FC236}">
                  <a16:creationId xmlns:a16="http://schemas.microsoft.com/office/drawing/2014/main" id="{1581328A-549B-B4FE-6CE7-00956788D6EC}"/>
                </a:ext>
              </a:extLst>
            </p:cNvPr>
            <p:cNvPicPr>
              <a:picLocks noChangeAspect="1"/>
            </p:cNvPicPr>
            <p:nvPr/>
          </p:nvPicPr>
          <p:blipFill>
            <a:blip r:embed="rId4"/>
            <a:stretch>
              <a:fillRect/>
            </a:stretch>
          </p:blipFill>
          <p:spPr>
            <a:xfrm>
              <a:off x="1628775" y="2460222"/>
              <a:ext cx="9810750" cy="1543797"/>
            </a:xfrm>
            <a:prstGeom prst="rect">
              <a:avLst/>
            </a:prstGeom>
          </p:spPr>
        </p:pic>
        <p:sp>
          <p:nvSpPr>
            <p:cNvPr id="11" name="Oval 10">
              <a:extLst>
                <a:ext uri="{FF2B5EF4-FFF2-40B4-BE49-F238E27FC236}">
                  <a16:creationId xmlns:a16="http://schemas.microsoft.com/office/drawing/2014/main" id="{DC248E93-88D6-96A8-AE32-EF1556608582}"/>
                </a:ext>
              </a:extLst>
            </p:cNvPr>
            <p:cNvSpPr/>
            <p:nvPr/>
          </p:nvSpPr>
          <p:spPr>
            <a:xfrm>
              <a:off x="2665095" y="3399698"/>
              <a:ext cx="2564130" cy="311425"/>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A1E6E832-B508-6FC6-027D-3309C19520CD}"/>
              </a:ext>
            </a:extLst>
          </p:cNvPr>
          <p:cNvGrpSpPr/>
          <p:nvPr/>
        </p:nvGrpSpPr>
        <p:grpSpPr>
          <a:xfrm>
            <a:off x="0" y="3429000"/>
            <a:ext cx="9132093" cy="3161131"/>
            <a:chOff x="64295" y="3429000"/>
            <a:chExt cx="9132093" cy="3161131"/>
          </a:xfrm>
        </p:grpSpPr>
        <p:pic>
          <p:nvPicPr>
            <p:cNvPr id="22" name="Picture 21">
              <a:extLst>
                <a:ext uri="{FF2B5EF4-FFF2-40B4-BE49-F238E27FC236}">
                  <a16:creationId xmlns:a16="http://schemas.microsoft.com/office/drawing/2014/main" id="{E5E23E98-D6BE-1B3C-CD51-A3E1A2BE95FD}"/>
                </a:ext>
              </a:extLst>
            </p:cNvPr>
            <p:cNvPicPr>
              <a:picLocks noChangeAspect="1"/>
            </p:cNvPicPr>
            <p:nvPr/>
          </p:nvPicPr>
          <p:blipFill>
            <a:blip r:embed="rId5"/>
            <a:stretch>
              <a:fillRect/>
            </a:stretch>
          </p:blipFill>
          <p:spPr>
            <a:xfrm>
              <a:off x="64295" y="3429000"/>
              <a:ext cx="5564980" cy="2230059"/>
            </a:xfrm>
            <a:prstGeom prst="rect">
              <a:avLst/>
            </a:prstGeom>
          </p:spPr>
        </p:pic>
        <p:grpSp>
          <p:nvGrpSpPr>
            <p:cNvPr id="23" name="Group 22">
              <a:extLst>
                <a:ext uri="{FF2B5EF4-FFF2-40B4-BE49-F238E27FC236}">
                  <a16:creationId xmlns:a16="http://schemas.microsoft.com/office/drawing/2014/main" id="{A3463A5E-B136-B828-F054-3C5E75F6F24D}"/>
                </a:ext>
              </a:extLst>
            </p:cNvPr>
            <p:cNvGrpSpPr/>
            <p:nvPr/>
          </p:nvGrpSpPr>
          <p:grpSpPr>
            <a:xfrm>
              <a:off x="1376362" y="4837531"/>
              <a:ext cx="7820026" cy="1752600"/>
              <a:chOff x="3509962" y="4227684"/>
              <a:chExt cx="7820026" cy="1752600"/>
            </a:xfrm>
          </p:grpSpPr>
          <p:pic>
            <p:nvPicPr>
              <p:cNvPr id="18" name="Picture 17">
                <a:extLst>
                  <a:ext uri="{FF2B5EF4-FFF2-40B4-BE49-F238E27FC236}">
                    <a16:creationId xmlns:a16="http://schemas.microsoft.com/office/drawing/2014/main" id="{8F1169EA-A4F5-F725-36DA-F6CA7A4BCE80}"/>
                  </a:ext>
                </a:extLst>
              </p:cNvPr>
              <p:cNvPicPr>
                <a:picLocks noChangeAspect="1"/>
              </p:cNvPicPr>
              <p:nvPr/>
            </p:nvPicPr>
            <p:blipFill>
              <a:blip r:embed="rId6"/>
              <a:stretch>
                <a:fillRect/>
              </a:stretch>
            </p:blipFill>
            <p:spPr>
              <a:xfrm>
                <a:off x="3509963" y="4227684"/>
                <a:ext cx="7820025" cy="1752600"/>
              </a:xfrm>
              <a:prstGeom prst="rect">
                <a:avLst/>
              </a:prstGeom>
            </p:spPr>
          </p:pic>
          <p:sp>
            <p:nvSpPr>
              <p:cNvPr id="20" name="Oval 19">
                <a:extLst>
                  <a:ext uri="{FF2B5EF4-FFF2-40B4-BE49-F238E27FC236}">
                    <a16:creationId xmlns:a16="http://schemas.microsoft.com/office/drawing/2014/main" id="{455C8627-EF79-6DDE-35CB-B02D5ED2FA83}"/>
                  </a:ext>
                </a:extLst>
              </p:cNvPr>
              <p:cNvSpPr/>
              <p:nvPr/>
            </p:nvSpPr>
            <p:spPr>
              <a:xfrm>
                <a:off x="3509962" y="5103984"/>
                <a:ext cx="3965257" cy="311425"/>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71364482"/>
      </p:ext>
    </p:extLst>
  </p:cSld>
  <p:clrMapOvr>
    <a:masterClrMapping/>
  </p:clrMapOvr>
  <mc:AlternateContent xmlns:mc="http://schemas.openxmlformats.org/markup-compatibility/2006" xmlns:p14="http://schemas.microsoft.com/office/powerpoint/2010/main">
    <mc:Choice Requires="p14">
      <p:transition spd="slow" p14:dur="2000" advTm="25154"/>
    </mc:Choice>
    <mc:Fallback xmlns="">
      <p:transition spd="slow" advTm="2515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55F30A2F-96BA-C8A1-B164-B203EA22A39C}"/>
              </a:ext>
            </a:extLst>
          </p:cNvPr>
          <p:cNvCxnSpPr>
            <a:cxnSpLocks/>
          </p:cNvCxnSpPr>
          <p:nvPr/>
        </p:nvCxnSpPr>
        <p:spPr>
          <a:xfrm flipH="1">
            <a:off x="2181691" y="3386515"/>
            <a:ext cx="1887023" cy="0"/>
          </a:xfrm>
          <a:prstGeom prst="line">
            <a:avLst/>
          </a:prstGeom>
          <a:ln w="38100">
            <a:prstDash val="sysDot"/>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920"/>
            <a:ext cx="12192000" cy="1188720"/>
          </a:xfrm>
        </p:spPr>
        <p:txBody>
          <a:bodyPr/>
          <a:lstStyle/>
          <a:p>
            <a:pPr algn="ctr"/>
            <a:r>
              <a:rPr lang="en-US" altLang="zh-CN" b="1">
                <a:latin typeface="helvetica" panose="020B0604020202020204" pitchFamily="34" charset="0"/>
                <a:cs typeface="helvetica" panose="020B0604020202020204" pitchFamily="34" charset="0"/>
              </a:rPr>
              <a:t>Intra-app Interference Is Long-lived</a:t>
            </a:r>
            <a:endParaRPr lang="en-US" b="1">
              <a:latin typeface="helvetica" panose="020B0604020202020204" pitchFamily="34" charset="0"/>
              <a:cs typeface="helvetica" panose="020B0604020202020204" pitchFamily="34" charset="0"/>
            </a:endParaRPr>
          </a:p>
        </p:txBody>
      </p:sp>
      <p:sp>
        <p:nvSpPr>
          <p:cNvPr id="4" name="灯片编号占位符 3">
            <a:extLst>
              <a:ext uri="{FF2B5EF4-FFF2-40B4-BE49-F238E27FC236}">
                <a16:creationId xmlns:a16="http://schemas.microsoft.com/office/drawing/2014/main" id="{257B48C2-443F-8FF9-0973-F4EF1A16BB9D}"/>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16" name="TextBox 15">
            <a:extLst>
              <a:ext uri="{FF2B5EF4-FFF2-40B4-BE49-F238E27FC236}">
                <a16:creationId xmlns:a16="http://schemas.microsoft.com/office/drawing/2014/main" id="{C15B381B-40A5-4BC3-805C-8748FD77D9BF}"/>
              </a:ext>
            </a:extLst>
          </p:cNvPr>
          <p:cNvSpPr txBox="1"/>
          <p:nvPr/>
        </p:nvSpPr>
        <p:spPr>
          <a:xfrm>
            <a:off x="1337122" y="1421821"/>
            <a:ext cx="652743" cy="369332"/>
          </a:xfrm>
          <a:prstGeom prst="rect">
            <a:avLst/>
          </a:prstGeom>
          <a:noFill/>
        </p:spPr>
        <p:txBody>
          <a:bodyPr wrap="none" rtlCol="0">
            <a:spAutoFit/>
          </a:bodyPr>
          <a:lstStyle/>
          <a:p>
            <a:r>
              <a:rPr lang="en-US"/>
              <a:t>2006</a:t>
            </a:r>
          </a:p>
        </p:txBody>
      </p:sp>
      <p:pic>
        <p:nvPicPr>
          <p:cNvPr id="11" name="Picture 10">
            <a:extLst>
              <a:ext uri="{FF2B5EF4-FFF2-40B4-BE49-F238E27FC236}">
                <a16:creationId xmlns:a16="http://schemas.microsoft.com/office/drawing/2014/main" id="{610CA151-ACA5-4662-0B17-D7778797C1A7}"/>
              </a:ext>
            </a:extLst>
          </p:cNvPr>
          <p:cNvPicPr>
            <a:picLocks noChangeAspect="1"/>
          </p:cNvPicPr>
          <p:nvPr/>
        </p:nvPicPr>
        <p:blipFill>
          <a:blip r:embed="rId3"/>
          <a:stretch>
            <a:fillRect/>
          </a:stretch>
        </p:blipFill>
        <p:spPr>
          <a:xfrm>
            <a:off x="4191018" y="1080229"/>
            <a:ext cx="4129814" cy="1052516"/>
          </a:xfrm>
          <a:prstGeom prst="rect">
            <a:avLst/>
          </a:prstGeom>
        </p:spPr>
      </p:pic>
      <p:pic>
        <p:nvPicPr>
          <p:cNvPr id="18" name="Picture 17">
            <a:extLst>
              <a:ext uri="{FF2B5EF4-FFF2-40B4-BE49-F238E27FC236}">
                <a16:creationId xmlns:a16="http://schemas.microsoft.com/office/drawing/2014/main" id="{CCE2B0D4-0464-BF5B-B699-1C3F2D4A4F8B}"/>
              </a:ext>
            </a:extLst>
          </p:cNvPr>
          <p:cNvPicPr>
            <a:picLocks noChangeAspect="1"/>
          </p:cNvPicPr>
          <p:nvPr/>
        </p:nvPicPr>
        <p:blipFill>
          <a:blip r:embed="rId4"/>
          <a:stretch>
            <a:fillRect/>
          </a:stretch>
        </p:blipFill>
        <p:spPr>
          <a:xfrm>
            <a:off x="4191018" y="2728020"/>
            <a:ext cx="6019800" cy="1049749"/>
          </a:xfrm>
          <a:prstGeom prst="rect">
            <a:avLst/>
          </a:prstGeom>
        </p:spPr>
      </p:pic>
      <p:sp>
        <p:nvSpPr>
          <p:cNvPr id="26" name="TextBox 25">
            <a:extLst>
              <a:ext uri="{FF2B5EF4-FFF2-40B4-BE49-F238E27FC236}">
                <a16:creationId xmlns:a16="http://schemas.microsoft.com/office/drawing/2014/main" id="{01D9EE22-74D0-1A8F-C57C-CB743FA704EC}"/>
              </a:ext>
            </a:extLst>
          </p:cNvPr>
          <p:cNvSpPr txBox="1"/>
          <p:nvPr/>
        </p:nvSpPr>
        <p:spPr>
          <a:xfrm>
            <a:off x="1312105" y="3201352"/>
            <a:ext cx="652743" cy="369332"/>
          </a:xfrm>
          <a:prstGeom prst="rect">
            <a:avLst/>
          </a:prstGeom>
          <a:noFill/>
        </p:spPr>
        <p:txBody>
          <a:bodyPr wrap="none" rtlCol="0">
            <a:spAutoFit/>
          </a:bodyPr>
          <a:lstStyle/>
          <a:p>
            <a:r>
              <a:rPr lang="en-US"/>
              <a:t>2014</a:t>
            </a:r>
          </a:p>
        </p:txBody>
      </p:sp>
      <p:pic>
        <p:nvPicPr>
          <p:cNvPr id="28" name="Picture 27">
            <a:extLst>
              <a:ext uri="{FF2B5EF4-FFF2-40B4-BE49-F238E27FC236}">
                <a16:creationId xmlns:a16="http://schemas.microsoft.com/office/drawing/2014/main" id="{218CA71B-DC88-FA80-A96C-1A23C410F98F}"/>
              </a:ext>
            </a:extLst>
          </p:cNvPr>
          <p:cNvPicPr>
            <a:picLocks noChangeAspect="1"/>
          </p:cNvPicPr>
          <p:nvPr/>
        </p:nvPicPr>
        <p:blipFill>
          <a:blip r:embed="rId5"/>
          <a:stretch>
            <a:fillRect/>
          </a:stretch>
        </p:blipFill>
        <p:spPr>
          <a:xfrm>
            <a:off x="4183668" y="3969182"/>
            <a:ext cx="5248275" cy="982198"/>
          </a:xfrm>
          <a:prstGeom prst="rect">
            <a:avLst/>
          </a:prstGeom>
        </p:spPr>
      </p:pic>
      <p:cxnSp>
        <p:nvCxnSpPr>
          <p:cNvPr id="66" name="Straight Connector 65">
            <a:extLst>
              <a:ext uri="{FF2B5EF4-FFF2-40B4-BE49-F238E27FC236}">
                <a16:creationId xmlns:a16="http://schemas.microsoft.com/office/drawing/2014/main" id="{AB4FFCBE-57DE-0C3B-F2E0-F3BCCB7515EC}"/>
              </a:ext>
            </a:extLst>
          </p:cNvPr>
          <p:cNvCxnSpPr>
            <a:cxnSpLocks/>
          </p:cNvCxnSpPr>
          <p:nvPr/>
        </p:nvCxnSpPr>
        <p:spPr>
          <a:xfrm flipH="1">
            <a:off x="2303995" y="1624155"/>
            <a:ext cx="1887023" cy="0"/>
          </a:xfrm>
          <a:prstGeom prst="line">
            <a:avLst/>
          </a:prstGeom>
          <a:ln w="38100">
            <a:prstDash val="sysDot"/>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77353AD3-DC09-42C7-BCC7-9DBF44C18417}"/>
              </a:ext>
            </a:extLst>
          </p:cNvPr>
          <p:cNvSpPr txBox="1"/>
          <p:nvPr/>
        </p:nvSpPr>
        <p:spPr>
          <a:xfrm>
            <a:off x="1359213" y="4327806"/>
            <a:ext cx="652743" cy="369332"/>
          </a:xfrm>
          <a:prstGeom prst="rect">
            <a:avLst/>
          </a:prstGeom>
          <a:noFill/>
        </p:spPr>
        <p:txBody>
          <a:bodyPr wrap="none" rtlCol="0">
            <a:spAutoFit/>
          </a:bodyPr>
          <a:lstStyle/>
          <a:p>
            <a:r>
              <a:rPr lang="en-US"/>
              <a:t>2017</a:t>
            </a:r>
          </a:p>
        </p:txBody>
      </p:sp>
      <p:sp>
        <p:nvSpPr>
          <p:cNvPr id="69" name="TextBox 68">
            <a:extLst>
              <a:ext uri="{FF2B5EF4-FFF2-40B4-BE49-F238E27FC236}">
                <a16:creationId xmlns:a16="http://schemas.microsoft.com/office/drawing/2014/main" id="{B70AE3FC-8993-5481-AC49-B0775522615E}"/>
              </a:ext>
            </a:extLst>
          </p:cNvPr>
          <p:cNvSpPr txBox="1"/>
          <p:nvPr/>
        </p:nvSpPr>
        <p:spPr>
          <a:xfrm>
            <a:off x="1369582" y="5589863"/>
            <a:ext cx="652743" cy="369332"/>
          </a:xfrm>
          <a:prstGeom prst="rect">
            <a:avLst/>
          </a:prstGeom>
          <a:noFill/>
        </p:spPr>
        <p:txBody>
          <a:bodyPr wrap="none" rtlCol="0">
            <a:spAutoFit/>
          </a:bodyPr>
          <a:lstStyle/>
          <a:p>
            <a:r>
              <a:rPr lang="en-US"/>
              <a:t>2020</a:t>
            </a:r>
          </a:p>
        </p:txBody>
      </p:sp>
      <p:cxnSp>
        <p:nvCxnSpPr>
          <p:cNvPr id="6" name="Straight Connector 5">
            <a:extLst>
              <a:ext uri="{FF2B5EF4-FFF2-40B4-BE49-F238E27FC236}">
                <a16:creationId xmlns:a16="http://schemas.microsoft.com/office/drawing/2014/main" id="{7686A091-B170-E507-909D-E16CC0AAC44F}"/>
              </a:ext>
            </a:extLst>
          </p:cNvPr>
          <p:cNvCxnSpPr>
            <a:cxnSpLocks/>
          </p:cNvCxnSpPr>
          <p:nvPr/>
        </p:nvCxnSpPr>
        <p:spPr>
          <a:xfrm rot="5400000" flipV="1">
            <a:off x="-522048" y="3861562"/>
            <a:ext cx="5377766" cy="29711"/>
          </a:xfrm>
          <a:prstGeom prst="line">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CC8CD22F-709C-56AE-00A7-12FB46D53A54}"/>
              </a:ext>
            </a:extLst>
          </p:cNvPr>
          <p:cNvSpPr/>
          <p:nvPr/>
        </p:nvSpPr>
        <p:spPr>
          <a:xfrm rot="5400000" flipV="1">
            <a:off x="2033266" y="1486995"/>
            <a:ext cx="274320" cy="274320"/>
          </a:xfrm>
          <a:prstGeom prst="ellipse">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73" name="Oval 72">
            <a:extLst>
              <a:ext uri="{FF2B5EF4-FFF2-40B4-BE49-F238E27FC236}">
                <a16:creationId xmlns:a16="http://schemas.microsoft.com/office/drawing/2014/main" id="{AFB33591-3B61-87A3-B6AA-355B3F2305A3}"/>
              </a:ext>
            </a:extLst>
          </p:cNvPr>
          <p:cNvSpPr/>
          <p:nvPr/>
        </p:nvSpPr>
        <p:spPr>
          <a:xfrm rot="5400000" flipV="1">
            <a:off x="2037025" y="5637369"/>
            <a:ext cx="274320" cy="274320"/>
          </a:xfrm>
          <a:prstGeom prst="ellipse">
            <a:avLst/>
          </a:prstGeom>
          <a:solidFill>
            <a:schemeClr val="bg1"/>
          </a:solidFill>
          <a:ln w="38100">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8" name="Picture 77">
            <a:extLst>
              <a:ext uri="{FF2B5EF4-FFF2-40B4-BE49-F238E27FC236}">
                <a16:creationId xmlns:a16="http://schemas.microsoft.com/office/drawing/2014/main" id="{9A5233BF-ADA3-DB5D-26EE-3326FFF3A260}"/>
              </a:ext>
            </a:extLst>
          </p:cNvPr>
          <p:cNvPicPr>
            <a:picLocks noChangeAspect="1"/>
          </p:cNvPicPr>
          <p:nvPr/>
        </p:nvPicPr>
        <p:blipFill>
          <a:blip r:embed="rId6"/>
          <a:stretch>
            <a:fillRect/>
          </a:stretch>
        </p:blipFill>
        <p:spPr>
          <a:xfrm>
            <a:off x="4198368" y="5358333"/>
            <a:ext cx="4088500" cy="1294350"/>
          </a:xfrm>
          <a:prstGeom prst="rect">
            <a:avLst/>
          </a:prstGeom>
        </p:spPr>
      </p:pic>
      <p:sp>
        <p:nvSpPr>
          <p:cNvPr id="14" name="Oval 13">
            <a:extLst>
              <a:ext uri="{FF2B5EF4-FFF2-40B4-BE49-F238E27FC236}">
                <a16:creationId xmlns:a16="http://schemas.microsoft.com/office/drawing/2014/main" id="{3805F4C0-507F-A477-2181-628A41E68C2C}"/>
              </a:ext>
            </a:extLst>
          </p:cNvPr>
          <p:cNvSpPr/>
          <p:nvPr/>
        </p:nvSpPr>
        <p:spPr>
          <a:xfrm rot="5400000" flipV="1">
            <a:off x="2022325" y="3223048"/>
            <a:ext cx="274320" cy="274320"/>
          </a:xfrm>
          <a:prstGeom prst="ellipse">
            <a:avLst/>
          </a:prstGeom>
          <a:ln w="38100">
            <a:solidFill>
              <a:srgbClr val="FEA40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2DC5DA63-4AD0-774C-006E-F6DFFFBA952E}"/>
              </a:ext>
            </a:extLst>
          </p:cNvPr>
          <p:cNvSpPr/>
          <p:nvPr/>
        </p:nvSpPr>
        <p:spPr>
          <a:xfrm rot="5400000" flipV="1">
            <a:off x="2022091" y="4344943"/>
            <a:ext cx="274320" cy="274320"/>
          </a:xfrm>
          <a:prstGeom prst="ellipse">
            <a:avLst/>
          </a:prstGeom>
          <a:ln w="38100">
            <a:solidFill>
              <a:srgbClr val="FF66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6CB21DBB-E509-3231-1A00-7C856B8FFCE7}"/>
              </a:ext>
            </a:extLst>
          </p:cNvPr>
          <p:cNvCxnSpPr>
            <a:cxnSpLocks/>
          </p:cNvCxnSpPr>
          <p:nvPr/>
        </p:nvCxnSpPr>
        <p:spPr>
          <a:xfrm flipH="1">
            <a:off x="2296645" y="4512472"/>
            <a:ext cx="1887023" cy="0"/>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821531A5-74D8-1510-FDEE-9E529E3818A8}"/>
              </a:ext>
            </a:extLst>
          </p:cNvPr>
          <p:cNvCxnSpPr>
            <a:cxnSpLocks/>
          </p:cNvCxnSpPr>
          <p:nvPr/>
        </p:nvCxnSpPr>
        <p:spPr>
          <a:xfrm flipH="1">
            <a:off x="2311345" y="5774529"/>
            <a:ext cx="1887023" cy="0"/>
          </a:xfrm>
          <a:prstGeom prst="line">
            <a:avLst/>
          </a:prstGeom>
          <a:ln w="38100">
            <a:prstDash val="sysDot"/>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1EAC6AD2-3C4E-CEE7-BECA-A44D5E304E49}"/>
              </a:ext>
            </a:extLst>
          </p:cNvPr>
          <p:cNvSpPr/>
          <p:nvPr/>
        </p:nvSpPr>
        <p:spPr>
          <a:xfrm>
            <a:off x="4068714" y="1023408"/>
            <a:ext cx="4338686" cy="122339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74385ACB-3C23-B373-9A88-0E7A2B302740}"/>
              </a:ext>
            </a:extLst>
          </p:cNvPr>
          <p:cNvSpPr/>
          <p:nvPr/>
        </p:nvSpPr>
        <p:spPr>
          <a:xfrm>
            <a:off x="4183668" y="2677206"/>
            <a:ext cx="6137180" cy="122339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136D45B-8CE6-A29F-148B-1FFBAD1403DD}"/>
              </a:ext>
            </a:extLst>
          </p:cNvPr>
          <p:cNvSpPr/>
          <p:nvPr/>
        </p:nvSpPr>
        <p:spPr>
          <a:xfrm>
            <a:off x="4191018" y="3998077"/>
            <a:ext cx="5359988" cy="122339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5BAC6B97-8926-E300-06BB-F2869DC1F520}"/>
              </a:ext>
            </a:extLst>
          </p:cNvPr>
          <p:cNvSpPr/>
          <p:nvPr/>
        </p:nvSpPr>
        <p:spPr>
          <a:xfrm>
            <a:off x="4198368" y="5341905"/>
            <a:ext cx="4267984" cy="13795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0638911"/>
      </p:ext>
    </p:extLst>
  </p:cSld>
  <p:clrMapOvr>
    <a:masterClrMapping/>
  </p:clrMapOvr>
  <mc:AlternateContent xmlns:mc="http://schemas.openxmlformats.org/markup-compatibility/2006" xmlns:p14="http://schemas.microsoft.com/office/powerpoint/2010/main">
    <mc:Choice Requires="p14">
      <p:transition spd="slow" p14:dur="2000" advTm="28043"/>
    </mc:Choice>
    <mc:Fallback xmlns="">
      <p:transition spd="slow" advTm="280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dissolve">
                                      <p:cBhvr>
                                        <p:cTn id="7" dur="500"/>
                                        <p:tgtEl>
                                          <p:spTgt spid="7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dissolve">
                                      <p:cBhvr>
                                        <p:cTn id="10" dur="500"/>
                                        <p:tgtEl>
                                          <p:spTgt spid="69"/>
                                        </p:tgtEl>
                                      </p:cBhvr>
                                    </p:animEffect>
                                  </p:childTnLst>
                                </p:cTn>
                              </p:par>
                              <p:par>
                                <p:cTn id="11" presetID="9"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dissolve">
                                      <p:cBhvr>
                                        <p:cTn id="13" dur="500"/>
                                        <p:tgtEl>
                                          <p:spTgt spid="2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dissolve">
                                      <p:cBhvr>
                                        <p:cTn id="16" dur="500"/>
                                        <p:tgtEl>
                                          <p:spTgt spid="73"/>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dissolve">
                                      <p:cBhvr>
                                        <p:cTn id="19"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3" grpId="0" animBg="1"/>
      <p:bldP spid="7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normAutofit/>
          </a:bodyPr>
          <a:lstStyle/>
          <a:p>
            <a:pPr algn="ctr"/>
            <a:r>
              <a:rPr lang="en-US" b="1">
                <a:latin typeface="helvetica" panose="020B0604020202020204" pitchFamily="34" charset="0"/>
                <a:cs typeface="helvetica" panose="020B0604020202020204" pitchFamily="34" charset="0"/>
              </a:rPr>
              <a:t>Current Practice of Performance Isolation</a:t>
            </a:r>
          </a:p>
        </p:txBody>
      </p:sp>
      <p:sp>
        <p:nvSpPr>
          <p:cNvPr id="4" name="灯片编号占位符 3">
            <a:extLst>
              <a:ext uri="{FF2B5EF4-FFF2-40B4-BE49-F238E27FC236}">
                <a16:creationId xmlns:a16="http://schemas.microsoft.com/office/drawing/2014/main" id="{BE8CE22D-5996-F419-F3A1-2D704A36C80D}"/>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5" name="文本框 4">
            <a:extLst>
              <a:ext uri="{FF2B5EF4-FFF2-40B4-BE49-F238E27FC236}">
                <a16:creationId xmlns:a16="http://schemas.microsoft.com/office/drawing/2014/main" id="{9CF6184C-AEF1-F462-5095-E36FB5A10DF3}"/>
              </a:ext>
            </a:extLst>
          </p:cNvPr>
          <p:cNvSpPr txBox="1"/>
          <p:nvPr/>
        </p:nvSpPr>
        <p:spPr>
          <a:xfrm>
            <a:off x="0" y="1062897"/>
            <a:ext cx="11058525" cy="523220"/>
          </a:xfrm>
          <a:prstGeom prst="rect">
            <a:avLst/>
          </a:prstGeom>
          <a:noFill/>
        </p:spPr>
        <p:txBody>
          <a:bodyPr wrap="square">
            <a:spAutoFit/>
          </a:bodyPr>
          <a:lstStyle/>
          <a:p>
            <a:r>
              <a:rPr lang="en-US" altLang="zh-CN" sz="2800" b="1">
                <a:cs typeface="Calibri Light"/>
              </a:rPr>
              <a:t>Practice 1: performance isolation by partitioning hardware resource</a:t>
            </a:r>
            <a:endParaRPr lang="zh-CN" altLang="en-US" sz="2800" b="1"/>
          </a:p>
        </p:txBody>
      </p:sp>
      <p:sp>
        <p:nvSpPr>
          <p:cNvPr id="6" name="文本框 52">
            <a:extLst>
              <a:ext uri="{FF2B5EF4-FFF2-40B4-BE49-F238E27FC236}">
                <a16:creationId xmlns:a16="http://schemas.microsoft.com/office/drawing/2014/main" id="{01F85073-1B40-4C44-89E1-920288E4A759}"/>
              </a:ext>
            </a:extLst>
          </p:cNvPr>
          <p:cNvSpPr txBox="1"/>
          <p:nvPr/>
        </p:nvSpPr>
        <p:spPr>
          <a:xfrm>
            <a:off x="440386" y="1789873"/>
            <a:ext cx="1589417"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Application</a:t>
            </a:r>
            <a:endParaRPr lang="zh-CN" altLang="en-US" b="1">
              <a:latin typeface="helvetica" panose="020B0604020202020204" pitchFamily="34" charset="0"/>
              <a:cs typeface="helvetica" panose="020B0604020202020204" pitchFamily="34" charset="0"/>
            </a:endParaRPr>
          </a:p>
        </p:txBody>
      </p:sp>
      <p:cxnSp>
        <p:nvCxnSpPr>
          <p:cNvPr id="17" name="Straight Connector 16">
            <a:extLst>
              <a:ext uri="{FF2B5EF4-FFF2-40B4-BE49-F238E27FC236}">
                <a16:creationId xmlns:a16="http://schemas.microsoft.com/office/drawing/2014/main" id="{AC5804C8-3791-E4C1-488C-066CE9A7C2D8}"/>
              </a:ext>
            </a:extLst>
          </p:cNvPr>
          <p:cNvCxnSpPr>
            <a:cxnSpLocks/>
          </p:cNvCxnSpPr>
          <p:nvPr/>
        </p:nvCxnSpPr>
        <p:spPr>
          <a:xfrm flipV="1">
            <a:off x="2330451" y="1974539"/>
            <a:ext cx="0" cy="4424041"/>
          </a:xfrm>
          <a:prstGeom prst="line">
            <a:avLst/>
          </a:prstGeom>
          <a:ln w="57150">
            <a:prstDash val="sysDash"/>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CF957C75-54A5-9F9F-F80E-D97578791E95}"/>
              </a:ext>
            </a:extLst>
          </p:cNvPr>
          <p:cNvGrpSpPr/>
          <p:nvPr/>
        </p:nvGrpSpPr>
        <p:grpSpPr>
          <a:xfrm>
            <a:off x="360621" y="4965568"/>
            <a:ext cx="1416160" cy="997446"/>
            <a:chOff x="3321735" y="4447707"/>
            <a:chExt cx="1416160" cy="997446"/>
          </a:xfrm>
        </p:grpSpPr>
        <p:sp>
          <p:nvSpPr>
            <p:cNvPr id="49" name="文本框 2">
              <a:extLst>
                <a:ext uri="{FF2B5EF4-FFF2-40B4-BE49-F238E27FC236}">
                  <a16:creationId xmlns:a16="http://schemas.microsoft.com/office/drawing/2014/main" id="{9C4A9AB4-2B5C-C7B4-32E5-2364C901569B}"/>
                </a:ext>
              </a:extLst>
            </p:cNvPr>
            <p:cNvSpPr txBox="1"/>
            <p:nvPr/>
          </p:nvSpPr>
          <p:spPr>
            <a:xfrm>
              <a:off x="3332006" y="4447707"/>
              <a:ext cx="1005840" cy="4572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50" name="文本框 2">
              <a:extLst>
                <a:ext uri="{FF2B5EF4-FFF2-40B4-BE49-F238E27FC236}">
                  <a16:creationId xmlns:a16="http://schemas.microsoft.com/office/drawing/2014/main" id="{80DD3CF0-1E52-C5F4-2247-0D71875B94F2}"/>
                </a:ext>
              </a:extLst>
            </p:cNvPr>
            <p:cNvSpPr txBox="1"/>
            <p:nvPr/>
          </p:nvSpPr>
          <p:spPr>
            <a:xfrm>
              <a:off x="3657934" y="4756873"/>
              <a:ext cx="1079961" cy="4572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51" name="文本框 2">
              <a:extLst>
                <a:ext uri="{FF2B5EF4-FFF2-40B4-BE49-F238E27FC236}">
                  <a16:creationId xmlns:a16="http://schemas.microsoft.com/office/drawing/2014/main" id="{ACED0FC2-2ED4-26AA-E0CD-6265CA892366}"/>
                </a:ext>
              </a:extLst>
            </p:cNvPr>
            <p:cNvSpPr txBox="1"/>
            <p:nvPr/>
          </p:nvSpPr>
          <p:spPr>
            <a:xfrm>
              <a:off x="3321735" y="5079393"/>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18" name="Rectangle: Rounded Corners 17">
            <a:extLst>
              <a:ext uri="{FF2B5EF4-FFF2-40B4-BE49-F238E27FC236}">
                <a16:creationId xmlns:a16="http://schemas.microsoft.com/office/drawing/2014/main" id="{14FBEF76-B1DB-04E1-8F7F-E74BE7F128A4}"/>
              </a:ext>
            </a:extLst>
          </p:cNvPr>
          <p:cNvSpPr/>
          <p:nvPr/>
        </p:nvSpPr>
        <p:spPr>
          <a:xfrm>
            <a:off x="2688952" y="2194459"/>
            <a:ext cx="1995383" cy="2148941"/>
          </a:xfrm>
          <a:prstGeom prst="round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文本框 52">
            <a:extLst>
              <a:ext uri="{FF2B5EF4-FFF2-40B4-BE49-F238E27FC236}">
                <a16:creationId xmlns:a16="http://schemas.microsoft.com/office/drawing/2014/main" id="{C76FAFFA-DB40-757A-3191-D024EA66DAB0}"/>
              </a:ext>
            </a:extLst>
          </p:cNvPr>
          <p:cNvSpPr txBox="1"/>
          <p:nvPr/>
        </p:nvSpPr>
        <p:spPr>
          <a:xfrm>
            <a:off x="3035337" y="1746461"/>
            <a:ext cx="1589417"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Application</a:t>
            </a:r>
            <a:endParaRPr lang="zh-CN" altLang="en-US" b="1">
              <a:latin typeface="helvetica" panose="020B0604020202020204" pitchFamily="34" charset="0"/>
              <a:cs typeface="helvetica" panose="020B0604020202020204" pitchFamily="34" charset="0"/>
            </a:endParaRPr>
          </a:p>
        </p:txBody>
      </p:sp>
      <p:grpSp>
        <p:nvGrpSpPr>
          <p:cNvPr id="43" name="Group 42">
            <a:extLst>
              <a:ext uri="{FF2B5EF4-FFF2-40B4-BE49-F238E27FC236}">
                <a16:creationId xmlns:a16="http://schemas.microsoft.com/office/drawing/2014/main" id="{1124148D-A30A-A66E-25DC-338F54B376DD}"/>
              </a:ext>
            </a:extLst>
          </p:cNvPr>
          <p:cNvGrpSpPr/>
          <p:nvPr/>
        </p:nvGrpSpPr>
        <p:grpSpPr>
          <a:xfrm>
            <a:off x="3101593" y="4937849"/>
            <a:ext cx="1416160" cy="997446"/>
            <a:chOff x="3321735" y="4447707"/>
            <a:chExt cx="1416160" cy="997446"/>
          </a:xfrm>
        </p:grpSpPr>
        <p:sp>
          <p:nvSpPr>
            <p:cNvPr id="40" name="文本框 2">
              <a:extLst>
                <a:ext uri="{FF2B5EF4-FFF2-40B4-BE49-F238E27FC236}">
                  <a16:creationId xmlns:a16="http://schemas.microsoft.com/office/drawing/2014/main" id="{73B0F336-B3EB-E5B3-AA44-BAB711273406}"/>
                </a:ext>
              </a:extLst>
            </p:cNvPr>
            <p:cNvSpPr txBox="1"/>
            <p:nvPr/>
          </p:nvSpPr>
          <p:spPr>
            <a:xfrm>
              <a:off x="3332006" y="4447707"/>
              <a:ext cx="1005840" cy="4572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41" name="文本框 2">
              <a:extLst>
                <a:ext uri="{FF2B5EF4-FFF2-40B4-BE49-F238E27FC236}">
                  <a16:creationId xmlns:a16="http://schemas.microsoft.com/office/drawing/2014/main" id="{1056511A-539D-A6F3-2A55-CC53696B8AFB}"/>
                </a:ext>
              </a:extLst>
            </p:cNvPr>
            <p:cNvSpPr txBox="1"/>
            <p:nvPr/>
          </p:nvSpPr>
          <p:spPr>
            <a:xfrm>
              <a:off x="3657934" y="4756873"/>
              <a:ext cx="1079961" cy="4572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42" name="文本框 2">
              <a:extLst>
                <a:ext uri="{FF2B5EF4-FFF2-40B4-BE49-F238E27FC236}">
                  <a16:creationId xmlns:a16="http://schemas.microsoft.com/office/drawing/2014/main" id="{1BD9749D-7DBF-16C7-6476-C94CFD9981B2}"/>
                </a:ext>
              </a:extLst>
            </p:cNvPr>
            <p:cNvSpPr txBox="1"/>
            <p:nvPr/>
          </p:nvSpPr>
          <p:spPr>
            <a:xfrm>
              <a:off x="3321735" y="5079393"/>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27" name="Rectangle: Rounded Corners 26">
            <a:extLst>
              <a:ext uri="{FF2B5EF4-FFF2-40B4-BE49-F238E27FC236}">
                <a16:creationId xmlns:a16="http://schemas.microsoft.com/office/drawing/2014/main" id="{C4DAAF26-3718-B20B-C640-C76959764D37}"/>
              </a:ext>
            </a:extLst>
          </p:cNvPr>
          <p:cNvSpPr/>
          <p:nvPr/>
        </p:nvSpPr>
        <p:spPr>
          <a:xfrm>
            <a:off x="744635" y="3054947"/>
            <a:ext cx="1005840" cy="1014879"/>
          </a:xfrm>
          <a:prstGeom prst="roundRect">
            <a:avLst/>
          </a:prstGeom>
          <a:ln w="38100">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0" name="TextBox 119">
            <a:extLst>
              <a:ext uri="{FF2B5EF4-FFF2-40B4-BE49-F238E27FC236}">
                <a16:creationId xmlns:a16="http://schemas.microsoft.com/office/drawing/2014/main" id="{ED12C0C2-C903-E0E3-682D-D70CF756B9A7}"/>
              </a:ext>
            </a:extLst>
          </p:cNvPr>
          <p:cNvSpPr txBox="1"/>
          <p:nvPr/>
        </p:nvSpPr>
        <p:spPr>
          <a:xfrm>
            <a:off x="5549300" y="1746461"/>
            <a:ext cx="6318781" cy="2062103"/>
          </a:xfrm>
          <a:prstGeom prst="rect">
            <a:avLst/>
          </a:prstGeom>
          <a:noFill/>
        </p:spPr>
        <p:txBody>
          <a:bodyPr wrap="square">
            <a:spAutoFit/>
          </a:bodyPr>
          <a:lstStyle/>
          <a:p>
            <a:r>
              <a:rPr lang="en-US" sz="3200" b="1"/>
              <a:t>Problems</a:t>
            </a:r>
            <a:r>
              <a:rPr lang="en-US" sz="2800" b="1"/>
              <a:t>:</a:t>
            </a:r>
            <a:endParaRPr lang="en-US" sz="2000" b="1"/>
          </a:p>
          <a:p>
            <a:endParaRPr lang="en-US" sz="1600"/>
          </a:p>
          <a:p>
            <a:pPr marL="228600" indent="-228600">
              <a:buFont typeface="Arial" panose="020B0604020202020204" pitchFamily="34" charset="0"/>
              <a:buChar char="•"/>
            </a:pPr>
            <a:r>
              <a:rPr lang="en-US" sz="2000"/>
              <a:t>Application virtual resource is </a:t>
            </a:r>
            <a:r>
              <a:rPr lang="en-US" sz="2000" b="1">
                <a:latin typeface="helvetica" panose="020B0604020202020204" pitchFamily="34" charset="0"/>
                <a:cs typeface="helvetica" panose="020B0604020202020204" pitchFamily="34" charset="0"/>
              </a:rPr>
              <a:t>i</a:t>
            </a:r>
            <a:r>
              <a:rPr lang="en-US" altLang="zh-CN" sz="2000" b="1">
                <a:latin typeface="helvetica" panose="020B0604020202020204" pitchFamily="34" charset="0"/>
                <a:cs typeface="helvetica" panose="020B0604020202020204" pitchFamily="34" charset="0"/>
              </a:rPr>
              <a:t>nvisible </a:t>
            </a:r>
            <a:r>
              <a:rPr lang="en-US" altLang="zh-CN" sz="2000">
                <a:latin typeface="helvetica" panose="020B0604020202020204" pitchFamily="34" charset="0"/>
                <a:cs typeface="helvetica" panose="020B0604020202020204" pitchFamily="34" charset="0"/>
              </a:rPr>
              <a:t>to OS</a:t>
            </a:r>
            <a:endParaRPr lang="en-US" sz="2000">
              <a:cs typeface="helvetica" panose="020B0604020202020204" pitchFamily="34" charset="0"/>
            </a:endParaRPr>
          </a:p>
          <a:p>
            <a:pPr marL="228600" indent="-228600">
              <a:buFont typeface="Arial" panose="020B0604020202020204" pitchFamily="34" charset="0"/>
              <a:buChar char="•"/>
            </a:pPr>
            <a:endParaRPr lang="en-US" sz="2000">
              <a:cs typeface="helvetica" panose="020B0604020202020204" pitchFamily="34" charset="0"/>
            </a:endParaRPr>
          </a:p>
          <a:p>
            <a:pPr marL="228600" indent="-228600">
              <a:buFont typeface="Arial" panose="020B0604020202020204" pitchFamily="34" charset="0"/>
              <a:buChar char="•"/>
            </a:pPr>
            <a:r>
              <a:rPr lang="en-US" sz="2000">
                <a:cs typeface="helvetica" panose="020B0604020202020204" pitchFamily="34" charset="0"/>
              </a:rPr>
              <a:t>Allocating hardware resource can’t directly affect application resource contention</a:t>
            </a:r>
          </a:p>
        </p:txBody>
      </p:sp>
      <p:cxnSp>
        <p:nvCxnSpPr>
          <p:cNvPr id="12" name="Straight Connector 11">
            <a:extLst>
              <a:ext uri="{FF2B5EF4-FFF2-40B4-BE49-F238E27FC236}">
                <a16:creationId xmlns:a16="http://schemas.microsoft.com/office/drawing/2014/main" id="{D12E48E6-8802-5843-46F4-49839D934FEC}"/>
              </a:ext>
            </a:extLst>
          </p:cNvPr>
          <p:cNvCxnSpPr>
            <a:cxnSpLocks/>
            <a:stCxn id="27" idx="2"/>
            <a:endCxn id="49" idx="0"/>
          </p:cNvCxnSpPr>
          <p:nvPr/>
        </p:nvCxnSpPr>
        <p:spPr>
          <a:xfrm flipH="1">
            <a:off x="873812" y="4069826"/>
            <a:ext cx="373743" cy="895742"/>
          </a:xfrm>
          <a:prstGeom prst="line">
            <a:avLst/>
          </a:prstGeom>
          <a:ln w="12700">
            <a:solidFill>
              <a:schemeClr val="accent6">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14A591-F79D-EFA6-4E74-397CF6129C0B}"/>
              </a:ext>
            </a:extLst>
          </p:cNvPr>
          <p:cNvCxnSpPr>
            <a:cxnSpLocks/>
            <a:stCxn id="27" idx="2"/>
          </p:cNvCxnSpPr>
          <p:nvPr/>
        </p:nvCxnSpPr>
        <p:spPr>
          <a:xfrm flipH="1">
            <a:off x="997790" y="4069826"/>
            <a:ext cx="249765" cy="1499709"/>
          </a:xfrm>
          <a:prstGeom prst="line">
            <a:avLst/>
          </a:prstGeom>
          <a:ln w="12700">
            <a:solidFill>
              <a:schemeClr val="accent6">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A920C3B-A735-E2E4-6F03-32B968F938B9}"/>
              </a:ext>
            </a:extLst>
          </p:cNvPr>
          <p:cNvCxnSpPr>
            <a:cxnSpLocks/>
          </p:cNvCxnSpPr>
          <p:nvPr/>
        </p:nvCxnSpPr>
        <p:spPr>
          <a:xfrm>
            <a:off x="1277250" y="4097338"/>
            <a:ext cx="223460" cy="1096830"/>
          </a:xfrm>
          <a:prstGeom prst="line">
            <a:avLst/>
          </a:prstGeom>
          <a:ln w="12700">
            <a:solidFill>
              <a:schemeClr val="accent6">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4D07B9-7199-6DE5-E714-47D16113E29C}"/>
              </a:ext>
            </a:extLst>
          </p:cNvPr>
          <p:cNvCxnSpPr>
            <a:cxnSpLocks/>
            <a:stCxn id="18" idx="2"/>
          </p:cNvCxnSpPr>
          <p:nvPr/>
        </p:nvCxnSpPr>
        <p:spPr>
          <a:xfrm>
            <a:off x="3686644" y="4343400"/>
            <a:ext cx="587371" cy="850768"/>
          </a:xfrm>
          <a:prstGeom prst="line">
            <a:avLst/>
          </a:prstGeom>
          <a:ln w="1270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37B61D-DF9D-3AFE-E7CD-4D4232B4025B}"/>
              </a:ext>
            </a:extLst>
          </p:cNvPr>
          <p:cNvCxnSpPr>
            <a:cxnSpLocks/>
            <a:stCxn id="18" idx="2"/>
          </p:cNvCxnSpPr>
          <p:nvPr/>
        </p:nvCxnSpPr>
        <p:spPr>
          <a:xfrm flipH="1">
            <a:off x="3284171" y="4343400"/>
            <a:ext cx="402473" cy="1205851"/>
          </a:xfrm>
          <a:prstGeom prst="line">
            <a:avLst/>
          </a:prstGeom>
          <a:ln w="1270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06AE468-05D1-E219-EAA6-975EE2F6FAC1}"/>
              </a:ext>
            </a:extLst>
          </p:cNvPr>
          <p:cNvCxnSpPr>
            <a:cxnSpLocks/>
            <a:stCxn id="18" idx="2"/>
          </p:cNvCxnSpPr>
          <p:nvPr/>
        </p:nvCxnSpPr>
        <p:spPr>
          <a:xfrm>
            <a:off x="3686644" y="4343400"/>
            <a:ext cx="143402" cy="602925"/>
          </a:xfrm>
          <a:prstGeom prst="line">
            <a:avLst/>
          </a:prstGeom>
          <a:ln w="1270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0AC21735-5919-7DCF-DBE5-4193E5F5043B}"/>
              </a:ext>
            </a:extLst>
          </p:cNvPr>
          <p:cNvGrpSpPr/>
          <p:nvPr/>
        </p:nvGrpSpPr>
        <p:grpSpPr>
          <a:xfrm>
            <a:off x="2973635" y="2324435"/>
            <a:ext cx="1505594" cy="1884342"/>
            <a:chOff x="2973635" y="2324435"/>
            <a:chExt cx="1505594" cy="1884342"/>
          </a:xfrm>
        </p:grpSpPr>
        <p:grpSp>
          <p:nvGrpSpPr>
            <p:cNvPr id="55" name="Group 54">
              <a:extLst>
                <a:ext uri="{FF2B5EF4-FFF2-40B4-BE49-F238E27FC236}">
                  <a16:creationId xmlns:a16="http://schemas.microsoft.com/office/drawing/2014/main" id="{3AD71397-CE57-D720-900D-3DE3064AAAAE}"/>
                </a:ext>
              </a:extLst>
            </p:cNvPr>
            <p:cNvGrpSpPr/>
            <p:nvPr/>
          </p:nvGrpSpPr>
          <p:grpSpPr>
            <a:xfrm>
              <a:off x="2973635" y="2324435"/>
              <a:ext cx="1379174" cy="1884342"/>
              <a:chOff x="2821858" y="2460111"/>
              <a:chExt cx="1379174" cy="1884342"/>
            </a:xfrm>
          </p:grpSpPr>
          <p:sp>
            <p:nvSpPr>
              <p:cNvPr id="28" name="任意多边形: 形状 54">
                <a:extLst>
                  <a:ext uri="{FF2B5EF4-FFF2-40B4-BE49-F238E27FC236}">
                    <a16:creationId xmlns:a16="http://schemas.microsoft.com/office/drawing/2014/main" id="{F2B4AD17-89B2-6A39-8AE4-DA9E0CAE112E}"/>
                  </a:ext>
                </a:extLst>
              </p:cNvPr>
              <p:cNvSpPr/>
              <p:nvPr/>
            </p:nvSpPr>
            <p:spPr>
              <a:xfrm rot="16200000">
                <a:off x="2684800" y="2778869"/>
                <a:ext cx="766351" cy="128835"/>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54">
                <a:extLst>
                  <a:ext uri="{FF2B5EF4-FFF2-40B4-BE49-F238E27FC236}">
                    <a16:creationId xmlns:a16="http://schemas.microsoft.com/office/drawing/2014/main" id="{D062828E-9A29-F772-A836-42C3D15DE0A5}"/>
                  </a:ext>
                </a:extLst>
              </p:cNvPr>
              <p:cNvSpPr/>
              <p:nvPr/>
            </p:nvSpPr>
            <p:spPr>
              <a:xfrm rot="16200000">
                <a:off x="3700592" y="2762931"/>
                <a:ext cx="724465" cy="11882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5" name="图形 74">
                <a:extLst>
                  <a:ext uri="{FF2B5EF4-FFF2-40B4-BE49-F238E27FC236}">
                    <a16:creationId xmlns:a16="http://schemas.microsoft.com/office/drawing/2014/main" id="{B1F08F6B-7006-EC89-0D83-802E8430C75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21858" y="3862226"/>
                <a:ext cx="482227" cy="482227"/>
              </a:xfrm>
              <a:prstGeom prst="rect">
                <a:avLst/>
              </a:prstGeom>
            </p:spPr>
          </p:pic>
          <p:pic>
            <p:nvPicPr>
              <p:cNvPr id="54" name="图形 122">
                <a:extLst>
                  <a:ext uri="{FF2B5EF4-FFF2-40B4-BE49-F238E27FC236}">
                    <a16:creationId xmlns:a16="http://schemas.microsoft.com/office/drawing/2014/main" id="{53142581-40EF-2EEE-5885-71961AEDB2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37321" y="3865796"/>
                <a:ext cx="463711" cy="463711"/>
              </a:xfrm>
              <a:prstGeom prst="rect">
                <a:avLst/>
              </a:prstGeom>
            </p:spPr>
          </p:pic>
        </p:grpSp>
        <p:cxnSp>
          <p:nvCxnSpPr>
            <p:cNvPr id="58" name="Straight Connector 45">
              <a:extLst>
                <a:ext uri="{FF2B5EF4-FFF2-40B4-BE49-F238E27FC236}">
                  <a16:creationId xmlns:a16="http://schemas.microsoft.com/office/drawing/2014/main" id="{2CC22A21-5F61-4A7D-4E3B-27A88F759735}"/>
                </a:ext>
              </a:extLst>
            </p:cNvPr>
            <p:cNvCxnSpPr>
              <a:cxnSpLocks/>
            </p:cNvCxnSpPr>
            <p:nvPr/>
          </p:nvCxnSpPr>
          <p:spPr>
            <a:xfrm flipH="1">
              <a:off x="3284171" y="3135671"/>
              <a:ext cx="871018" cy="543620"/>
            </a:xfrm>
            <a:prstGeom prst="line">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Straight Connector 45">
              <a:extLst>
                <a:ext uri="{FF2B5EF4-FFF2-40B4-BE49-F238E27FC236}">
                  <a16:creationId xmlns:a16="http://schemas.microsoft.com/office/drawing/2014/main" id="{1558DDC2-4064-9569-9A21-ADE912F8C322}"/>
                </a:ext>
              </a:extLst>
            </p:cNvPr>
            <p:cNvCxnSpPr>
              <a:cxnSpLocks/>
            </p:cNvCxnSpPr>
            <p:nvPr/>
          </p:nvCxnSpPr>
          <p:spPr>
            <a:xfrm>
              <a:off x="3214748" y="3268929"/>
              <a:ext cx="12235" cy="401510"/>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Straight Connector 45">
              <a:extLst>
                <a:ext uri="{FF2B5EF4-FFF2-40B4-BE49-F238E27FC236}">
                  <a16:creationId xmlns:a16="http://schemas.microsoft.com/office/drawing/2014/main" id="{80B0E8BC-F3B5-4AD8-A20B-50615A0D1E8E}"/>
                </a:ext>
              </a:extLst>
            </p:cNvPr>
            <p:cNvCxnSpPr>
              <a:cxnSpLocks/>
            </p:cNvCxnSpPr>
            <p:nvPr/>
          </p:nvCxnSpPr>
          <p:spPr>
            <a:xfrm flipH="1">
              <a:off x="4083063" y="3175203"/>
              <a:ext cx="72126" cy="524372"/>
            </a:xfrm>
            <a:prstGeom prst="line">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Explosion: 8 Points 76">
              <a:extLst>
                <a:ext uri="{FF2B5EF4-FFF2-40B4-BE49-F238E27FC236}">
                  <a16:creationId xmlns:a16="http://schemas.microsoft.com/office/drawing/2014/main" id="{DC6E7412-5086-50B8-DCE7-B9A669D433AB}"/>
                </a:ext>
              </a:extLst>
            </p:cNvPr>
            <p:cNvSpPr/>
            <p:nvPr/>
          </p:nvSpPr>
          <p:spPr>
            <a:xfrm>
              <a:off x="3876576" y="2524923"/>
              <a:ext cx="602653" cy="613155"/>
            </a:xfrm>
            <a:custGeom>
              <a:avLst/>
              <a:gdLst>
                <a:gd name="connsiteX0" fmla="*/ 301326 w 602653"/>
                <a:gd name="connsiteY0" fmla="*/ 164643 h 613155"/>
                <a:gd name="connsiteX1" fmla="*/ 405172 w 602653"/>
                <a:gd name="connsiteY1" fmla="*/ 0 h 613155"/>
                <a:gd name="connsiteX2" fmla="*/ 394933 w 602653"/>
                <a:gd name="connsiteY2" fmla="*/ 151159 h 613155"/>
                <a:gd name="connsiteX3" fmla="*/ 512813 w 602653"/>
                <a:gd name="connsiteY3" fmla="*/ 126519 h 613155"/>
                <a:gd name="connsiteX4" fmla="*/ 465995 w 602653"/>
                <a:gd name="connsiteY4" fmla="*/ 207649 h 613155"/>
                <a:gd name="connsiteX5" fmla="*/ 588618 w 602653"/>
                <a:gd name="connsiteY5" fmla="*/ 230983 h 613155"/>
                <a:gd name="connsiteX6" fmla="*/ 491245 w 602653"/>
                <a:gd name="connsiteY6" fmla="*/ 297351 h 613155"/>
                <a:gd name="connsiteX7" fmla="*/ 602653 w 602653"/>
                <a:gd name="connsiteY7" fmla="*/ 377260 h 613155"/>
                <a:gd name="connsiteX8" fmla="*/ 469762 w 602653"/>
                <a:gd name="connsiteY8" fmla="*/ 367382 h 613155"/>
                <a:gd name="connsiteX9" fmla="*/ 506256 w 602653"/>
                <a:gd name="connsiteY9" fmla="*/ 513659 h 613155"/>
                <a:gd name="connsiteX10" fmla="*/ 391166 w 602653"/>
                <a:gd name="connsiteY10" fmla="*/ 410388 h 613155"/>
                <a:gd name="connsiteX11" fmla="*/ 369599 w 602653"/>
                <a:gd name="connsiteY11" fmla="*/ 560270 h 613155"/>
                <a:gd name="connsiteX12" fmla="*/ 293849 w 602653"/>
                <a:gd name="connsiteY12" fmla="*/ 423956 h 613155"/>
                <a:gd name="connsiteX13" fmla="*/ 236736 w 602653"/>
                <a:gd name="connsiteY13" fmla="*/ 613155 h 613155"/>
                <a:gd name="connsiteX14" fmla="*/ 215253 w 602653"/>
                <a:gd name="connsiteY14" fmla="*/ 443600 h 613155"/>
                <a:gd name="connsiteX15" fmla="*/ 132862 w 602653"/>
                <a:gd name="connsiteY15" fmla="*/ 500090 h 613155"/>
                <a:gd name="connsiteX16" fmla="*/ 158112 w 602653"/>
                <a:gd name="connsiteY16" fmla="*/ 395626 h 613155"/>
                <a:gd name="connsiteX17" fmla="*/ 3766 w 602653"/>
                <a:gd name="connsiteY17" fmla="*/ 414078 h 613155"/>
                <a:gd name="connsiteX18" fmla="*/ 103846 w 602653"/>
                <a:gd name="connsiteY18" fmla="*/ 334254 h 613155"/>
                <a:gd name="connsiteX19" fmla="*/ 0 w 602653"/>
                <a:gd name="connsiteY19" fmla="*/ 244552 h 613155"/>
                <a:gd name="connsiteX20" fmla="*/ 129096 w 602653"/>
                <a:gd name="connsiteY20" fmla="*/ 216222 h 613155"/>
                <a:gd name="connsiteX21" fmla="*/ 10323 w 602653"/>
                <a:gd name="connsiteY21" fmla="*/ 65147 h 613155"/>
                <a:gd name="connsiteX22" fmla="*/ 204009 w 602653"/>
                <a:gd name="connsiteY22" fmla="*/ 179404 h 613155"/>
                <a:gd name="connsiteX23" fmla="*/ 233025 w 602653"/>
                <a:gd name="connsiteY23" fmla="*/ 65147 h 613155"/>
                <a:gd name="connsiteX24" fmla="*/ 301326 w 602653"/>
                <a:gd name="connsiteY24" fmla="*/ 164643 h 61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2653" h="613155" fill="none" extrusionOk="0">
                  <a:moveTo>
                    <a:pt x="301326" y="164643"/>
                  </a:moveTo>
                  <a:cubicBezTo>
                    <a:pt x="352405" y="84935"/>
                    <a:pt x="384439" y="37633"/>
                    <a:pt x="405172" y="0"/>
                  </a:cubicBezTo>
                  <a:cubicBezTo>
                    <a:pt x="397306" y="52052"/>
                    <a:pt x="398745" y="92982"/>
                    <a:pt x="394933" y="151159"/>
                  </a:cubicBezTo>
                  <a:cubicBezTo>
                    <a:pt x="414983" y="151977"/>
                    <a:pt x="475637" y="141544"/>
                    <a:pt x="512813" y="126519"/>
                  </a:cubicBezTo>
                  <a:cubicBezTo>
                    <a:pt x="485356" y="159825"/>
                    <a:pt x="480182" y="199426"/>
                    <a:pt x="465995" y="207649"/>
                  </a:cubicBezTo>
                  <a:cubicBezTo>
                    <a:pt x="524782" y="212259"/>
                    <a:pt x="560549" y="223548"/>
                    <a:pt x="588618" y="230983"/>
                  </a:cubicBezTo>
                  <a:cubicBezTo>
                    <a:pt x="554419" y="264736"/>
                    <a:pt x="511288" y="286298"/>
                    <a:pt x="491245" y="297351"/>
                  </a:cubicBezTo>
                  <a:cubicBezTo>
                    <a:pt x="544082" y="333890"/>
                    <a:pt x="552471" y="348192"/>
                    <a:pt x="602653" y="377260"/>
                  </a:cubicBezTo>
                  <a:cubicBezTo>
                    <a:pt x="568619" y="376833"/>
                    <a:pt x="534845" y="372680"/>
                    <a:pt x="469762" y="367382"/>
                  </a:cubicBezTo>
                  <a:cubicBezTo>
                    <a:pt x="484683" y="440597"/>
                    <a:pt x="493048" y="476780"/>
                    <a:pt x="506256" y="513659"/>
                  </a:cubicBezTo>
                  <a:cubicBezTo>
                    <a:pt x="497777" y="494649"/>
                    <a:pt x="435079" y="462269"/>
                    <a:pt x="391166" y="410388"/>
                  </a:cubicBezTo>
                  <a:cubicBezTo>
                    <a:pt x="372747" y="451886"/>
                    <a:pt x="383737" y="496959"/>
                    <a:pt x="369599" y="560270"/>
                  </a:cubicBezTo>
                  <a:cubicBezTo>
                    <a:pt x="334138" y="514780"/>
                    <a:pt x="310290" y="459366"/>
                    <a:pt x="293849" y="423956"/>
                  </a:cubicBezTo>
                  <a:cubicBezTo>
                    <a:pt x="281237" y="487666"/>
                    <a:pt x="255784" y="572037"/>
                    <a:pt x="236736" y="613155"/>
                  </a:cubicBezTo>
                  <a:cubicBezTo>
                    <a:pt x="221537" y="550044"/>
                    <a:pt x="207246" y="494275"/>
                    <a:pt x="215253" y="443600"/>
                  </a:cubicBezTo>
                  <a:cubicBezTo>
                    <a:pt x="183659" y="467202"/>
                    <a:pt x="145007" y="484787"/>
                    <a:pt x="132862" y="500090"/>
                  </a:cubicBezTo>
                  <a:cubicBezTo>
                    <a:pt x="137770" y="477789"/>
                    <a:pt x="141824" y="426033"/>
                    <a:pt x="158112" y="395626"/>
                  </a:cubicBezTo>
                  <a:cubicBezTo>
                    <a:pt x="85209" y="400200"/>
                    <a:pt x="50288" y="397449"/>
                    <a:pt x="3766" y="414078"/>
                  </a:cubicBezTo>
                  <a:cubicBezTo>
                    <a:pt x="8138" y="397322"/>
                    <a:pt x="76941" y="368506"/>
                    <a:pt x="103846" y="334254"/>
                  </a:cubicBezTo>
                  <a:cubicBezTo>
                    <a:pt x="71109" y="295049"/>
                    <a:pt x="32699" y="281623"/>
                    <a:pt x="0" y="244552"/>
                  </a:cubicBezTo>
                  <a:cubicBezTo>
                    <a:pt x="53092" y="234151"/>
                    <a:pt x="92272" y="222238"/>
                    <a:pt x="129096" y="216222"/>
                  </a:cubicBezTo>
                  <a:cubicBezTo>
                    <a:pt x="89746" y="149674"/>
                    <a:pt x="36745" y="79936"/>
                    <a:pt x="10323" y="65147"/>
                  </a:cubicBezTo>
                  <a:cubicBezTo>
                    <a:pt x="101841" y="106302"/>
                    <a:pt x="123353" y="129326"/>
                    <a:pt x="204009" y="179404"/>
                  </a:cubicBezTo>
                  <a:cubicBezTo>
                    <a:pt x="216998" y="126687"/>
                    <a:pt x="225663" y="88135"/>
                    <a:pt x="233025" y="65147"/>
                  </a:cubicBezTo>
                  <a:cubicBezTo>
                    <a:pt x="257789" y="93607"/>
                    <a:pt x="289371" y="155046"/>
                    <a:pt x="301326" y="164643"/>
                  </a:cubicBezTo>
                  <a:close/>
                </a:path>
                <a:path w="602653" h="613155" stroke="0" extrusionOk="0">
                  <a:moveTo>
                    <a:pt x="301326" y="164643"/>
                  </a:moveTo>
                  <a:cubicBezTo>
                    <a:pt x="330800" y="111877"/>
                    <a:pt x="369075" y="56686"/>
                    <a:pt x="405172" y="0"/>
                  </a:cubicBezTo>
                  <a:cubicBezTo>
                    <a:pt x="399829" y="43068"/>
                    <a:pt x="402410" y="97677"/>
                    <a:pt x="394933" y="151159"/>
                  </a:cubicBezTo>
                  <a:cubicBezTo>
                    <a:pt x="414970" y="147028"/>
                    <a:pt x="480155" y="135788"/>
                    <a:pt x="512813" y="126519"/>
                  </a:cubicBezTo>
                  <a:cubicBezTo>
                    <a:pt x="487282" y="160125"/>
                    <a:pt x="483735" y="174368"/>
                    <a:pt x="465995" y="207649"/>
                  </a:cubicBezTo>
                  <a:cubicBezTo>
                    <a:pt x="516607" y="227180"/>
                    <a:pt x="565901" y="235986"/>
                    <a:pt x="588618" y="230983"/>
                  </a:cubicBezTo>
                  <a:cubicBezTo>
                    <a:pt x="553141" y="267486"/>
                    <a:pt x="528696" y="276785"/>
                    <a:pt x="491245" y="297351"/>
                  </a:cubicBezTo>
                  <a:cubicBezTo>
                    <a:pt x="503378" y="321184"/>
                    <a:pt x="580277" y="352945"/>
                    <a:pt x="602653" y="377260"/>
                  </a:cubicBezTo>
                  <a:cubicBezTo>
                    <a:pt x="567213" y="369600"/>
                    <a:pt x="508565" y="375041"/>
                    <a:pt x="469762" y="367382"/>
                  </a:cubicBezTo>
                  <a:cubicBezTo>
                    <a:pt x="483323" y="431131"/>
                    <a:pt x="497863" y="479332"/>
                    <a:pt x="506256" y="513659"/>
                  </a:cubicBezTo>
                  <a:cubicBezTo>
                    <a:pt x="480760" y="489986"/>
                    <a:pt x="399945" y="423965"/>
                    <a:pt x="391166" y="410388"/>
                  </a:cubicBezTo>
                  <a:cubicBezTo>
                    <a:pt x="376717" y="428715"/>
                    <a:pt x="379178" y="508606"/>
                    <a:pt x="369599" y="560270"/>
                  </a:cubicBezTo>
                  <a:cubicBezTo>
                    <a:pt x="339875" y="490519"/>
                    <a:pt x="326962" y="478707"/>
                    <a:pt x="293849" y="423956"/>
                  </a:cubicBezTo>
                  <a:cubicBezTo>
                    <a:pt x="272050" y="445605"/>
                    <a:pt x="258190" y="580872"/>
                    <a:pt x="236736" y="613155"/>
                  </a:cubicBezTo>
                  <a:cubicBezTo>
                    <a:pt x="223736" y="535382"/>
                    <a:pt x="209814" y="465791"/>
                    <a:pt x="215253" y="443600"/>
                  </a:cubicBezTo>
                  <a:cubicBezTo>
                    <a:pt x="189727" y="470692"/>
                    <a:pt x="166766" y="478741"/>
                    <a:pt x="132862" y="500090"/>
                  </a:cubicBezTo>
                  <a:cubicBezTo>
                    <a:pt x="140916" y="457251"/>
                    <a:pt x="152222" y="429331"/>
                    <a:pt x="158112" y="395626"/>
                  </a:cubicBezTo>
                  <a:cubicBezTo>
                    <a:pt x="87941" y="391765"/>
                    <a:pt x="46187" y="417998"/>
                    <a:pt x="3766" y="414078"/>
                  </a:cubicBezTo>
                  <a:cubicBezTo>
                    <a:pt x="46132" y="367376"/>
                    <a:pt x="69900" y="372162"/>
                    <a:pt x="103846" y="334254"/>
                  </a:cubicBezTo>
                  <a:cubicBezTo>
                    <a:pt x="70760" y="314275"/>
                    <a:pt x="33339" y="283135"/>
                    <a:pt x="0" y="244552"/>
                  </a:cubicBezTo>
                  <a:cubicBezTo>
                    <a:pt x="45224" y="241621"/>
                    <a:pt x="76683" y="217522"/>
                    <a:pt x="129096" y="216222"/>
                  </a:cubicBezTo>
                  <a:cubicBezTo>
                    <a:pt x="66343" y="147548"/>
                    <a:pt x="25642" y="109850"/>
                    <a:pt x="10323" y="65147"/>
                  </a:cubicBezTo>
                  <a:cubicBezTo>
                    <a:pt x="75536" y="107314"/>
                    <a:pt x="127790" y="111230"/>
                    <a:pt x="204009" y="179404"/>
                  </a:cubicBezTo>
                  <a:cubicBezTo>
                    <a:pt x="213569" y="163959"/>
                    <a:pt x="216756" y="112443"/>
                    <a:pt x="233025" y="65147"/>
                  </a:cubicBezTo>
                  <a:cubicBezTo>
                    <a:pt x="236765" y="89550"/>
                    <a:pt x="281286" y="127968"/>
                    <a:pt x="301326" y="164643"/>
                  </a:cubicBezTo>
                  <a:close/>
                </a:path>
              </a:pathLst>
            </a:custGeom>
            <a:solidFill>
              <a:schemeClr val="accent2">
                <a:alpha val="90000"/>
              </a:schemeClr>
            </a:solidFill>
            <a:ln>
              <a:extLst>
                <a:ext uri="{C807C97D-BFC1-408E-A445-0C87EB9F89A2}">
                  <ask:lineSketchStyleProps xmlns:ask="http://schemas.microsoft.com/office/drawing/2018/sketchyshapes" sd="2655910064">
                    <a:prstGeom prst="irregularSeal1">
                      <a:avLst/>
                    </a:prstGeom>
                    <ask:type>
                      <ask:lineSketchCurved/>
                    </ask:type>
                  </ask:lineSketchStyleProps>
                </a:ext>
              </a:extLst>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cxnSp>
        <p:nvCxnSpPr>
          <p:cNvPr id="79" name="Straight Connector 45">
            <a:extLst>
              <a:ext uri="{FF2B5EF4-FFF2-40B4-BE49-F238E27FC236}">
                <a16:creationId xmlns:a16="http://schemas.microsoft.com/office/drawing/2014/main" id="{39A3ED3B-A25D-31BA-1A1C-9259EEAD17D9}"/>
              </a:ext>
            </a:extLst>
          </p:cNvPr>
          <p:cNvCxnSpPr>
            <a:cxnSpLocks/>
          </p:cNvCxnSpPr>
          <p:nvPr/>
        </p:nvCxnSpPr>
        <p:spPr>
          <a:xfrm flipH="1" flipV="1">
            <a:off x="4155188" y="2831500"/>
            <a:ext cx="465906" cy="1903180"/>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2" name="文本框 52">
            <a:extLst>
              <a:ext uri="{FF2B5EF4-FFF2-40B4-BE49-F238E27FC236}">
                <a16:creationId xmlns:a16="http://schemas.microsoft.com/office/drawing/2014/main" id="{0F81392B-2410-5724-9BED-8352B495BDD0}"/>
              </a:ext>
            </a:extLst>
          </p:cNvPr>
          <p:cNvSpPr txBox="1"/>
          <p:nvPr/>
        </p:nvSpPr>
        <p:spPr>
          <a:xfrm>
            <a:off x="4207648" y="4676565"/>
            <a:ext cx="1589417"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Interference</a:t>
            </a:r>
            <a:endParaRPr lang="zh-CN" altLang="en-US" b="1">
              <a:latin typeface="helvetica" panose="020B0604020202020204" pitchFamily="34" charset="0"/>
              <a:cs typeface="helvetica" panose="020B0604020202020204" pitchFamily="34" charset="0"/>
            </a:endParaRPr>
          </a:p>
        </p:txBody>
      </p:sp>
    </p:spTree>
    <p:custDataLst>
      <p:tags r:id="rId1"/>
    </p:custDataLst>
    <p:extLst>
      <p:ext uri="{BB962C8B-B14F-4D97-AF65-F5344CB8AC3E}">
        <p14:creationId xmlns:p14="http://schemas.microsoft.com/office/powerpoint/2010/main" val="3379073705"/>
      </p:ext>
    </p:extLst>
  </p:cSld>
  <p:clrMapOvr>
    <a:masterClrMapping/>
  </p:clrMapOvr>
  <mc:AlternateContent xmlns:mc="http://schemas.openxmlformats.org/markup-compatibility/2006" xmlns:p14="http://schemas.microsoft.com/office/powerpoint/2010/main">
    <mc:Choice Requires="p14">
      <p:transition spd="slow" p14:dur="2000" advTm="41849"/>
    </mc:Choice>
    <mc:Fallback xmlns="">
      <p:transition spd="slow" advTm="418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dissolve">
                                      <p:cBhvr>
                                        <p:cTn id="7" dur="500"/>
                                        <p:tgtEl>
                                          <p:spTgt spid="7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dissolve">
                                      <p:cBhvr>
                                        <p:cTn id="10" dur="500"/>
                                        <p:tgtEl>
                                          <p:spTgt spid="82"/>
                                        </p:tgtEl>
                                      </p:cBhvr>
                                    </p:animEffect>
                                  </p:childTnLst>
                                </p:cTn>
                              </p:par>
                              <p:par>
                                <p:cTn id="11" presetID="9" presetClass="entr" presetSubtype="0"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dissolve">
                                      <p:cBhvr>
                                        <p:cTn id="13" dur="500"/>
                                        <p:tgtEl>
                                          <p:spTgt spid="79"/>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8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704E6B7-3BBC-5994-7CFE-9551EB500AF1}"/>
              </a:ext>
            </a:extLst>
          </p:cNvPr>
          <p:cNvSpPr/>
          <p:nvPr/>
        </p:nvSpPr>
        <p:spPr>
          <a:xfrm>
            <a:off x="988698" y="2061713"/>
            <a:ext cx="4868637" cy="4209690"/>
          </a:xfrm>
          <a:prstGeom prst="roundRect">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灯片编号占位符 3">
            <a:extLst>
              <a:ext uri="{FF2B5EF4-FFF2-40B4-BE49-F238E27FC236}">
                <a16:creationId xmlns:a16="http://schemas.microsoft.com/office/drawing/2014/main" id="{6CC6D8D6-130B-F65A-4A73-328F0B04625C}"/>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7" name="Title 1">
            <a:extLst>
              <a:ext uri="{FF2B5EF4-FFF2-40B4-BE49-F238E27FC236}">
                <a16:creationId xmlns:a16="http://schemas.microsoft.com/office/drawing/2014/main" id="{9329A91E-5C93-72E9-14A5-4F1492347BD2}"/>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Current Practice of Performance Isolation</a:t>
            </a:r>
          </a:p>
        </p:txBody>
      </p:sp>
      <p:sp>
        <p:nvSpPr>
          <p:cNvPr id="8" name="文本框 4">
            <a:extLst>
              <a:ext uri="{FF2B5EF4-FFF2-40B4-BE49-F238E27FC236}">
                <a16:creationId xmlns:a16="http://schemas.microsoft.com/office/drawing/2014/main" id="{33AE36AF-F355-DA4B-A8D0-AB918D0B761B}"/>
              </a:ext>
            </a:extLst>
          </p:cNvPr>
          <p:cNvSpPr txBox="1"/>
          <p:nvPr/>
        </p:nvSpPr>
        <p:spPr>
          <a:xfrm>
            <a:off x="0" y="1052286"/>
            <a:ext cx="10447020" cy="523220"/>
          </a:xfrm>
          <a:prstGeom prst="rect">
            <a:avLst/>
          </a:prstGeom>
          <a:noFill/>
        </p:spPr>
        <p:txBody>
          <a:bodyPr wrap="square">
            <a:spAutoFit/>
          </a:bodyPr>
          <a:lstStyle/>
          <a:p>
            <a:r>
              <a:rPr lang="en-US" altLang="zh-CN" sz="2800" b="1">
                <a:cs typeface="Calibri Light"/>
              </a:rPr>
              <a:t>Practice 2: fine-grained resource quota</a:t>
            </a:r>
            <a:endParaRPr lang="zh-CN" altLang="en-US" sz="2800" b="1"/>
          </a:p>
        </p:txBody>
      </p:sp>
      <p:grpSp>
        <p:nvGrpSpPr>
          <p:cNvPr id="22" name="Group 21">
            <a:extLst>
              <a:ext uri="{FF2B5EF4-FFF2-40B4-BE49-F238E27FC236}">
                <a16:creationId xmlns:a16="http://schemas.microsoft.com/office/drawing/2014/main" id="{C16E02EE-9188-8335-F219-96A62656E8A9}"/>
              </a:ext>
            </a:extLst>
          </p:cNvPr>
          <p:cNvGrpSpPr/>
          <p:nvPr/>
        </p:nvGrpSpPr>
        <p:grpSpPr>
          <a:xfrm>
            <a:off x="1209679" y="4364829"/>
            <a:ext cx="2009775" cy="1611921"/>
            <a:chOff x="3219450" y="2312379"/>
            <a:chExt cx="2009775" cy="1611921"/>
          </a:xfrm>
        </p:grpSpPr>
        <p:grpSp>
          <p:nvGrpSpPr>
            <p:cNvPr id="16" name="Group 15">
              <a:extLst>
                <a:ext uri="{FF2B5EF4-FFF2-40B4-BE49-F238E27FC236}">
                  <a16:creationId xmlns:a16="http://schemas.microsoft.com/office/drawing/2014/main" id="{C2A08DC3-A8A5-2B6B-0871-2DE8748223AA}"/>
                </a:ext>
              </a:extLst>
            </p:cNvPr>
            <p:cNvGrpSpPr/>
            <p:nvPr/>
          </p:nvGrpSpPr>
          <p:grpSpPr>
            <a:xfrm>
              <a:off x="3372357" y="2531301"/>
              <a:ext cx="1097281" cy="1241234"/>
              <a:chOff x="3332005" y="4447707"/>
              <a:chExt cx="1097281" cy="1241234"/>
            </a:xfrm>
          </p:grpSpPr>
          <p:sp>
            <p:nvSpPr>
              <p:cNvPr id="17" name="文本框 2">
                <a:extLst>
                  <a:ext uri="{FF2B5EF4-FFF2-40B4-BE49-F238E27FC236}">
                    <a16:creationId xmlns:a16="http://schemas.microsoft.com/office/drawing/2014/main" id="{6E667A14-0C6E-8230-D2FB-6219449D5C4B}"/>
                  </a:ext>
                </a:extLst>
              </p:cNvPr>
              <p:cNvSpPr txBox="1"/>
              <p:nvPr/>
            </p:nvSpPr>
            <p:spPr>
              <a:xfrm>
                <a:off x="3332006" y="4447707"/>
                <a:ext cx="1097280" cy="3657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18" name="文本框 2">
                <a:extLst>
                  <a:ext uri="{FF2B5EF4-FFF2-40B4-BE49-F238E27FC236}">
                    <a16:creationId xmlns:a16="http://schemas.microsoft.com/office/drawing/2014/main" id="{08BFAB18-367E-04F4-2DEC-7F5D86A17C7E}"/>
                  </a:ext>
                </a:extLst>
              </p:cNvPr>
              <p:cNvSpPr txBox="1"/>
              <p:nvPr/>
            </p:nvSpPr>
            <p:spPr>
              <a:xfrm>
                <a:off x="3332005" y="4894657"/>
                <a:ext cx="1097280" cy="36576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19" name="文本框 2">
                <a:extLst>
                  <a:ext uri="{FF2B5EF4-FFF2-40B4-BE49-F238E27FC236}">
                    <a16:creationId xmlns:a16="http://schemas.microsoft.com/office/drawing/2014/main" id="{3CA2C910-ABE9-5DFE-00B9-BC760B55C48A}"/>
                  </a:ext>
                </a:extLst>
              </p:cNvPr>
              <p:cNvSpPr txBox="1"/>
              <p:nvPr/>
            </p:nvSpPr>
            <p:spPr>
              <a:xfrm>
                <a:off x="3332006" y="5323181"/>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21" name="Rectangle 20">
              <a:extLst>
                <a:ext uri="{FF2B5EF4-FFF2-40B4-BE49-F238E27FC236}">
                  <a16:creationId xmlns:a16="http://schemas.microsoft.com/office/drawing/2014/main" id="{25FD3316-9500-11E0-C0AE-A24BBC64CBF3}"/>
                </a:ext>
              </a:extLst>
            </p:cNvPr>
            <p:cNvSpPr/>
            <p:nvPr/>
          </p:nvSpPr>
          <p:spPr>
            <a:xfrm>
              <a:off x="3219450" y="2312379"/>
              <a:ext cx="2009775" cy="1611921"/>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B0B53FD2-ED83-9D2D-DF2B-AE5BFC8F30C8}"/>
              </a:ext>
            </a:extLst>
          </p:cNvPr>
          <p:cNvGrpSpPr/>
          <p:nvPr/>
        </p:nvGrpSpPr>
        <p:grpSpPr>
          <a:xfrm>
            <a:off x="3440435" y="4387342"/>
            <a:ext cx="2009775" cy="1611921"/>
            <a:chOff x="3219450" y="2312379"/>
            <a:chExt cx="2009775" cy="1611921"/>
          </a:xfrm>
        </p:grpSpPr>
        <p:grpSp>
          <p:nvGrpSpPr>
            <p:cNvPr id="24" name="Group 23">
              <a:extLst>
                <a:ext uri="{FF2B5EF4-FFF2-40B4-BE49-F238E27FC236}">
                  <a16:creationId xmlns:a16="http://schemas.microsoft.com/office/drawing/2014/main" id="{0F54487F-DDB2-7430-291D-325815ECB288}"/>
                </a:ext>
              </a:extLst>
            </p:cNvPr>
            <p:cNvGrpSpPr/>
            <p:nvPr/>
          </p:nvGrpSpPr>
          <p:grpSpPr>
            <a:xfrm>
              <a:off x="3372357" y="2531301"/>
              <a:ext cx="1097281" cy="1241234"/>
              <a:chOff x="3332005" y="4447707"/>
              <a:chExt cx="1097281" cy="1241234"/>
            </a:xfrm>
          </p:grpSpPr>
          <p:sp>
            <p:nvSpPr>
              <p:cNvPr id="27" name="文本框 2">
                <a:extLst>
                  <a:ext uri="{FF2B5EF4-FFF2-40B4-BE49-F238E27FC236}">
                    <a16:creationId xmlns:a16="http://schemas.microsoft.com/office/drawing/2014/main" id="{FB6D3626-449A-8649-52A9-7C0346D26F00}"/>
                  </a:ext>
                </a:extLst>
              </p:cNvPr>
              <p:cNvSpPr txBox="1"/>
              <p:nvPr/>
            </p:nvSpPr>
            <p:spPr>
              <a:xfrm>
                <a:off x="3332006" y="4447707"/>
                <a:ext cx="1097280" cy="3657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28" name="文本框 2">
                <a:extLst>
                  <a:ext uri="{FF2B5EF4-FFF2-40B4-BE49-F238E27FC236}">
                    <a16:creationId xmlns:a16="http://schemas.microsoft.com/office/drawing/2014/main" id="{63DC6DF9-966E-572C-7C23-6F58B39AB8D6}"/>
                  </a:ext>
                </a:extLst>
              </p:cNvPr>
              <p:cNvSpPr txBox="1"/>
              <p:nvPr/>
            </p:nvSpPr>
            <p:spPr>
              <a:xfrm>
                <a:off x="3332005" y="4894657"/>
                <a:ext cx="1097280" cy="36576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29" name="文本框 2">
                <a:extLst>
                  <a:ext uri="{FF2B5EF4-FFF2-40B4-BE49-F238E27FC236}">
                    <a16:creationId xmlns:a16="http://schemas.microsoft.com/office/drawing/2014/main" id="{5E90B353-2C01-78AB-89CF-B0769D6254FA}"/>
                  </a:ext>
                </a:extLst>
              </p:cNvPr>
              <p:cNvSpPr txBox="1"/>
              <p:nvPr/>
            </p:nvSpPr>
            <p:spPr>
              <a:xfrm>
                <a:off x="3332006" y="5323181"/>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26" name="Rectangle 25">
              <a:extLst>
                <a:ext uri="{FF2B5EF4-FFF2-40B4-BE49-F238E27FC236}">
                  <a16:creationId xmlns:a16="http://schemas.microsoft.com/office/drawing/2014/main" id="{1922B201-D6FC-AD04-144F-68FC10EC9160}"/>
                </a:ext>
              </a:extLst>
            </p:cNvPr>
            <p:cNvSpPr/>
            <p:nvPr/>
          </p:nvSpPr>
          <p:spPr>
            <a:xfrm>
              <a:off x="3219450" y="2312379"/>
              <a:ext cx="2009775" cy="1611921"/>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0" name="任意多边形: 形状 54">
            <a:extLst>
              <a:ext uri="{FF2B5EF4-FFF2-40B4-BE49-F238E27FC236}">
                <a16:creationId xmlns:a16="http://schemas.microsoft.com/office/drawing/2014/main" id="{B20C5047-F5DD-37CE-EA97-1146B299BAFC}"/>
              </a:ext>
            </a:extLst>
          </p:cNvPr>
          <p:cNvSpPr/>
          <p:nvPr/>
        </p:nvSpPr>
        <p:spPr>
          <a:xfrm rot="16200000">
            <a:off x="2173109" y="5115196"/>
            <a:ext cx="1251484" cy="156211"/>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54">
            <a:extLst>
              <a:ext uri="{FF2B5EF4-FFF2-40B4-BE49-F238E27FC236}">
                <a16:creationId xmlns:a16="http://schemas.microsoft.com/office/drawing/2014/main" id="{FA13375D-933D-0847-F275-2395C5DDE5F4}"/>
              </a:ext>
            </a:extLst>
          </p:cNvPr>
          <p:cNvSpPr/>
          <p:nvPr/>
        </p:nvSpPr>
        <p:spPr>
          <a:xfrm rot="16200000">
            <a:off x="2294549" y="3085971"/>
            <a:ext cx="1251484" cy="156211"/>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7" name="TextBox 36">
            <a:extLst>
              <a:ext uri="{FF2B5EF4-FFF2-40B4-BE49-F238E27FC236}">
                <a16:creationId xmlns:a16="http://schemas.microsoft.com/office/drawing/2014/main" id="{E4F9C96A-8285-B956-45AA-0B341D8A5C27}"/>
              </a:ext>
            </a:extLst>
          </p:cNvPr>
          <p:cNvSpPr txBox="1"/>
          <p:nvPr/>
        </p:nvSpPr>
        <p:spPr>
          <a:xfrm>
            <a:off x="6268381" y="2357962"/>
            <a:ext cx="5239595" cy="3354765"/>
          </a:xfrm>
          <a:prstGeom prst="rect">
            <a:avLst/>
          </a:prstGeom>
          <a:noFill/>
        </p:spPr>
        <p:txBody>
          <a:bodyPr wrap="square">
            <a:spAutoFit/>
          </a:bodyPr>
          <a:lstStyle/>
          <a:p>
            <a:r>
              <a:rPr lang="en-US" sz="2800" b="1"/>
              <a:t>Solutions:</a:t>
            </a:r>
            <a:endParaRPr lang="en-US" sz="2000" b="1">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US" sz="2000">
                <a:latin typeface="helvetica" panose="020B0604020202020204" pitchFamily="34" charset="0"/>
                <a:cs typeface="helvetica" panose="020B0604020202020204" pitchFamily="34" charset="0"/>
              </a:rPr>
              <a:t>Assign Fixed resource quota</a:t>
            </a:r>
            <a:endParaRPr lang="en-US" sz="160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US" sz="2000">
                <a:latin typeface="helvetica" panose="020B0604020202020204" pitchFamily="34" charset="0"/>
                <a:cs typeface="helvetica" panose="020B0604020202020204" pitchFamily="34" charset="0"/>
              </a:rPr>
              <a:t>Trace application tasks’ resource usage</a:t>
            </a:r>
          </a:p>
          <a:p>
            <a:pPr marL="342900" indent="-342900">
              <a:buFont typeface="Arial" panose="020B0604020202020204" pitchFamily="34" charset="0"/>
              <a:buChar char="•"/>
            </a:pPr>
            <a:r>
              <a:rPr lang="en-US" sz="2000">
                <a:latin typeface="helvetica" panose="020B0604020202020204" pitchFamily="34" charset="0"/>
                <a:cs typeface="helvetica" panose="020B0604020202020204" pitchFamily="34" charset="0"/>
              </a:rPr>
              <a:t>Deny excessive resource </a:t>
            </a:r>
            <a:r>
              <a:rPr lang="en-US" altLang="zh-CN" sz="2000">
                <a:latin typeface="helvetica" panose="020B0604020202020204" pitchFamily="34" charset="0"/>
                <a:cs typeface="helvetica" panose="020B0604020202020204" pitchFamily="34" charset="0"/>
              </a:rPr>
              <a:t>usage</a:t>
            </a:r>
            <a:endParaRPr lang="en-US" sz="2000">
              <a:latin typeface="helvetica" panose="020B0604020202020204" pitchFamily="34" charset="0"/>
              <a:cs typeface="helvetica" panose="020B0604020202020204" pitchFamily="34" charset="0"/>
            </a:endParaRPr>
          </a:p>
          <a:p>
            <a:endParaRPr lang="en-US" sz="2000">
              <a:latin typeface="helvetica" panose="020B0604020202020204" pitchFamily="34" charset="0"/>
              <a:cs typeface="helvetica" panose="020B0604020202020204" pitchFamily="34" charset="0"/>
            </a:endParaRPr>
          </a:p>
          <a:p>
            <a:r>
              <a:rPr lang="en-US" sz="2400" b="1">
                <a:latin typeface="helvetica" panose="020B0604020202020204" pitchFamily="34" charset="0"/>
                <a:cs typeface="helvetica" panose="020B0604020202020204" pitchFamily="34" charset="0"/>
              </a:rPr>
              <a:t>Problems:</a:t>
            </a:r>
          </a:p>
          <a:p>
            <a:pPr marL="342900" indent="-342900">
              <a:buFont typeface="Arial" panose="020B0604020202020204" pitchFamily="34" charset="0"/>
              <a:buChar char="•"/>
            </a:pPr>
            <a:r>
              <a:rPr lang="en-US" sz="2000">
                <a:latin typeface="helvetica" panose="020B0604020202020204" pitchFamily="34" charset="0"/>
                <a:cs typeface="helvetica" panose="020B0604020202020204" pitchFamily="34" charset="0"/>
              </a:rPr>
              <a:t>Resource usage is shifting</a:t>
            </a:r>
          </a:p>
          <a:p>
            <a:pPr marL="342900" indent="-342900">
              <a:buFont typeface="Arial" panose="020B0604020202020204" pitchFamily="34" charset="0"/>
              <a:buChar char="•"/>
            </a:pPr>
            <a:r>
              <a:rPr lang="en-US" sz="2000">
                <a:latin typeface="helvetica" panose="020B0604020202020204" pitchFamily="34" charset="0"/>
                <a:cs typeface="helvetica" panose="020B0604020202020204" pitchFamily="34" charset="0"/>
              </a:rPr>
              <a:t>Hard to set quota statically</a:t>
            </a:r>
          </a:p>
          <a:p>
            <a:endParaRPr lang="en-US" sz="2000">
              <a:latin typeface="helvetica" panose="020B0604020202020204" pitchFamily="34" charset="0"/>
              <a:cs typeface="helvetica" panose="020B0604020202020204" pitchFamily="34" charset="0"/>
            </a:endParaRPr>
          </a:p>
          <a:p>
            <a:r>
              <a:rPr lang="en-US" sz="2000">
                <a:latin typeface="helvetica" panose="020B0604020202020204" pitchFamily="34" charset="0"/>
                <a:cs typeface="helvetica" panose="020B0604020202020204" pitchFamily="34" charset="0"/>
              </a:rPr>
              <a:t> </a:t>
            </a:r>
          </a:p>
        </p:txBody>
      </p:sp>
      <p:sp>
        <p:nvSpPr>
          <p:cNvPr id="2" name="文本框 52">
            <a:extLst>
              <a:ext uri="{FF2B5EF4-FFF2-40B4-BE49-F238E27FC236}">
                <a16:creationId xmlns:a16="http://schemas.microsoft.com/office/drawing/2014/main" id="{D3959E59-1A58-525A-9522-E8741E5F8EF4}"/>
              </a:ext>
            </a:extLst>
          </p:cNvPr>
          <p:cNvSpPr txBox="1"/>
          <p:nvPr/>
        </p:nvSpPr>
        <p:spPr>
          <a:xfrm>
            <a:off x="2698051" y="1593340"/>
            <a:ext cx="1589417"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Application</a:t>
            </a:r>
            <a:endParaRPr lang="zh-CN" altLang="en-US" b="1">
              <a:latin typeface="helvetica" panose="020B0604020202020204" pitchFamily="34" charset="0"/>
              <a:cs typeface="helvetica" panose="020B0604020202020204" pitchFamily="34" charset="0"/>
            </a:endParaRPr>
          </a:p>
        </p:txBody>
      </p:sp>
      <p:sp>
        <p:nvSpPr>
          <p:cNvPr id="3" name="任意多边形: 形状 54">
            <a:extLst>
              <a:ext uri="{FF2B5EF4-FFF2-40B4-BE49-F238E27FC236}">
                <a16:creationId xmlns:a16="http://schemas.microsoft.com/office/drawing/2014/main" id="{A53E7EF1-4318-D926-A200-53B7133E7AA1}"/>
              </a:ext>
            </a:extLst>
          </p:cNvPr>
          <p:cNvSpPr/>
          <p:nvPr/>
        </p:nvSpPr>
        <p:spPr>
          <a:xfrm rot="16200000">
            <a:off x="4370778" y="5157988"/>
            <a:ext cx="1251484" cy="156211"/>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Group 4">
            <a:extLst>
              <a:ext uri="{FF2B5EF4-FFF2-40B4-BE49-F238E27FC236}">
                <a16:creationId xmlns:a16="http://schemas.microsoft.com/office/drawing/2014/main" id="{5437F63D-FA0A-82A8-12DC-E02EDE3E08B5}"/>
              </a:ext>
            </a:extLst>
          </p:cNvPr>
          <p:cNvGrpSpPr/>
          <p:nvPr/>
        </p:nvGrpSpPr>
        <p:grpSpPr>
          <a:xfrm>
            <a:off x="1242110" y="2357963"/>
            <a:ext cx="2009775" cy="1611921"/>
            <a:chOff x="3219450" y="2312379"/>
            <a:chExt cx="2009775" cy="1611921"/>
          </a:xfrm>
        </p:grpSpPr>
        <p:grpSp>
          <p:nvGrpSpPr>
            <p:cNvPr id="6" name="Group 5">
              <a:extLst>
                <a:ext uri="{FF2B5EF4-FFF2-40B4-BE49-F238E27FC236}">
                  <a16:creationId xmlns:a16="http://schemas.microsoft.com/office/drawing/2014/main" id="{F077CCFB-8AD6-6018-EEDB-BA80C58B454D}"/>
                </a:ext>
              </a:extLst>
            </p:cNvPr>
            <p:cNvGrpSpPr/>
            <p:nvPr/>
          </p:nvGrpSpPr>
          <p:grpSpPr>
            <a:xfrm>
              <a:off x="3372357" y="2531301"/>
              <a:ext cx="1097281" cy="1241234"/>
              <a:chOff x="3332005" y="4447707"/>
              <a:chExt cx="1097281" cy="1241234"/>
            </a:xfrm>
          </p:grpSpPr>
          <p:sp>
            <p:nvSpPr>
              <p:cNvPr id="11" name="文本框 2">
                <a:extLst>
                  <a:ext uri="{FF2B5EF4-FFF2-40B4-BE49-F238E27FC236}">
                    <a16:creationId xmlns:a16="http://schemas.microsoft.com/office/drawing/2014/main" id="{2760C089-F6A7-DBBE-AB60-BAB7DF6B05A9}"/>
                  </a:ext>
                </a:extLst>
              </p:cNvPr>
              <p:cNvSpPr txBox="1"/>
              <p:nvPr/>
            </p:nvSpPr>
            <p:spPr>
              <a:xfrm>
                <a:off x="3332006" y="4447707"/>
                <a:ext cx="1097280" cy="3657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12" name="文本框 2">
                <a:extLst>
                  <a:ext uri="{FF2B5EF4-FFF2-40B4-BE49-F238E27FC236}">
                    <a16:creationId xmlns:a16="http://schemas.microsoft.com/office/drawing/2014/main" id="{60E4AF93-EE88-82DB-4CB0-BB49B2A45052}"/>
                  </a:ext>
                </a:extLst>
              </p:cNvPr>
              <p:cNvSpPr txBox="1"/>
              <p:nvPr/>
            </p:nvSpPr>
            <p:spPr>
              <a:xfrm>
                <a:off x="3332005" y="4894657"/>
                <a:ext cx="1097280" cy="36576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13" name="文本框 2">
                <a:extLst>
                  <a:ext uri="{FF2B5EF4-FFF2-40B4-BE49-F238E27FC236}">
                    <a16:creationId xmlns:a16="http://schemas.microsoft.com/office/drawing/2014/main" id="{769BABF8-6CBF-BC33-8FCC-FD89A6B0F1B8}"/>
                  </a:ext>
                </a:extLst>
              </p:cNvPr>
              <p:cNvSpPr txBox="1"/>
              <p:nvPr/>
            </p:nvSpPr>
            <p:spPr>
              <a:xfrm>
                <a:off x="3332006" y="5323181"/>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9" name="Rectangle 8">
              <a:extLst>
                <a:ext uri="{FF2B5EF4-FFF2-40B4-BE49-F238E27FC236}">
                  <a16:creationId xmlns:a16="http://schemas.microsoft.com/office/drawing/2014/main" id="{84EEF7F6-C4A5-47F8-0BCE-8E3D6829E80C}"/>
                </a:ext>
              </a:extLst>
            </p:cNvPr>
            <p:cNvSpPr/>
            <p:nvPr/>
          </p:nvSpPr>
          <p:spPr>
            <a:xfrm>
              <a:off x="3219450" y="2312379"/>
              <a:ext cx="2009775" cy="1611921"/>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4" name="任意多边形: 形状 54">
            <a:extLst>
              <a:ext uri="{FF2B5EF4-FFF2-40B4-BE49-F238E27FC236}">
                <a16:creationId xmlns:a16="http://schemas.microsoft.com/office/drawing/2014/main" id="{823C2477-DA3F-392B-3CF8-5D9B2254408B}"/>
              </a:ext>
            </a:extLst>
          </p:cNvPr>
          <p:cNvSpPr/>
          <p:nvPr/>
        </p:nvSpPr>
        <p:spPr>
          <a:xfrm rot="16200000">
            <a:off x="4448884" y="2986833"/>
            <a:ext cx="1251484" cy="156211"/>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15" name="Group 14">
            <a:extLst>
              <a:ext uri="{FF2B5EF4-FFF2-40B4-BE49-F238E27FC236}">
                <a16:creationId xmlns:a16="http://schemas.microsoft.com/office/drawing/2014/main" id="{5D3246CF-B693-B4E8-90F5-1978C984F0A4}"/>
              </a:ext>
            </a:extLst>
          </p:cNvPr>
          <p:cNvGrpSpPr/>
          <p:nvPr/>
        </p:nvGrpSpPr>
        <p:grpSpPr>
          <a:xfrm>
            <a:off x="3362603" y="2357962"/>
            <a:ext cx="2009775" cy="1611921"/>
            <a:chOff x="3219450" y="2312379"/>
            <a:chExt cx="2009775" cy="1611921"/>
          </a:xfrm>
        </p:grpSpPr>
        <p:grpSp>
          <p:nvGrpSpPr>
            <p:cNvPr id="20" name="Group 19">
              <a:extLst>
                <a:ext uri="{FF2B5EF4-FFF2-40B4-BE49-F238E27FC236}">
                  <a16:creationId xmlns:a16="http://schemas.microsoft.com/office/drawing/2014/main" id="{E767B4BD-566C-CF4C-3166-39DAD480E807}"/>
                </a:ext>
              </a:extLst>
            </p:cNvPr>
            <p:cNvGrpSpPr/>
            <p:nvPr/>
          </p:nvGrpSpPr>
          <p:grpSpPr>
            <a:xfrm>
              <a:off x="3372357" y="2531301"/>
              <a:ext cx="1097281" cy="1241234"/>
              <a:chOff x="3332005" y="4447707"/>
              <a:chExt cx="1097281" cy="1241234"/>
            </a:xfrm>
          </p:grpSpPr>
          <p:sp>
            <p:nvSpPr>
              <p:cNvPr id="35" name="文本框 2">
                <a:extLst>
                  <a:ext uri="{FF2B5EF4-FFF2-40B4-BE49-F238E27FC236}">
                    <a16:creationId xmlns:a16="http://schemas.microsoft.com/office/drawing/2014/main" id="{38C1EA7D-6611-61EC-5858-48F5BB6B3C58}"/>
                  </a:ext>
                </a:extLst>
              </p:cNvPr>
              <p:cNvSpPr txBox="1"/>
              <p:nvPr/>
            </p:nvSpPr>
            <p:spPr>
              <a:xfrm>
                <a:off x="3332006" y="4447707"/>
                <a:ext cx="1097280" cy="3657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38" name="文本框 2">
                <a:extLst>
                  <a:ext uri="{FF2B5EF4-FFF2-40B4-BE49-F238E27FC236}">
                    <a16:creationId xmlns:a16="http://schemas.microsoft.com/office/drawing/2014/main" id="{7299EF3C-8BC9-0585-AA1C-32C5D152F1FC}"/>
                  </a:ext>
                </a:extLst>
              </p:cNvPr>
              <p:cNvSpPr txBox="1"/>
              <p:nvPr/>
            </p:nvSpPr>
            <p:spPr>
              <a:xfrm>
                <a:off x="3332005" y="4894657"/>
                <a:ext cx="1097280" cy="36576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39" name="文本框 2">
                <a:extLst>
                  <a:ext uri="{FF2B5EF4-FFF2-40B4-BE49-F238E27FC236}">
                    <a16:creationId xmlns:a16="http://schemas.microsoft.com/office/drawing/2014/main" id="{24758FD7-6289-1707-32ED-FD7AE2F37ACB}"/>
                  </a:ext>
                </a:extLst>
              </p:cNvPr>
              <p:cNvSpPr txBox="1"/>
              <p:nvPr/>
            </p:nvSpPr>
            <p:spPr>
              <a:xfrm>
                <a:off x="3332006" y="5323181"/>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25" name="Rectangle 24">
              <a:extLst>
                <a:ext uri="{FF2B5EF4-FFF2-40B4-BE49-F238E27FC236}">
                  <a16:creationId xmlns:a16="http://schemas.microsoft.com/office/drawing/2014/main" id="{37E8D19C-18BB-7715-6B13-A9A25FA41EA7}"/>
                </a:ext>
              </a:extLst>
            </p:cNvPr>
            <p:cNvSpPr/>
            <p:nvPr/>
          </p:nvSpPr>
          <p:spPr>
            <a:xfrm>
              <a:off x="3219450" y="2312379"/>
              <a:ext cx="2009775" cy="1611921"/>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2563784318"/>
      </p:ext>
    </p:extLst>
  </p:cSld>
  <p:clrMapOvr>
    <a:masterClrMapping/>
  </p:clrMapOvr>
  <mc:AlternateContent xmlns:mc="http://schemas.openxmlformats.org/markup-compatibility/2006" xmlns:p14="http://schemas.microsoft.com/office/powerpoint/2010/main">
    <mc:Choice Requires="p14">
      <p:transition spd="slow" p14:dur="2000" advTm="31989"/>
    </mc:Choice>
    <mc:Fallback xmlns="">
      <p:transition spd="slow" advTm="3198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Issues of Current Practice  </a:t>
            </a:r>
          </a:p>
        </p:txBody>
      </p:sp>
      <p:sp>
        <p:nvSpPr>
          <p:cNvPr id="5" name="灯片编号占位符 4">
            <a:extLst>
              <a:ext uri="{FF2B5EF4-FFF2-40B4-BE49-F238E27FC236}">
                <a16:creationId xmlns:a16="http://schemas.microsoft.com/office/drawing/2014/main" id="{6048BD16-C95D-3A69-E85A-684F78EB3446}"/>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4" name="Rectangle: Rounded Corners 3">
            <a:extLst>
              <a:ext uri="{FF2B5EF4-FFF2-40B4-BE49-F238E27FC236}">
                <a16:creationId xmlns:a16="http://schemas.microsoft.com/office/drawing/2014/main" id="{08CF3AB3-6775-7025-8D6F-8AAEE9DCCA9D}"/>
              </a:ext>
            </a:extLst>
          </p:cNvPr>
          <p:cNvSpPr/>
          <p:nvPr/>
        </p:nvSpPr>
        <p:spPr>
          <a:xfrm>
            <a:off x="704849" y="1419225"/>
            <a:ext cx="10534651" cy="1066800"/>
          </a:xfrm>
          <a:prstGeom prst="roundRect">
            <a:avLst/>
          </a:prstGeom>
          <a:solidFill>
            <a:srgbClr val="00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helvetica" panose="020B0604020202020204" pitchFamily="34" charset="0"/>
                <a:cs typeface="helvetica" panose="020B0604020202020204" pitchFamily="34" charset="0"/>
              </a:rPr>
              <a:t>Difficult to enforce isolation inside applications</a:t>
            </a:r>
          </a:p>
        </p:txBody>
      </p:sp>
      <p:sp>
        <p:nvSpPr>
          <p:cNvPr id="7" name="Rectangle: Rounded Corners 6">
            <a:extLst>
              <a:ext uri="{FF2B5EF4-FFF2-40B4-BE49-F238E27FC236}">
                <a16:creationId xmlns:a16="http://schemas.microsoft.com/office/drawing/2014/main" id="{5F2BB693-F496-EC6F-9AD1-E3466EA2A628}"/>
              </a:ext>
            </a:extLst>
          </p:cNvPr>
          <p:cNvSpPr/>
          <p:nvPr/>
        </p:nvSpPr>
        <p:spPr>
          <a:xfrm>
            <a:off x="704848" y="2962275"/>
            <a:ext cx="10534651" cy="1066800"/>
          </a:xfrm>
          <a:prstGeom prst="roundRect">
            <a:avLst/>
          </a:prstGeom>
          <a:solidFill>
            <a:srgbClr val="00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0" i="0">
                <a:solidFill>
                  <a:srgbClr val="1D1C1D"/>
                </a:solidFill>
                <a:effectLst/>
                <a:latin typeface="Slack-Lato"/>
              </a:rPr>
              <a:t>“</a:t>
            </a:r>
            <a:r>
              <a:rPr lang="en-US" sz="2800" b="1">
                <a:latin typeface="helvetica" panose="020B0604020202020204" pitchFamily="34" charset="0"/>
                <a:cs typeface="helvetica" panose="020B0604020202020204" pitchFamily="34" charset="0"/>
              </a:rPr>
              <a:t>Invisible to diverse application-level virtual resources</a:t>
            </a:r>
          </a:p>
        </p:txBody>
      </p:sp>
      <p:sp>
        <p:nvSpPr>
          <p:cNvPr id="8" name="Rectangle: Rounded Corners 7">
            <a:extLst>
              <a:ext uri="{FF2B5EF4-FFF2-40B4-BE49-F238E27FC236}">
                <a16:creationId xmlns:a16="http://schemas.microsoft.com/office/drawing/2014/main" id="{FA8E017E-27DA-274F-2AF2-A18B7F57F475}"/>
              </a:ext>
            </a:extLst>
          </p:cNvPr>
          <p:cNvSpPr/>
          <p:nvPr/>
        </p:nvSpPr>
        <p:spPr>
          <a:xfrm>
            <a:off x="704847" y="4525645"/>
            <a:ext cx="10534651" cy="1066800"/>
          </a:xfrm>
          <a:prstGeom prst="roundRect">
            <a:avLst/>
          </a:prstGeom>
          <a:solidFill>
            <a:srgbClr val="00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helvetica" panose="020B0604020202020204" pitchFamily="34" charset="0"/>
                <a:cs typeface="helvetica" panose="020B0604020202020204" pitchFamily="34" charset="0"/>
              </a:rPr>
              <a:t>Insufficient and inflexible to enforce resource quota</a:t>
            </a:r>
          </a:p>
        </p:txBody>
      </p:sp>
    </p:spTree>
    <p:extLst>
      <p:ext uri="{BB962C8B-B14F-4D97-AF65-F5344CB8AC3E}">
        <p14:creationId xmlns:p14="http://schemas.microsoft.com/office/powerpoint/2010/main" val="1424197549"/>
      </p:ext>
    </p:extLst>
  </p:cSld>
  <p:clrMapOvr>
    <a:masterClrMapping/>
  </p:clrMapOvr>
  <mc:AlternateContent xmlns:mc="http://schemas.openxmlformats.org/markup-compatibility/2006" xmlns:p14="http://schemas.microsoft.com/office/powerpoint/2010/main">
    <mc:Choice Requires="p14">
      <p:transition spd="slow" p14:dur="2000" advTm="35299"/>
    </mc:Choice>
    <mc:Fallback xmlns="">
      <p:transition spd="slow" advTm="3529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Our Solution – </a:t>
            </a:r>
            <a:r>
              <a:rPr lang="en-US" b="1" i="1" err="1">
                <a:latin typeface="helvetica" panose="020B0604020202020204" pitchFamily="34" charset="0"/>
                <a:cs typeface="helvetica" panose="020B0604020202020204" pitchFamily="34" charset="0"/>
              </a:rPr>
              <a:t>pBox</a:t>
            </a:r>
            <a:endParaRPr lang="en-US" b="1" i="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0FD482F9-932E-CC1C-00E3-1E06F5647BC4}"/>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4" name="Rectangle: Rounded Corners 3">
            <a:extLst>
              <a:ext uri="{FF2B5EF4-FFF2-40B4-BE49-F238E27FC236}">
                <a16:creationId xmlns:a16="http://schemas.microsoft.com/office/drawing/2014/main" id="{9E94D0D2-BDCC-E5B5-207F-253CC5DC9E16}"/>
              </a:ext>
            </a:extLst>
          </p:cNvPr>
          <p:cNvSpPr/>
          <p:nvPr/>
        </p:nvSpPr>
        <p:spPr>
          <a:xfrm>
            <a:off x="342897" y="1130301"/>
            <a:ext cx="5760720" cy="667384"/>
          </a:xfrm>
          <a:prstGeom prst="roundRect">
            <a:avLst/>
          </a:prstGeom>
          <a:solidFill>
            <a:srgbClr val="00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helvetica" panose="020B0604020202020204" pitchFamily="34" charset="0"/>
                <a:cs typeface="helvetica" panose="020B0604020202020204" pitchFamily="34" charset="0"/>
              </a:rPr>
              <a:t>Difficult to enforce isolation inside applications</a:t>
            </a:r>
          </a:p>
        </p:txBody>
      </p:sp>
      <p:sp>
        <p:nvSpPr>
          <p:cNvPr id="6" name="Rectangle: Rounded Corners 5">
            <a:extLst>
              <a:ext uri="{FF2B5EF4-FFF2-40B4-BE49-F238E27FC236}">
                <a16:creationId xmlns:a16="http://schemas.microsoft.com/office/drawing/2014/main" id="{68E1CDD5-5DEE-8795-1D2D-DC989A58A155}"/>
              </a:ext>
            </a:extLst>
          </p:cNvPr>
          <p:cNvSpPr/>
          <p:nvPr/>
        </p:nvSpPr>
        <p:spPr>
          <a:xfrm>
            <a:off x="342897" y="2713372"/>
            <a:ext cx="5760720" cy="667384"/>
          </a:xfrm>
          <a:prstGeom prst="roundRect">
            <a:avLst/>
          </a:prstGeom>
          <a:solidFill>
            <a:srgbClr val="00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1D1C1D"/>
                </a:solidFill>
                <a:latin typeface="Slack-Lato"/>
              </a:rPr>
              <a:t>“</a:t>
            </a:r>
            <a:r>
              <a:rPr lang="en-US" sz="1600" b="1">
                <a:latin typeface="helvetica" panose="020B0604020202020204" pitchFamily="34" charset="0"/>
                <a:cs typeface="helvetica" panose="020B0604020202020204" pitchFamily="34" charset="0"/>
              </a:rPr>
              <a:t>Invisible to diverse application-level virtual resources</a:t>
            </a:r>
          </a:p>
        </p:txBody>
      </p:sp>
      <p:sp>
        <p:nvSpPr>
          <p:cNvPr id="7" name="Rectangle: Rounded Corners 6">
            <a:extLst>
              <a:ext uri="{FF2B5EF4-FFF2-40B4-BE49-F238E27FC236}">
                <a16:creationId xmlns:a16="http://schemas.microsoft.com/office/drawing/2014/main" id="{3E01C5B2-602F-44EB-39C9-D2FB27C191A4}"/>
              </a:ext>
            </a:extLst>
          </p:cNvPr>
          <p:cNvSpPr/>
          <p:nvPr/>
        </p:nvSpPr>
        <p:spPr>
          <a:xfrm>
            <a:off x="342897" y="4457072"/>
            <a:ext cx="5760720" cy="667384"/>
          </a:xfrm>
          <a:prstGeom prst="roundRect">
            <a:avLst/>
          </a:prstGeom>
          <a:solidFill>
            <a:srgbClr val="00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helvetica" panose="020B0604020202020204" pitchFamily="34" charset="0"/>
                <a:cs typeface="helvetica" panose="020B0604020202020204" pitchFamily="34" charset="0"/>
              </a:rPr>
              <a:t>Insufficient and inflexible to enforce resource quota</a:t>
            </a:r>
          </a:p>
        </p:txBody>
      </p:sp>
      <p:cxnSp>
        <p:nvCxnSpPr>
          <p:cNvPr id="9" name="Straight Arrow Connector 8">
            <a:extLst>
              <a:ext uri="{FF2B5EF4-FFF2-40B4-BE49-F238E27FC236}">
                <a16:creationId xmlns:a16="http://schemas.microsoft.com/office/drawing/2014/main" id="{26D8F001-7295-DA55-CEE3-D146C5EB602B}"/>
              </a:ext>
            </a:extLst>
          </p:cNvPr>
          <p:cNvCxnSpPr/>
          <p:nvPr/>
        </p:nvCxnSpPr>
        <p:spPr>
          <a:xfrm>
            <a:off x="342897" y="2175214"/>
            <a:ext cx="27432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1EC70CA6-7F80-2D0A-15F7-25A91DCB0338}"/>
              </a:ext>
            </a:extLst>
          </p:cNvPr>
          <p:cNvCxnSpPr/>
          <p:nvPr/>
        </p:nvCxnSpPr>
        <p:spPr>
          <a:xfrm>
            <a:off x="342897" y="3918914"/>
            <a:ext cx="27432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2F8FC64-80E6-6FB0-E6C8-8F446AFE3F0A}"/>
              </a:ext>
            </a:extLst>
          </p:cNvPr>
          <p:cNvCxnSpPr/>
          <p:nvPr/>
        </p:nvCxnSpPr>
        <p:spPr>
          <a:xfrm>
            <a:off x="342897" y="5674375"/>
            <a:ext cx="27432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188FC6F-A134-404B-50DE-0AE84F3E4050}"/>
              </a:ext>
            </a:extLst>
          </p:cNvPr>
          <p:cNvSpPr txBox="1"/>
          <p:nvPr/>
        </p:nvSpPr>
        <p:spPr>
          <a:xfrm>
            <a:off x="661279" y="1913604"/>
            <a:ext cx="11117146" cy="523220"/>
          </a:xfrm>
          <a:prstGeom prst="rect">
            <a:avLst/>
          </a:prstGeom>
          <a:noFill/>
        </p:spPr>
        <p:txBody>
          <a:bodyPr wrap="none" rtlCol="0">
            <a:spAutoFit/>
          </a:bodyPr>
          <a:lstStyle/>
          <a:p>
            <a:r>
              <a:rPr lang="en-US" sz="2800">
                <a:latin typeface="helvetica" panose="020B0604020202020204" pitchFamily="34" charset="0"/>
                <a:cs typeface="helvetica" panose="020B0604020202020204" pitchFamily="34" charset="0"/>
              </a:rPr>
              <a:t>Let developers </a:t>
            </a:r>
            <a:r>
              <a:rPr lang="en-US" sz="2800" b="1">
                <a:latin typeface="helvetica" panose="020B0604020202020204" pitchFamily="34" charset="0"/>
                <a:cs typeface="helvetica" panose="020B0604020202020204" pitchFamily="34" charset="0"/>
              </a:rPr>
              <a:t>define</a:t>
            </a:r>
            <a:r>
              <a:rPr lang="en-US" sz="2800">
                <a:latin typeface="helvetica" panose="020B0604020202020204" pitchFamily="34" charset="0"/>
                <a:cs typeface="helvetica" panose="020B0604020202020204" pitchFamily="34" charset="0"/>
              </a:rPr>
              <a:t> performance isolation domain in</a:t>
            </a:r>
            <a:r>
              <a:rPr lang="en-US" sz="2800" b="1">
                <a:latin typeface="helvetica" panose="020B0604020202020204" pitchFamily="34" charset="0"/>
                <a:cs typeface="helvetica" panose="020B0604020202020204" pitchFamily="34" charset="0"/>
              </a:rPr>
              <a:t> application</a:t>
            </a:r>
          </a:p>
        </p:txBody>
      </p:sp>
      <p:sp>
        <p:nvSpPr>
          <p:cNvPr id="13" name="TextBox 12">
            <a:extLst>
              <a:ext uri="{FF2B5EF4-FFF2-40B4-BE49-F238E27FC236}">
                <a16:creationId xmlns:a16="http://schemas.microsoft.com/office/drawing/2014/main" id="{B00E155E-1BA0-35DC-DB02-D454C253EC8F}"/>
              </a:ext>
            </a:extLst>
          </p:cNvPr>
          <p:cNvSpPr txBox="1"/>
          <p:nvPr/>
        </p:nvSpPr>
        <p:spPr>
          <a:xfrm>
            <a:off x="661279" y="3664774"/>
            <a:ext cx="10078400" cy="523220"/>
          </a:xfrm>
          <a:prstGeom prst="rect">
            <a:avLst/>
          </a:prstGeom>
          <a:noFill/>
        </p:spPr>
        <p:txBody>
          <a:bodyPr wrap="none" rtlCol="0">
            <a:spAutoFit/>
          </a:bodyPr>
          <a:lstStyle/>
          <a:p>
            <a:r>
              <a:rPr lang="en-US" sz="2800">
                <a:latin typeface="helvetica" panose="020B0604020202020204" pitchFamily="34" charset="0"/>
                <a:cs typeface="helvetica" panose="020B0604020202020204" pitchFamily="34" charset="0"/>
              </a:rPr>
              <a:t>Expose set of </a:t>
            </a:r>
            <a:r>
              <a:rPr lang="en-US" sz="2800" b="1">
                <a:latin typeface="helvetica" panose="020B0604020202020204" pitchFamily="34" charset="0"/>
                <a:cs typeface="helvetica" panose="020B0604020202020204" pitchFamily="34" charset="0"/>
              </a:rPr>
              <a:t>APIs</a:t>
            </a:r>
            <a:r>
              <a:rPr lang="en-US" sz="2800">
                <a:latin typeface="helvetica" panose="020B0604020202020204" pitchFamily="34" charset="0"/>
                <a:cs typeface="helvetica" panose="020B0604020202020204" pitchFamily="34" charset="0"/>
              </a:rPr>
              <a:t> to easily trace application resource usage </a:t>
            </a:r>
          </a:p>
        </p:txBody>
      </p:sp>
      <p:sp>
        <p:nvSpPr>
          <p:cNvPr id="14" name="TextBox 13">
            <a:extLst>
              <a:ext uri="{FF2B5EF4-FFF2-40B4-BE49-F238E27FC236}">
                <a16:creationId xmlns:a16="http://schemas.microsoft.com/office/drawing/2014/main" id="{545C10F6-CCFA-D28A-CFF9-6DB7C2D35DE3}"/>
              </a:ext>
            </a:extLst>
          </p:cNvPr>
          <p:cNvSpPr txBox="1"/>
          <p:nvPr/>
        </p:nvSpPr>
        <p:spPr>
          <a:xfrm>
            <a:off x="617217" y="5415944"/>
            <a:ext cx="10642657" cy="523220"/>
          </a:xfrm>
          <a:prstGeom prst="rect">
            <a:avLst/>
          </a:prstGeom>
          <a:noFill/>
        </p:spPr>
        <p:txBody>
          <a:bodyPr wrap="none" rtlCol="0">
            <a:spAutoFit/>
          </a:bodyPr>
          <a:lstStyle/>
          <a:p>
            <a:r>
              <a:rPr lang="en-US" sz="2800">
                <a:latin typeface="helvetica" panose="020B0604020202020204" pitchFamily="34" charset="0"/>
                <a:cs typeface="helvetica" panose="020B0604020202020204" pitchFamily="34" charset="0"/>
              </a:rPr>
              <a:t>Design mechanism to </a:t>
            </a:r>
            <a:r>
              <a:rPr lang="en-US" sz="2800" b="1">
                <a:latin typeface="helvetica" panose="020B0604020202020204" pitchFamily="34" charset="0"/>
                <a:cs typeface="helvetica" panose="020B0604020202020204" pitchFamily="34" charset="0"/>
              </a:rPr>
              <a:t>detect and mitigate </a:t>
            </a:r>
            <a:r>
              <a:rPr lang="en-US" sz="2800">
                <a:latin typeface="helvetica" panose="020B0604020202020204" pitchFamily="34" charset="0"/>
                <a:cs typeface="helvetica" panose="020B0604020202020204" pitchFamily="34" charset="0"/>
              </a:rPr>
              <a:t>intra-app interference </a:t>
            </a:r>
          </a:p>
        </p:txBody>
      </p:sp>
    </p:spTree>
    <p:extLst>
      <p:ext uri="{BB962C8B-B14F-4D97-AF65-F5344CB8AC3E}">
        <p14:creationId xmlns:p14="http://schemas.microsoft.com/office/powerpoint/2010/main" val="1168714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par>
                                <p:cTn id="23" presetID="9"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5283F8B-8A5B-B406-62E0-34730FA89EF6}"/>
              </a:ext>
            </a:extLst>
          </p:cNvPr>
          <p:cNvSpPr/>
          <p:nvPr/>
        </p:nvSpPr>
        <p:spPr>
          <a:xfrm>
            <a:off x="1974056" y="1838960"/>
            <a:ext cx="7299121" cy="4882515"/>
          </a:xfrm>
          <a:prstGeom prst="roundRect">
            <a:avLst/>
          </a:prstGeom>
          <a:noFill/>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5"/>
            <a:ext cx="12192000" cy="1188720"/>
          </a:xfrm>
        </p:spPr>
        <p:txBody>
          <a:bodyPr/>
          <a:lstStyle/>
          <a:p>
            <a:pPr algn="ctr"/>
            <a:r>
              <a:rPr lang="en-US" b="1">
                <a:latin typeface="helvetica" panose="020B0604020202020204" pitchFamily="34" charset="0"/>
                <a:cs typeface="helvetica" panose="020B0604020202020204" pitchFamily="34" charset="0"/>
              </a:rPr>
              <a:t>Key Behavior of Intra-app Interference</a:t>
            </a:r>
          </a:p>
        </p:txBody>
      </p:sp>
      <p:sp>
        <p:nvSpPr>
          <p:cNvPr id="5" name="灯片编号占位符 4">
            <a:extLst>
              <a:ext uri="{FF2B5EF4-FFF2-40B4-BE49-F238E27FC236}">
                <a16:creationId xmlns:a16="http://schemas.microsoft.com/office/drawing/2014/main" id="{AE1C809B-A319-44AF-F30B-1FE2469FD66B}"/>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51" name="文本框 52">
            <a:extLst>
              <a:ext uri="{FF2B5EF4-FFF2-40B4-BE49-F238E27FC236}">
                <a16:creationId xmlns:a16="http://schemas.microsoft.com/office/drawing/2014/main" id="{2382A319-9DE0-980D-907E-44CB12993F7A}"/>
              </a:ext>
            </a:extLst>
          </p:cNvPr>
          <p:cNvSpPr txBox="1"/>
          <p:nvPr/>
        </p:nvSpPr>
        <p:spPr>
          <a:xfrm>
            <a:off x="7709403" y="4145315"/>
            <a:ext cx="1675571" cy="369332"/>
          </a:xfrm>
          <a:prstGeom prst="rect">
            <a:avLst/>
          </a:prstGeom>
          <a:noFill/>
        </p:spPr>
        <p:txBody>
          <a:bodyPr wrap="square" rtlCol="0">
            <a:spAutoFit/>
          </a:bodyPr>
          <a:lstStyle/>
          <a:p>
            <a:r>
              <a:rPr lang="en-US" altLang="zh-CN" b="1">
                <a:solidFill>
                  <a:schemeClr val="tx2"/>
                </a:solidFill>
                <a:latin typeface="helvetica" panose="020B0604020202020204" pitchFamily="34" charset="0"/>
                <a:cs typeface="helvetica" panose="020B0604020202020204" pitchFamily="34" charset="0"/>
              </a:rPr>
              <a:t>Application</a:t>
            </a:r>
            <a:endParaRPr lang="zh-CN" altLang="en-US" b="1">
              <a:solidFill>
                <a:schemeClr val="tx2"/>
              </a:solidFill>
              <a:latin typeface="helvetica" panose="020B0604020202020204" pitchFamily="34" charset="0"/>
              <a:cs typeface="helvetica" panose="020B0604020202020204" pitchFamily="34" charset="0"/>
            </a:endParaRPr>
          </a:p>
        </p:txBody>
      </p:sp>
      <p:sp>
        <p:nvSpPr>
          <p:cNvPr id="55" name="文本框 52">
            <a:extLst>
              <a:ext uri="{FF2B5EF4-FFF2-40B4-BE49-F238E27FC236}">
                <a16:creationId xmlns:a16="http://schemas.microsoft.com/office/drawing/2014/main" id="{E1A4AB6E-7899-0B88-C256-1EB8AF68B29E}"/>
              </a:ext>
            </a:extLst>
          </p:cNvPr>
          <p:cNvSpPr txBox="1"/>
          <p:nvPr/>
        </p:nvSpPr>
        <p:spPr>
          <a:xfrm>
            <a:off x="8115582" y="4593182"/>
            <a:ext cx="1213494"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Kernel</a:t>
            </a:r>
            <a:endParaRPr lang="zh-CN" altLang="en-US" b="1">
              <a:latin typeface="helvetica" panose="020B0604020202020204" pitchFamily="34" charset="0"/>
              <a:cs typeface="helvetica" panose="020B0604020202020204" pitchFamily="34" charset="0"/>
            </a:endParaRPr>
          </a:p>
        </p:txBody>
      </p:sp>
      <p:sp>
        <p:nvSpPr>
          <p:cNvPr id="40" name="任意多边形: 形状 54">
            <a:extLst>
              <a:ext uri="{FF2B5EF4-FFF2-40B4-BE49-F238E27FC236}">
                <a16:creationId xmlns:a16="http://schemas.microsoft.com/office/drawing/2014/main" id="{8A7BEB37-740C-BEBB-D1B8-255A7B5B454B}"/>
              </a:ext>
            </a:extLst>
          </p:cNvPr>
          <p:cNvSpPr/>
          <p:nvPr/>
        </p:nvSpPr>
        <p:spPr>
          <a:xfrm rot="16200000">
            <a:off x="2944557" y="2928637"/>
            <a:ext cx="1463040" cy="182880"/>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54">
            <a:extLst>
              <a:ext uri="{FF2B5EF4-FFF2-40B4-BE49-F238E27FC236}">
                <a16:creationId xmlns:a16="http://schemas.microsoft.com/office/drawing/2014/main" id="{D0A7D638-A75D-41F8-485B-F10BCAB22017}"/>
              </a:ext>
            </a:extLst>
          </p:cNvPr>
          <p:cNvSpPr/>
          <p:nvPr/>
        </p:nvSpPr>
        <p:spPr>
          <a:xfrm rot="16200000">
            <a:off x="6294044" y="2907718"/>
            <a:ext cx="1463040" cy="182880"/>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Rectangle: Rounded Corners 43">
            <a:extLst>
              <a:ext uri="{FF2B5EF4-FFF2-40B4-BE49-F238E27FC236}">
                <a16:creationId xmlns:a16="http://schemas.microsoft.com/office/drawing/2014/main" id="{D2AC6899-78B8-0CFA-4793-10356ABB0EB8}"/>
              </a:ext>
            </a:extLst>
          </p:cNvPr>
          <p:cNvSpPr/>
          <p:nvPr/>
        </p:nvSpPr>
        <p:spPr>
          <a:xfrm>
            <a:off x="4818539" y="2860792"/>
            <a:ext cx="1329029" cy="708616"/>
          </a:xfrm>
          <a:prstGeom prst="roundRect">
            <a:avLst/>
          </a:prstGeom>
          <a:solidFill>
            <a:srgbClr val="66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Resource A</a:t>
            </a:r>
          </a:p>
        </p:txBody>
      </p:sp>
      <p:cxnSp>
        <p:nvCxnSpPr>
          <p:cNvPr id="47" name="Straight Connector 46">
            <a:extLst>
              <a:ext uri="{FF2B5EF4-FFF2-40B4-BE49-F238E27FC236}">
                <a16:creationId xmlns:a16="http://schemas.microsoft.com/office/drawing/2014/main" id="{84AFAD26-41C5-1635-9822-93EA46C237CD}"/>
              </a:ext>
            </a:extLst>
          </p:cNvPr>
          <p:cNvCxnSpPr>
            <a:cxnSpLocks/>
          </p:cNvCxnSpPr>
          <p:nvPr/>
        </p:nvCxnSpPr>
        <p:spPr>
          <a:xfrm>
            <a:off x="2164556" y="4533085"/>
            <a:ext cx="6953250" cy="0"/>
          </a:xfrm>
          <a:prstGeom prst="line">
            <a:avLst/>
          </a:prstGeom>
          <a:ln w="38100">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cxnSp>
        <p:nvCxnSpPr>
          <p:cNvPr id="56" name="Straight Connector 45">
            <a:extLst>
              <a:ext uri="{FF2B5EF4-FFF2-40B4-BE49-F238E27FC236}">
                <a16:creationId xmlns:a16="http://schemas.microsoft.com/office/drawing/2014/main" id="{307394B1-80A1-E8B6-C27F-888B3DDB9C1C}"/>
              </a:ext>
            </a:extLst>
          </p:cNvPr>
          <p:cNvCxnSpPr>
            <a:cxnSpLocks/>
            <a:stCxn id="44" idx="3"/>
            <a:endCxn id="64" idx="7"/>
          </p:cNvCxnSpPr>
          <p:nvPr/>
        </p:nvCxnSpPr>
        <p:spPr>
          <a:xfrm flipV="1">
            <a:off x="6147568" y="2913084"/>
            <a:ext cx="788224" cy="302016"/>
          </a:xfrm>
          <a:prstGeom prst="line">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BB86978-CE87-069B-10A4-F2423BDA4216}"/>
              </a:ext>
            </a:extLst>
          </p:cNvPr>
          <p:cNvSpPr txBox="1"/>
          <p:nvPr/>
        </p:nvSpPr>
        <p:spPr>
          <a:xfrm>
            <a:off x="6117642" y="2553576"/>
            <a:ext cx="686406" cy="369332"/>
          </a:xfrm>
          <a:prstGeom prst="rect">
            <a:avLst/>
          </a:prstGeom>
          <a:noFill/>
        </p:spPr>
        <p:txBody>
          <a:bodyPr wrap="none" rtlCol="0">
            <a:spAutoFit/>
          </a:bodyPr>
          <a:lstStyle/>
          <a:p>
            <a:r>
              <a:rPr lang="en-US"/>
              <a:t>Block</a:t>
            </a:r>
          </a:p>
        </p:txBody>
      </p:sp>
      <p:sp>
        <p:nvSpPr>
          <p:cNvPr id="61" name="TextBox 60">
            <a:extLst>
              <a:ext uri="{FF2B5EF4-FFF2-40B4-BE49-F238E27FC236}">
                <a16:creationId xmlns:a16="http://schemas.microsoft.com/office/drawing/2014/main" id="{0C7D586D-9611-0C0A-0223-C9974551B86E}"/>
              </a:ext>
            </a:extLst>
          </p:cNvPr>
          <p:cNvSpPr txBox="1"/>
          <p:nvPr/>
        </p:nvSpPr>
        <p:spPr>
          <a:xfrm>
            <a:off x="6612954" y="2100420"/>
            <a:ext cx="833433" cy="338554"/>
          </a:xfrm>
          <a:prstGeom prst="rect">
            <a:avLst/>
          </a:prstGeom>
          <a:solidFill>
            <a:schemeClr val="accent1"/>
          </a:solidFill>
          <a:ln>
            <a:solidFill>
              <a:schemeClr val="accent1"/>
            </a:solidFill>
          </a:ln>
        </p:spPr>
        <p:txBody>
          <a:bodyPr wrap="none" rtlCol="0">
            <a:spAutoFit/>
          </a:bodyPr>
          <a:lstStyle/>
          <a:p>
            <a:r>
              <a:rPr lang="en-US" sz="1600" b="1">
                <a:solidFill>
                  <a:schemeClr val="bg1"/>
                </a:solidFill>
                <a:latin typeface="helvetica" panose="020B0604020202020204" pitchFamily="34" charset="0"/>
                <a:cs typeface="helvetica" panose="020B0604020202020204" pitchFamily="34" charset="0"/>
              </a:rPr>
              <a:t>Task B</a:t>
            </a:r>
          </a:p>
        </p:txBody>
      </p:sp>
      <p:sp>
        <p:nvSpPr>
          <p:cNvPr id="62" name="TextBox 61">
            <a:extLst>
              <a:ext uri="{FF2B5EF4-FFF2-40B4-BE49-F238E27FC236}">
                <a16:creationId xmlns:a16="http://schemas.microsoft.com/office/drawing/2014/main" id="{8E8004A7-8A1D-6D2C-1941-2517B87F0C0D}"/>
              </a:ext>
            </a:extLst>
          </p:cNvPr>
          <p:cNvSpPr txBox="1"/>
          <p:nvPr/>
        </p:nvSpPr>
        <p:spPr>
          <a:xfrm>
            <a:off x="3308553" y="2119279"/>
            <a:ext cx="833433" cy="338554"/>
          </a:xfrm>
          <a:prstGeom prst="rect">
            <a:avLst/>
          </a:prstGeom>
          <a:solidFill>
            <a:schemeClr val="accent1"/>
          </a:solidFill>
        </p:spPr>
        <p:txBody>
          <a:bodyPr wrap="none" rtlCol="0">
            <a:spAutoFit/>
          </a:bodyPr>
          <a:lstStyle/>
          <a:p>
            <a:r>
              <a:rPr lang="en-US" sz="1600" b="1">
                <a:solidFill>
                  <a:schemeClr val="bg1"/>
                </a:solidFill>
                <a:latin typeface="helvetica" panose="020B0604020202020204" pitchFamily="34" charset="0"/>
                <a:cs typeface="helvetica" panose="020B0604020202020204" pitchFamily="34" charset="0"/>
              </a:rPr>
              <a:t>Task A</a:t>
            </a:r>
          </a:p>
        </p:txBody>
      </p:sp>
      <p:sp>
        <p:nvSpPr>
          <p:cNvPr id="63" name="Oval 62">
            <a:extLst>
              <a:ext uri="{FF2B5EF4-FFF2-40B4-BE49-F238E27FC236}">
                <a16:creationId xmlns:a16="http://schemas.microsoft.com/office/drawing/2014/main" id="{A3C03290-48C5-5F33-0ADD-8EF9D7BEC73E}"/>
              </a:ext>
            </a:extLst>
          </p:cNvPr>
          <p:cNvSpPr/>
          <p:nvPr/>
        </p:nvSpPr>
        <p:spPr>
          <a:xfrm rot="5400000" flipV="1">
            <a:off x="3537231" y="2678937"/>
            <a:ext cx="274320" cy="274320"/>
          </a:xfrm>
          <a:prstGeom prst="ellipse">
            <a:avLst/>
          </a:prstGeom>
          <a:ln w="38100">
            <a:solidFill>
              <a:srgbClr val="FEA40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64" name="Oval 63">
            <a:extLst>
              <a:ext uri="{FF2B5EF4-FFF2-40B4-BE49-F238E27FC236}">
                <a16:creationId xmlns:a16="http://schemas.microsoft.com/office/drawing/2014/main" id="{575A2788-86C2-2EF5-D8C7-5CA45DCB310A}"/>
              </a:ext>
            </a:extLst>
          </p:cNvPr>
          <p:cNvSpPr/>
          <p:nvPr/>
        </p:nvSpPr>
        <p:spPr>
          <a:xfrm rot="5400000" flipV="1">
            <a:off x="6895619" y="2678937"/>
            <a:ext cx="274320" cy="274320"/>
          </a:xfrm>
          <a:prstGeom prst="ellipse">
            <a:avLst/>
          </a:prstGeom>
          <a:ln w="38100">
            <a:solidFill>
              <a:srgbClr val="C55A1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65" name="Straight Connector 45">
            <a:extLst>
              <a:ext uri="{FF2B5EF4-FFF2-40B4-BE49-F238E27FC236}">
                <a16:creationId xmlns:a16="http://schemas.microsoft.com/office/drawing/2014/main" id="{A86300A5-9E79-95C3-D4FE-3D67399714A8}"/>
              </a:ext>
            </a:extLst>
          </p:cNvPr>
          <p:cNvCxnSpPr>
            <a:cxnSpLocks/>
            <a:stCxn id="63" idx="5"/>
            <a:endCxn id="44" idx="1"/>
          </p:cNvCxnSpPr>
          <p:nvPr/>
        </p:nvCxnSpPr>
        <p:spPr>
          <a:xfrm>
            <a:off x="3771378" y="2913084"/>
            <a:ext cx="1047161" cy="302016"/>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FF935E24-9FC1-12D0-C8F8-5323A0A73DAA}"/>
              </a:ext>
            </a:extLst>
          </p:cNvPr>
          <p:cNvSpPr txBox="1"/>
          <p:nvPr/>
        </p:nvSpPr>
        <p:spPr>
          <a:xfrm>
            <a:off x="3983232" y="2626866"/>
            <a:ext cx="603050" cy="369332"/>
          </a:xfrm>
          <a:prstGeom prst="rect">
            <a:avLst/>
          </a:prstGeom>
          <a:noFill/>
        </p:spPr>
        <p:txBody>
          <a:bodyPr wrap="none" rtlCol="0">
            <a:spAutoFit/>
          </a:bodyPr>
          <a:lstStyle/>
          <a:p>
            <a:r>
              <a:rPr lang="en-US" altLang="zh-CN"/>
              <a:t>hold</a:t>
            </a:r>
            <a:endParaRPr lang="en-US"/>
          </a:p>
        </p:txBody>
      </p:sp>
      <p:grpSp>
        <p:nvGrpSpPr>
          <p:cNvPr id="98" name="Group 97">
            <a:extLst>
              <a:ext uri="{FF2B5EF4-FFF2-40B4-BE49-F238E27FC236}">
                <a16:creationId xmlns:a16="http://schemas.microsoft.com/office/drawing/2014/main" id="{BF541D60-600D-B1CD-9D0B-66C3EA234B4C}"/>
              </a:ext>
            </a:extLst>
          </p:cNvPr>
          <p:cNvGrpSpPr/>
          <p:nvPr/>
        </p:nvGrpSpPr>
        <p:grpSpPr>
          <a:xfrm>
            <a:off x="2673270" y="5427641"/>
            <a:ext cx="6058807" cy="1144872"/>
            <a:chOff x="1449820" y="5036399"/>
            <a:chExt cx="6058807" cy="1144872"/>
          </a:xfrm>
        </p:grpSpPr>
        <p:sp>
          <p:nvSpPr>
            <p:cNvPr id="48" name="Rectangle 47">
              <a:extLst>
                <a:ext uri="{FF2B5EF4-FFF2-40B4-BE49-F238E27FC236}">
                  <a16:creationId xmlns:a16="http://schemas.microsoft.com/office/drawing/2014/main" id="{3F7BED34-7EE7-2895-23B5-227EE4762CB7}"/>
                </a:ext>
              </a:extLst>
            </p:cNvPr>
            <p:cNvSpPr/>
            <p:nvPr/>
          </p:nvSpPr>
          <p:spPr>
            <a:xfrm>
              <a:off x="1449820" y="5036399"/>
              <a:ext cx="6058807" cy="1137387"/>
            </a:xfrm>
            <a:prstGeom prst="rect">
              <a:avLst/>
            </a:prstGeom>
            <a:noFill/>
            <a:ln w="38100">
              <a:solidFill>
                <a:schemeClr val="tx1"/>
              </a:solidFill>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文本框 2">
              <a:extLst>
                <a:ext uri="{FF2B5EF4-FFF2-40B4-BE49-F238E27FC236}">
                  <a16:creationId xmlns:a16="http://schemas.microsoft.com/office/drawing/2014/main" id="{5057C33F-5420-4F50-8265-51725EDFC9B8}"/>
                </a:ext>
              </a:extLst>
            </p:cNvPr>
            <p:cNvSpPr txBox="1"/>
            <p:nvPr/>
          </p:nvSpPr>
          <p:spPr>
            <a:xfrm>
              <a:off x="1853263" y="5423619"/>
              <a:ext cx="1097280" cy="3657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72" name="文本框 2">
              <a:extLst>
                <a:ext uri="{FF2B5EF4-FFF2-40B4-BE49-F238E27FC236}">
                  <a16:creationId xmlns:a16="http://schemas.microsoft.com/office/drawing/2014/main" id="{4CE5CC1F-C8BE-F313-6686-DC29EA72EB75}"/>
                </a:ext>
              </a:extLst>
            </p:cNvPr>
            <p:cNvSpPr txBox="1"/>
            <p:nvPr/>
          </p:nvSpPr>
          <p:spPr>
            <a:xfrm>
              <a:off x="3276335" y="5387781"/>
              <a:ext cx="1097280" cy="36576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73" name="文本框 2">
              <a:extLst>
                <a:ext uri="{FF2B5EF4-FFF2-40B4-BE49-F238E27FC236}">
                  <a16:creationId xmlns:a16="http://schemas.microsoft.com/office/drawing/2014/main" id="{8A1C22A7-1FB2-91D3-AB34-82F2EF7C70C6}"/>
                </a:ext>
              </a:extLst>
            </p:cNvPr>
            <p:cNvSpPr txBox="1"/>
            <p:nvPr/>
          </p:nvSpPr>
          <p:spPr>
            <a:xfrm>
              <a:off x="4699407" y="5386083"/>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sp>
          <p:nvSpPr>
            <p:cNvPr id="75" name="TextBox 74">
              <a:extLst>
                <a:ext uri="{FF2B5EF4-FFF2-40B4-BE49-F238E27FC236}">
                  <a16:creationId xmlns:a16="http://schemas.microsoft.com/office/drawing/2014/main" id="{7A685729-5869-286A-334F-92B480BF2912}"/>
                </a:ext>
              </a:extLst>
            </p:cNvPr>
            <p:cNvSpPr txBox="1"/>
            <p:nvPr/>
          </p:nvSpPr>
          <p:spPr>
            <a:xfrm>
              <a:off x="4740767" y="5811939"/>
              <a:ext cx="2714111" cy="369332"/>
            </a:xfrm>
            <a:prstGeom prst="rect">
              <a:avLst/>
            </a:prstGeom>
            <a:noFill/>
          </p:spPr>
          <p:txBody>
            <a:bodyPr wrap="square">
              <a:spAutoFit/>
            </a:bodyPr>
            <a:lstStyle/>
            <a:p>
              <a:pPr algn="ctr"/>
              <a:r>
                <a:rPr lang="en-US"/>
                <a:t>Resource Management</a:t>
              </a:r>
            </a:p>
          </p:txBody>
        </p:sp>
      </p:grpSp>
      <p:pic>
        <p:nvPicPr>
          <p:cNvPr id="87" name="Graphic 86" descr="Blind with solid fill">
            <a:extLst>
              <a:ext uri="{FF2B5EF4-FFF2-40B4-BE49-F238E27FC236}">
                <a16:creationId xmlns:a16="http://schemas.microsoft.com/office/drawing/2014/main" id="{D8C5D58F-6A5F-4792-1F12-5260DB4480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20863" y="4122000"/>
            <a:ext cx="914400" cy="914400"/>
          </a:xfrm>
          <a:prstGeom prst="rect">
            <a:avLst/>
          </a:prstGeom>
        </p:spPr>
      </p:pic>
      <p:sp>
        <p:nvSpPr>
          <p:cNvPr id="92" name="文本框 4">
            <a:extLst>
              <a:ext uri="{FF2B5EF4-FFF2-40B4-BE49-F238E27FC236}">
                <a16:creationId xmlns:a16="http://schemas.microsoft.com/office/drawing/2014/main" id="{80B05646-F088-E6CC-C2EA-BAEE55297A58}"/>
              </a:ext>
            </a:extLst>
          </p:cNvPr>
          <p:cNvSpPr txBox="1"/>
          <p:nvPr/>
        </p:nvSpPr>
        <p:spPr>
          <a:xfrm>
            <a:off x="0" y="1216423"/>
            <a:ext cx="10447020" cy="523220"/>
          </a:xfrm>
          <a:prstGeom prst="rect">
            <a:avLst/>
          </a:prstGeom>
          <a:noFill/>
        </p:spPr>
        <p:txBody>
          <a:bodyPr wrap="square">
            <a:spAutoFit/>
          </a:bodyPr>
          <a:lstStyle/>
          <a:p>
            <a:r>
              <a:rPr lang="en-US" altLang="zh-CN" sz="2800" b="1">
                <a:cs typeface="Calibri Light"/>
              </a:rPr>
              <a:t>Insight: make the </a:t>
            </a:r>
            <a:r>
              <a:rPr lang="en-US" sz="2800" b="1">
                <a:cs typeface="Calibri Light"/>
              </a:rPr>
              <a:t>OS aware of virtual resource contention</a:t>
            </a:r>
            <a:endParaRPr lang="zh-CN" altLang="en-US" sz="2800" b="1">
              <a:cs typeface="Calibri Light"/>
            </a:endParaRPr>
          </a:p>
        </p:txBody>
      </p:sp>
    </p:spTree>
    <p:custDataLst>
      <p:tags r:id="rId1"/>
    </p:custDataLst>
    <p:extLst>
      <p:ext uri="{BB962C8B-B14F-4D97-AF65-F5344CB8AC3E}">
        <p14:creationId xmlns:p14="http://schemas.microsoft.com/office/powerpoint/2010/main" val="483497794"/>
      </p:ext>
    </p:extLst>
  </p:cSld>
  <p:clrMapOvr>
    <a:masterClrMapping/>
  </p:clrMapOvr>
  <mc:AlternateContent xmlns:mc="http://schemas.openxmlformats.org/markup-compatibility/2006" xmlns:p14="http://schemas.microsoft.com/office/powerpoint/2010/main">
    <mc:Choice Requires="p14">
      <p:transition spd="slow" p14:dur="2000" advTm="42598"/>
    </mc:Choice>
    <mc:Fallback xmlns="">
      <p:transition spd="slow" advTm="425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dissolve">
                                      <p:cBhvr>
                                        <p:cTn id="7" dur="500"/>
                                        <p:tgtEl>
                                          <p:spTgt spid="65"/>
                                        </p:tgtEl>
                                      </p:cBhvr>
                                    </p:animEffect>
                                  </p:childTnLst>
                                </p:cTn>
                              </p:par>
                              <p:par>
                                <p:cTn id="8" presetID="9" presetClass="entr" presetSubtype="0" fill="hold" grpId="1"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dissolve">
                                      <p:cBhvr>
                                        <p:cTn id="10" dur="500"/>
                                        <p:tgtEl>
                                          <p:spTgt spid="4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dissolve">
                                      <p:cBhvr>
                                        <p:cTn id="13" dur="500"/>
                                        <p:tgtEl>
                                          <p:spTgt spid="70"/>
                                        </p:tgtEl>
                                      </p:cBhvr>
                                    </p:animEffect>
                                  </p:childTnLst>
                                </p:cTn>
                              </p:par>
                              <p:par>
                                <p:cTn id="14" presetID="9" presetClass="entr" presetSubtype="0" fill="hold" nodeType="with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dissolve">
                                      <p:cBhvr>
                                        <p:cTn id="16" dur="500"/>
                                        <p:tgtEl>
                                          <p:spTgt spid="8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dissolve">
                                      <p:cBhvr>
                                        <p:cTn id="19" dur="500"/>
                                        <p:tgtEl>
                                          <p:spTgt spid="63"/>
                                        </p:tgtEl>
                                      </p:cBhvr>
                                    </p:animEffect>
                                  </p:childTnLst>
                                </p:cTn>
                              </p:par>
                              <p:par>
                                <p:cTn id="20" presetID="9" presetClass="entr" presetSubtype="0" fill="hold"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dissolve">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6.25E-7 0 L 0.19505 0.38588 " pathEditMode="relative" rAng="0" ptsTypes="AA">
                                      <p:cBhvr>
                                        <p:cTn id="32" dur="2000" fill="hold"/>
                                        <p:tgtEl>
                                          <p:spTgt spid="44"/>
                                        </p:tgtEl>
                                        <p:attrNameLst>
                                          <p:attrName>ppt_x</p:attrName>
                                          <p:attrName>ppt_y</p:attrName>
                                        </p:attrNameLst>
                                      </p:cBhvr>
                                      <p:rCtr x="9753" y="19282"/>
                                    </p:animMotion>
                                  </p:childTnLst>
                                </p:cTn>
                              </p:par>
                              <p:par>
                                <p:cTn id="33" presetID="9" presetClass="entr" presetSubtype="0" fill="hold" grpId="0" nodeType="with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dissolve">
                                      <p:cBhvr>
                                        <p:cTn id="35"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60" grpId="0"/>
      <p:bldP spid="63" grpId="0" animBg="1"/>
      <p:bldP spid="64" grpId="0" animBg="1"/>
      <p:bldP spid="70" grpId="0"/>
      <p:bldP spid="9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5"/>
            <a:ext cx="12192000" cy="1188720"/>
          </a:xfrm>
        </p:spPr>
        <p:txBody>
          <a:bodyPr/>
          <a:lstStyle/>
          <a:p>
            <a:pPr algn="ctr"/>
            <a:r>
              <a:rPr lang="en-US" b="1">
                <a:latin typeface="helvetica" panose="020B0604020202020204" pitchFamily="34" charset="0"/>
                <a:cs typeface="helvetica" panose="020B0604020202020204" pitchFamily="34" charset="0"/>
              </a:rPr>
              <a:t>Performance Box</a:t>
            </a:r>
          </a:p>
        </p:txBody>
      </p:sp>
      <p:sp>
        <p:nvSpPr>
          <p:cNvPr id="5" name="灯片编号占位符 4">
            <a:extLst>
              <a:ext uri="{FF2B5EF4-FFF2-40B4-BE49-F238E27FC236}">
                <a16:creationId xmlns:a16="http://schemas.microsoft.com/office/drawing/2014/main" id="{AE1C809B-A319-44AF-F30B-1FE2469FD66B}"/>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3" name="文本框 4">
            <a:extLst>
              <a:ext uri="{FF2B5EF4-FFF2-40B4-BE49-F238E27FC236}">
                <a16:creationId xmlns:a16="http://schemas.microsoft.com/office/drawing/2014/main" id="{BF055A79-8B2A-CAE4-E89C-BF828AE7FA7A}"/>
              </a:ext>
            </a:extLst>
          </p:cNvPr>
          <p:cNvSpPr txBox="1"/>
          <p:nvPr/>
        </p:nvSpPr>
        <p:spPr>
          <a:xfrm>
            <a:off x="-1" y="1216423"/>
            <a:ext cx="12258675" cy="523220"/>
          </a:xfrm>
          <a:prstGeom prst="rect">
            <a:avLst/>
          </a:prstGeom>
          <a:noFill/>
        </p:spPr>
        <p:txBody>
          <a:bodyPr wrap="square">
            <a:spAutoFit/>
          </a:bodyPr>
          <a:lstStyle/>
          <a:p>
            <a:r>
              <a:rPr lang="en-US" altLang="zh-CN" sz="2800" b="1">
                <a:cs typeface="Calibri Light"/>
              </a:rPr>
              <a:t>Design goal: monitor application resource contention and expose to Kernel</a:t>
            </a:r>
            <a:endParaRPr lang="zh-CN" altLang="en-US" sz="2800" b="1">
              <a:cs typeface="Calibri Light"/>
            </a:endParaRPr>
          </a:p>
        </p:txBody>
      </p:sp>
      <p:sp>
        <p:nvSpPr>
          <p:cNvPr id="6" name="Rectangle: Rounded Corners 5">
            <a:extLst>
              <a:ext uri="{FF2B5EF4-FFF2-40B4-BE49-F238E27FC236}">
                <a16:creationId xmlns:a16="http://schemas.microsoft.com/office/drawing/2014/main" id="{726B384B-F387-DFD0-BA57-6F78C6F55437}"/>
              </a:ext>
            </a:extLst>
          </p:cNvPr>
          <p:cNvSpPr/>
          <p:nvPr/>
        </p:nvSpPr>
        <p:spPr>
          <a:xfrm>
            <a:off x="2196505" y="1870745"/>
            <a:ext cx="7264400" cy="4850730"/>
          </a:xfrm>
          <a:prstGeom prst="roundRect">
            <a:avLst/>
          </a:prstGeom>
          <a:noFill/>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文本框 52">
            <a:extLst>
              <a:ext uri="{FF2B5EF4-FFF2-40B4-BE49-F238E27FC236}">
                <a16:creationId xmlns:a16="http://schemas.microsoft.com/office/drawing/2014/main" id="{FA1F5F28-26A6-744E-FE82-80DEB36A3494}"/>
              </a:ext>
            </a:extLst>
          </p:cNvPr>
          <p:cNvSpPr txBox="1"/>
          <p:nvPr/>
        </p:nvSpPr>
        <p:spPr>
          <a:xfrm>
            <a:off x="7914226" y="4062875"/>
            <a:ext cx="1675571" cy="369332"/>
          </a:xfrm>
          <a:prstGeom prst="rect">
            <a:avLst/>
          </a:prstGeom>
          <a:noFill/>
        </p:spPr>
        <p:txBody>
          <a:bodyPr wrap="square" rtlCol="0">
            <a:spAutoFit/>
          </a:bodyPr>
          <a:lstStyle/>
          <a:p>
            <a:r>
              <a:rPr lang="en-US" altLang="zh-CN" b="1">
                <a:solidFill>
                  <a:schemeClr val="tx2"/>
                </a:solidFill>
                <a:latin typeface="helvetica" panose="020B0604020202020204" pitchFamily="34" charset="0"/>
                <a:cs typeface="helvetica" panose="020B0604020202020204" pitchFamily="34" charset="0"/>
              </a:rPr>
              <a:t>Application</a:t>
            </a:r>
            <a:endParaRPr lang="zh-CN" altLang="en-US" b="1">
              <a:solidFill>
                <a:schemeClr val="tx2"/>
              </a:solidFill>
              <a:latin typeface="helvetica" panose="020B0604020202020204" pitchFamily="34" charset="0"/>
              <a:cs typeface="helvetica" panose="020B0604020202020204" pitchFamily="34" charset="0"/>
            </a:endParaRPr>
          </a:p>
        </p:txBody>
      </p:sp>
      <p:sp>
        <p:nvSpPr>
          <p:cNvPr id="8" name="文本框 52">
            <a:extLst>
              <a:ext uri="{FF2B5EF4-FFF2-40B4-BE49-F238E27FC236}">
                <a16:creationId xmlns:a16="http://schemas.microsoft.com/office/drawing/2014/main" id="{C50C2A39-72A6-3B10-45C2-1BAC37C5A6C9}"/>
              </a:ext>
            </a:extLst>
          </p:cNvPr>
          <p:cNvSpPr txBox="1"/>
          <p:nvPr/>
        </p:nvSpPr>
        <p:spPr>
          <a:xfrm>
            <a:off x="8145265" y="4582715"/>
            <a:ext cx="1213494" cy="369332"/>
          </a:xfrm>
          <a:prstGeom prst="rect">
            <a:avLst/>
          </a:prstGeom>
          <a:noFill/>
        </p:spPr>
        <p:txBody>
          <a:bodyPr wrap="square" rtlCol="0">
            <a:spAutoFit/>
          </a:bodyPr>
          <a:lstStyle/>
          <a:p>
            <a:r>
              <a:rPr lang="en-US" altLang="zh-CN" b="1">
                <a:latin typeface="helvetica" panose="020B0604020202020204" pitchFamily="34" charset="0"/>
                <a:cs typeface="helvetica" panose="020B0604020202020204" pitchFamily="34" charset="0"/>
              </a:rPr>
              <a:t>Kernel</a:t>
            </a:r>
            <a:endParaRPr lang="zh-CN" altLang="en-US" b="1">
              <a:latin typeface="helvetica" panose="020B0604020202020204" pitchFamily="34" charset="0"/>
              <a:cs typeface="helvetica" panose="020B0604020202020204" pitchFamily="34" charset="0"/>
            </a:endParaRPr>
          </a:p>
        </p:txBody>
      </p:sp>
      <p:sp>
        <p:nvSpPr>
          <p:cNvPr id="11" name="Rectangle: Rounded Corners 10">
            <a:extLst>
              <a:ext uri="{FF2B5EF4-FFF2-40B4-BE49-F238E27FC236}">
                <a16:creationId xmlns:a16="http://schemas.microsoft.com/office/drawing/2014/main" id="{901FBC7C-F263-0A8B-E312-A4A7A0E3C9D2}"/>
              </a:ext>
            </a:extLst>
          </p:cNvPr>
          <p:cNvSpPr/>
          <p:nvPr/>
        </p:nvSpPr>
        <p:spPr>
          <a:xfrm>
            <a:off x="5069756" y="2843755"/>
            <a:ext cx="1329029" cy="708616"/>
          </a:xfrm>
          <a:prstGeom prst="roundRect">
            <a:avLst/>
          </a:prstGeom>
          <a:solidFill>
            <a:srgbClr val="66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Resource A</a:t>
            </a:r>
          </a:p>
        </p:txBody>
      </p:sp>
      <p:cxnSp>
        <p:nvCxnSpPr>
          <p:cNvPr id="12" name="Straight Connector 11">
            <a:extLst>
              <a:ext uri="{FF2B5EF4-FFF2-40B4-BE49-F238E27FC236}">
                <a16:creationId xmlns:a16="http://schemas.microsoft.com/office/drawing/2014/main" id="{03C6CD70-92A3-43A9-54E4-5128C6BEF4BF}"/>
              </a:ext>
            </a:extLst>
          </p:cNvPr>
          <p:cNvCxnSpPr>
            <a:cxnSpLocks/>
          </p:cNvCxnSpPr>
          <p:nvPr/>
        </p:nvCxnSpPr>
        <p:spPr>
          <a:xfrm>
            <a:off x="2407522" y="4525304"/>
            <a:ext cx="6837482" cy="0"/>
          </a:xfrm>
          <a:prstGeom prst="line">
            <a:avLst/>
          </a:prstGeom>
          <a:ln w="38100">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grpSp>
        <p:nvGrpSpPr>
          <p:cNvPr id="69" name="Group 68">
            <a:extLst>
              <a:ext uri="{FF2B5EF4-FFF2-40B4-BE49-F238E27FC236}">
                <a16:creationId xmlns:a16="http://schemas.microsoft.com/office/drawing/2014/main" id="{EDFA2638-9711-0033-3B14-C9258ECAED7C}"/>
              </a:ext>
            </a:extLst>
          </p:cNvPr>
          <p:cNvGrpSpPr/>
          <p:nvPr/>
        </p:nvGrpSpPr>
        <p:grpSpPr>
          <a:xfrm>
            <a:off x="3524210" y="2083383"/>
            <a:ext cx="4173394" cy="1651177"/>
            <a:chOff x="2165906" y="2083383"/>
            <a:chExt cx="4173394" cy="1651177"/>
          </a:xfrm>
        </p:grpSpPr>
        <p:sp>
          <p:nvSpPr>
            <p:cNvPr id="9" name="任意多边形: 形状 54">
              <a:extLst>
                <a:ext uri="{FF2B5EF4-FFF2-40B4-BE49-F238E27FC236}">
                  <a16:creationId xmlns:a16="http://schemas.microsoft.com/office/drawing/2014/main" id="{43F4EC08-7DDD-1850-6D06-EA27206F11DC}"/>
                </a:ext>
              </a:extLst>
            </p:cNvPr>
            <p:cNvSpPr/>
            <p:nvPr/>
          </p:nvSpPr>
          <p:spPr>
            <a:xfrm rot="16200000">
              <a:off x="1837470" y="2911600"/>
              <a:ext cx="1463040" cy="182880"/>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54">
              <a:extLst>
                <a:ext uri="{FF2B5EF4-FFF2-40B4-BE49-F238E27FC236}">
                  <a16:creationId xmlns:a16="http://schemas.microsoft.com/office/drawing/2014/main" id="{ACEB9ABA-5434-F99B-A3B1-E88F203B40B6}"/>
                </a:ext>
              </a:extLst>
            </p:cNvPr>
            <p:cNvSpPr/>
            <p:nvPr/>
          </p:nvSpPr>
          <p:spPr>
            <a:xfrm rot="16200000">
              <a:off x="5186957" y="2890681"/>
              <a:ext cx="1463040" cy="182880"/>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Straight Connector 45">
              <a:extLst>
                <a:ext uri="{FF2B5EF4-FFF2-40B4-BE49-F238E27FC236}">
                  <a16:creationId xmlns:a16="http://schemas.microsoft.com/office/drawing/2014/main" id="{77FB18CE-CF41-ECC8-67D9-5361FC184206}"/>
                </a:ext>
              </a:extLst>
            </p:cNvPr>
            <p:cNvCxnSpPr>
              <a:cxnSpLocks/>
              <a:stCxn id="11" idx="3"/>
              <a:endCxn id="19" idx="7"/>
            </p:cNvCxnSpPr>
            <p:nvPr/>
          </p:nvCxnSpPr>
          <p:spPr>
            <a:xfrm flipV="1">
              <a:off x="5040481" y="2896047"/>
              <a:ext cx="788224" cy="302016"/>
            </a:xfrm>
            <a:prstGeom prst="line">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CB0A016-2027-B452-FCA8-79A1EE366B03}"/>
                </a:ext>
              </a:extLst>
            </p:cNvPr>
            <p:cNvSpPr txBox="1"/>
            <p:nvPr/>
          </p:nvSpPr>
          <p:spPr>
            <a:xfrm>
              <a:off x="5010555" y="2536539"/>
              <a:ext cx="686406" cy="369332"/>
            </a:xfrm>
            <a:prstGeom prst="rect">
              <a:avLst/>
            </a:prstGeom>
            <a:noFill/>
          </p:spPr>
          <p:txBody>
            <a:bodyPr wrap="none" rtlCol="0">
              <a:spAutoFit/>
            </a:bodyPr>
            <a:lstStyle/>
            <a:p>
              <a:r>
                <a:rPr lang="en-US"/>
                <a:t>Block</a:t>
              </a:r>
            </a:p>
          </p:txBody>
        </p:sp>
        <p:sp>
          <p:nvSpPr>
            <p:cNvPr id="16" name="TextBox 15">
              <a:extLst>
                <a:ext uri="{FF2B5EF4-FFF2-40B4-BE49-F238E27FC236}">
                  <a16:creationId xmlns:a16="http://schemas.microsoft.com/office/drawing/2014/main" id="{7EB37C6B-502A-2074-3E32-35018B17F9A9}"/>
                </a:ext>
              </a:extLst>
            </p:cNvPr>
            <p:cNvSpPr txBox="1"/>
            <p:nvPr/>
          </p:nvSpPr>
          <p:spPr>
            <a:xfrm>
              <a:off x="5505867" y="2083383"/>
              <a:ext cx="833433" cy="338554"/>
            </a:xfrm>
            <a:prstGeom prst="rect">
              <a:avLst/>
            </a:prstGeom>
            <a:solidFill>
              <a:schemeClr val="accent1"/>
            </a:solidFill>
            <a:ln>
              <a:solidFill>
                <a:schemeClr val="accent1"/>
              </a:solidFill>
            </a:ln>
          </p:spPr>
          <p:txBody>
            <a:bodyPr wrap="none" rtlCol="0">
              <a:spAutoFit/>
            </a:bodyPr>
            <a:lstStyle/>
            <a:p>
              <a:r>
                <a:rPr lang="en-US" sz="1600" b="1">
                  <a:solidFill>
                    <a:schemeClr val="bg1"/>
                  </a:solidFill>
                  <a:latin typeface="helvetica" panose="020B0604020202020204" pitchFamily="34" charset="0"/>
                  <a:cs typeface="helvetica" panose="020B0604020202020204" pitchFamily="34" charset="0"/>
                </a:rPr>
                <a:t>Task B</a:t>
              </a:r>
            </a:p>
          </p:txBody>
        </p:sp>
        <p:sp>
          <p:nvSpPr>
            <p:cNvPr id="17" name="TextBox 16">
              <a:extLst>
                <a:ext uri="{FF2B5EF4-FFF2-40B4-BE49-F238E27FC236}">
                  <a16:creationId xmlns:a16="http://schemas.microsoft.com/office/drawing/2014/main" id="{66BDB617-C299-4C6B-5FE3-20691F394213}"/>
                </a:ext>
              </a:extLst>
            </p:cNvPr>
            <p:cNvSpPr txBox="1"/>
            <p:nvPr/>
          </p:nvSpPr>
          <p:spPr>
            <a:xfrm>
              <a:off x="2165906" y="2094757"/>
              <a:ext cx="833433" cy="338554"/>
            </a:xfrm>
            <a:prstGeom prst="rect">
              <a:avLst/>
            </a:prstGeom>
            <a:solidFill>
              <a:schemeClr val="accent1"/>
            </a:solidFill>
          </p:spPr>
          <p:txBody>
            <a:bodyPr wrap="none" rtlCol="0">
              <a:spAutoFit/>
            </a:bodyPr>
            <a:lstStyle/>
            <a:p>
              <a:r>
                <a:rPr lang="en-US" sz="1600" b="1">
                  <a:solidFill>
                    <a:schemeClr val="bg1"/>
                  </a:solidFill>
                  <a:latin typeface="helvetica" panose="020B0604020202020204" pitchFamily="34" charset="0"/>
                  <a:cs typeface="helvetica" panose="020B0604020202020204" pitchFamily="34" charset="0"/>
                </a:rPr>
                <a:t>Task A</a:t>
              </a:r>
            </a:p>
          </p:txBody>
        </p:sp>
        <p:sp>
          <p:nvSpPr>
            <p:cNvPr id="18" name="Oval 17">
              <a:extLst>
                <a:ext uri="{FF2B5EF4-FFF2-40B4-BE49-F238E27FC236}">
                  <a16:creationId xmlns:a16="http://schemas.microsoft.com/office/drawing/2014/main" id="{15C42C83-2C36-2EC3-A964-0B862E45695C}"/>
                </a:ext>
              </a:extLst>
            </p:cNvPr>
            <p:cNvSpPr/>
            <p:nvPr/>
          </p:nvSpPr>
          <p:spPr>
            <a:xfrm rot="5400000" flipV="1">
              <a:off x="2430144" y="2661900"/>
              <a:ext cx="274320" cy="274320"/>
            </a:xfrm>
            <a:prstGeom prst="ellipse">
              <a:avLst/>
            </a:prstGeom>
            <a:ln w="38100">
              <a:solidFill>
                <a:srgbClr val="FEA40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53043B2A-E417-0BD4-EDAA-B300EC36C9AC}"/>
                </a:ext>
              </a:extLst>
            </p:cNvPr>
            <p:cNvSpPr/>
            <p:nvPr/>
          </p:nvSpPr>
          <p:spPr>
            <a:xfrm rot="5400000" flipV="1">
              <a:off x="5788532" y="2661900"/>
              <a:ext cx="274320" cy="274320"/>
            </a:xfrm>
            <a:prstGeom prst="ellipse">
              <a:avLst/>
            </a:prstGeom>
            <a:ln w="38100">
              <a:solidFill>
                <a:srgbClr val="C55A1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20" name="Straight Connector 45">
              <a:extLst>
                <a:ext uri="{FF2B5EF4-FFF2-40B4-BE49-F238E27FC236}">
                  <a16:creationId xmlns:a16="http://schemas.microsoft.com/office/drawing/2014/main" id="{79911875-30B3-462A-F955-D80E7451E900}"/>
                </a:ext>
              </a:extLst>
            </p:cNvPr>
            <p:cNvCxnSpPr>
              <a:cxnSpLocks/>
              <a:stCxn id="18" idx="5"/>
              <a:endCxn id="11" idx="1"/>
            </p:cNvCxnSpPr>
            <p:nvPr/>
          </p:nvCxnSpPr>
          <p:spPr>
            <a:xfrm>
              <a:off x="2664291" y="2896047"/>
              <a:ext cx="1047161" cy="302016"/>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A8F1D08-1FC3-3DA7-65D1-32BF401B2F85}"/>
                </a:ext>
              </a:extLst>
            </p:cNvPr>
            <p:cNvSpPr txBox="1"/>
            <p:nvPr/>
          </p:nvSpPr>
          <p:spPr>
            <a:xfrm>
              <a:off x="2876145" y="2609829"/>
              <a:ext cx="603050" cy="369332"/>
            </a:xfrm>
            <a:prstGeom prst="rect">
              <a:avLst/>
            </a:prstGeom>
            <a:noFill/>
          </p:spPr>
          <p:txBody>
            <a:bodyPr wrap="none" rtlCol="0">
              <a:spAutoFit/>
            </a:bodyPr>
            <a:lstStyle/>
            <a:p>
              <a:r>
                <a:rPr lang="en-US" altLang="zh-CN"/>
                <a:t>hold</a:t>
              </a:r>
              <a:endParaRPr lang="en-US"/>
            </a:p>
          </p:txBody>
        </p:sp>
      </p:grpSp>
      <p:grpSp>
        <p:nvGrpSpPr>
          <p:cNvPr id="68" name="Group 67">
            <a:extLst>
              <a:ext uri="{FF2B5EF4-FFF2-40B4-BE49-F238E27FC236}">
                <a16:creationId xmlns:a16="http://schemas.microsoft.com/office/drawing/2014/main" id="{FB499EC7-3210-4C7F-B2B9-9F1916C98908}"/>
              </a:ext>
            </a:extLst>
          </p:cNvPr>
          <p:cNvGrpSpPr/>
          <p:nvPr/>
        </p:nvGrpSpPr>
        <p:grpSpPr>
          <a:xfrm>
            <a:off x="2816660" y="5415863"/>
            <a:ext cx="6058807" cy="1144872"/>
            <a:chOff x="1449820" y="5036399"/>
            <a:chExt cx="6058807" cy="1144872"/>
          </a:xfrm>
        </p:grpSpPr>
        <p:grpSp>
          <p:nvGrpSpPr>
            <p:cNvPr id="67" name="Group 66">
              <a:extLst>
                <a:ext uri="{FF2B5EF4-FFF2-40B4-BE49-F238E27FC236}">
                  <a16:creationId xmlns:a16="http://schemas.microsoft.com/office/drawing/2014/main" id="{898CFCB7-0FBF-3E2A-80E4-1AD67B1EA756}"/>
                </a:ext>
              </a:extLst>
            </p:cNvPr>
            <p:cNvGrpSpPr/>
            <p:nvPr/>
          </p:nvGrpSpPr>
          <p:grpSpPr>
            <a:xfrm>
              <a:off x="1449820" y="5036399"/>
              <a:ext cx="6058807" cy="1137387"/>
              <a:chOff x="1449820" y="5036399"/>
              <a:chExt cx="6058807" cy="1137387"/>
            </a:xfrm>
          </p:grpSpPr>
          <p:sp>
            <p:nvSpPr>
              <p:cNvPr id="13" name="Rectangle 12">
                <a:extLst>
                  <a:ext uri="{FF2B5EF4-FFF2-40B4-BE49-F238E27FC236}">
                    <a16:creationId xmlns:a16="http://schemas.microsoft.com/office/drawing/2014/main" id="{5C4AE944-A4C8-FFCA-8D33-A32C3D8A3569}"/>
                  </a:ext>
                </a:extLst>
              </p:cNvPr>
              <p:cNvSpPr/>
              <p:nvPr/>
            </p:nvSpPr>
            <p:spPr>
              <a:xfrm>
                <a:off x="1449820" y="5036399"/>
                <a:ext cx="6058807" cy="1137387"/>
              </a:xfrm>
              <a:prstGeom prst="rect">
                <a:avLst/>
              </a:prstGeom>
              <a:noFill/>
              <a:ln w="38100">
                <a:solidFill>
                  <a:schemeClr val="tx1"/>
                </a:solidFill>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文本框 2">
                <a:extLst>
                  <a:ext uri="{FF2B5EF4-FFF2-40B4-BE49-F238E27FC236}">
                    <a16:creationId xmlns:a16="http://schemas.microsoft.com/office/drawing/2014/main" id="{98C13504-6F24-08DC-1E45-F5D49FF96098}"/>
                  </a:ext>
                </a:extLst>
              </p:cNvPr>
              <p:cNvSpPr txBox="1"/>
              <p:nvPr/>
            </p:nvSpPr>
            <p:spPr>
              <a:xfrm>
                <a:off x="1853263" y="5423619"/>
                <a:ext cx="1097280" cy="3657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CPU</a:t>
                </a:r>
                <a:endParaRPr lang="zh-CN" altLang="en-US" b="1">
                  <a:latin typeface="helvetica" panose="020B0604020202020204" pitchFamily="34" charset="0"/>
                  <a:cs typeface="helvetica" panose="020B0604020202020204" pitchFamily="34" charset="0"/>
                </a:endParaRPr>
              </a:p>
            </p:txBody>
          </p:sp>
          <p:sp>
            <p:nvSpPr>
              <p:cNvPr id="23" name="文本框 2">
                <a:extLst>
                  <a:ext uri="{FF2B5EF4-FFF2-40B4-BE49-F238E27FC236}">
                    <a16:creationId xmlns:a16="http://schemas.microsoft.com/office/drawing/2014/main" id="{8CD18EDD-0CC6-932D-D64B-9F3858803A98}"/>
                  </a:ext>
                </a:extLst>
              </p:cNvPr>
              <p:cNvSpPr txBox="1"/>
              <p:nvPr/>
            </p:nvSpPr>
            <p:spPr>
              <a:xfrm>
                <a:off x="3276335" y="5387781"/>
                <a:ext cx="1097280" cy="36576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Memory</a:t>
                </a:r>
                <a:endParaRPr lang="zh-CN" altLang="en-US" b="1">
                  <a:latin typeface="helvetica" panose="020B0604020202020204" pitchFamily="34" charset="0"/>
                  <a:cs typeface="helvetica" panose="020B0604020202020204" pitchFamily="34" charset="0"/>
                </a:endParaRPr>
              </a:p>
            </p:txBody>
          </p:sp>
          <p:sp>
            <p:nvSpPr>
              <p:cNvPr id="24" name="文本框 2">
                <a:extLst>
                  <a:ext uri="{FF2B5EF4-FFF2-40B4-BE49-F238E27FC236}">
                    <a16:creationId xmlns:a16="http://schemas.microsoft.com/office/drawing/2014/main" id="{DC0DA831-C905-D851-08EF-42FC8DD3C8A1}"/>
                  </a:ext>
                </a:extLst>
              </p:cNvPr>
              <p:cNvSpPr txBox="1"/>
              <p:nvPr/>
            </p:nvSpPr>
            <p:spPr>
              <a:xfrm>
                <a:off x="4699407" y="5386083"/>
                <a:ext cx="1097280" cy="36576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Disk</a:t>
                </a:r>
                <a:endParaRPr lang="zh-CN" altLang="en-US" b="1">
                  <a:latin typeface="helvetica" panose="020B0604020202020204" pitchFamily="34" charset="0"/>
                  <a:cs typeface="helvetica" panose="020B0604020202020204" pitchFamily="34" charset="0"/>
                </a:endParaRPr>
              </a:p>
            </p:txBody>
          </p:sp>
        </p:grpSp>
        <p:sp>
          <p:nvSpPr>
            <p:cNvPr id="25" name="TextBox 24">
              <a:extLst>
                <a:ext uri="{FF2B5EF4-FFF2-40B4-BE49-F238E27FC236}">
                  <a16:creationId xmlns:a16="http://schemas.microsoft.com/office/drawing/2014/main" id="{068B1295-8003-7A7C-894C-B92E08C2DD0F}"/>
                </a:ext>
              </a:extLst>
            </p:cNvPr>
            <p:cNvSpPr txBox="1"/>
            <p:nvPr/>
          </p:nvSpPr>
          <p:spPr>
            <a:xfrm>
              <a:off x="4740767" y="5811939"/>
              <a:ext cx="2714111" cy="369332"/>
            </a:xfrm>
            <a:prstGeom prst="rect">
              <a:avLst/>
            </a:prstGeom>
            <a:noFill/>
          </p:spPr>
          <p:txBody>
            <a:bodyPr wrap="square">
              <a:spAutoFit/>
            </a:bodyPr>
            <a:lstStyle/>
            <a:p>
              <a:pPr algn="ctr"/>
              <a:r>
                <a:rPr lang="en-US"/>
                <a:t>Resource Management</a:t>
              </a:r>
            </a:p>
          </p:txBody>
        </p:sp>
      </p:grpSp>
      <p:pic>
        <p:nvPicPr>
          <p:cNvPr id="26" name="Graphic 25" descr="Blind with solid fill">
            <a:extLst>
              <a:ext uri="{FF2B5EF4-FFF2-40B4-BE49-F238E27FC236}">
                <a16:creationId xmlns:a16="http://schemas.microsoft.com/office/drawing/2014/main" id="{8E250F55-E8ED-9E2B-F5AA-96B7AE026B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80027" y="4079520"/>
            <a:ext cx="914400" cy="914400"/>
          </a:xfrm>
          <a:prstGeom prst="rect">
            <a:avLst/>
          </a:prstGeom>
        </p:spPr>
      </p:pic>
      <p:sp>
        <p:nvSpPr>
          <p:cNvPr id="34" name="Rectangle: Rounded Corners 33">
            <a:extLst>
              <a:ext uri="{FF2B5EF4-FFF2-40B4-BE49-F238E27FC236}">
                <a16:creationId xmlns:a16="http://schemas.microsoft.com/office/drawing/2014/main" id="{525433AA-F2F4-D661-BCF2-38791A44423F}"/>
              </a:ext>
            </a:extLst>
          </p:cNvPr>
          <p:cNvSpPr/>
          <p:nvPr/>
        </p:nvSpPr>
        <p:spPr>
          <a:xfrm>
            <a:off x="4357643" y="4799595"/>
            <a:ext cx="2691187" cy="39204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err="1"/>
              <a:t>pBox</a:t>
            </a:r>
            <a:r>
              <a:rPr lang="en-US"/>
              <a:t> Manager</a:t>
            </a:r>
          </a:p>
        </p:txBody>
      </p:sp>
      <p:cxnSp>
        <p:nvCxnSpPr>
          <p:cNvPr id="35" name="Straight Connector 45">
            <a:extLst>
              <a:ext uri="{FF2B5EF4-FFF2-40B4-BE49-F238E27FC236}">
                <a16:creationId xmlns:a16="http://schemas.microsoft.com/office/drawing/2014/main" id="{6EAD3A47-8FED-86BF-FEAA-19417BB48D4E}"/>
              </a:ext>
            </a:extLst>
          </p:cNvPr>
          <p:cNvCxnSpPr>
            <a:cxnSpLocks/>
            <a:stCxn id="18" idx="5"/>
          </p:cNvCxnSpPr>
          <p:nvPr/>
        </p:nvCxnSpPr>
        <p:spPr>
          <a:xfrm>
            <a:off x="4022595" y="2896047"/>
            <a:ext cx="811513" cy="1096764"/>
          </a:xfrm>
          <a:prstGeom prst="line">
            <a:avLst/>
          </a:prstGeom>
          <a:ln w="1905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Straight Connector 45">
            <a:extLst>
              <a:ext uri="{FF2B5EF4-FFF2-40B4-BE49-F238E27FC236}">
                <a16:creationId xmlns:a16="http://schemas.microsoft.com/office/drawing/2014/main" id="{FA070626-2479-E7D6-647D-E13032E1E393}"/>
              </a:ext>
            </a:extLst>
          </p:cNvPr>
          <p:cNvCxnSpPr>
            <a:cxnSpLocks/>
          </p:cNvCxnSpPr>
          <p:nvPr/>
        </p:nvCxnSpPr>
        <p:spPr>
          <a:xfrm flipH="1">
            <a:off x="6217573" y="3061384"/>
            <a:ext cx="575324" cy="944514"/>
          </a:xfrm>
          <a:prstGeom prst="line">
            <a:avLst/>
          </a:prstGeom>
          <a:ln w="19050">
            <a:solidFill>
              <a:srgbClr val="C0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Connector 45">
            <a:extLst>
              <a:ext uri="{FF2B5EF4-FFF2-40B4-BE49-F238E27FC236}">
                <a16:creationId xmlns:a16="http://schemas.microsoft.com/office/drawing/2014/main" id="{A261D790-0791-3A7E-581B-319C05372C8F}"/>
              </a:ext>
            </a:extLst>
          </p:cNvPr>
          <p:cNvCxnSpPr>
            <a:cxnSpLocks/>
            <a:stCxn id="11" idx="2"/>
          </p:cNvCxnSpPr>
          <p:nvPr/>
        </p:nvCxnSpPr>
        <p:spPr>
          <a:xfrm>
            <a:off x="5734271" y="3552371"/>
            <a:ext cx="30402" cy="1269741"/>
          </a:xfrm>
          <a:prstGeom prst="line">
            <a:avLst/>
          </a:prstGeom>
          <a:ln w="381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4" name="Straight Connector 45">
            <a:extLst>
              <a:ext uri="{FF2B5EF4-FFF2-40B4-BE49-F238E27FC236}">
                <a16:creationId xmlns:a16="http://schemas.microsoft.com/office/drawing/2014/main" id="{3EC08FA0-C8E7-251C-FD60-36E63107FAFB}"/>
              </a:ext>
            </a:extLst>
          </p:cNvPr>
          <p:cNvCxnSpPr>
            <a:cxnSpLocks/>
          </p:cNvCxnSpPr>
          <p:nvPr/>
        </p:nvCxnSpPr>
        <p:spPr>
          <a:xfrm>
            <a:off x="6608819" y="5212213"/>
            <a:ext cx="1097280" cy="365760"/>
          </a:xfrm>
          <a:prstGeom prst="line">
            <a:avLst/>
          </a:prstGeom>
          <a:ln w="381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E30144E8-A0FF-8B7A-E8D1-AA7DFBD8CC18}"/>
              </a:ext>
            </a:extLst>
          </p:cNvPr>
          <p:cNvSpPr/>
          <p:nvPr/>
        </p:nvSpPr>
        <p:spPr>
          <a:xfrm>
            <a:off x="7395591" y="5682227"/>
            <a:ext cx="1311823" cy="488604"/>
          </a:xfrm>
          <a:prstGeom prst="roundRect">
            <a:avLst/>
          </a:prstGeom>
          <a:solidFill>
            <a:srgbClr val="66CCFF">
              <a:alpha val="50000"/>
            </a:srgbClr>
          </a:solid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a:t>
            </a:r>
            <a:r>
              <a:rPr lang="en-US" b="1"/>
              <a:t> </a:t>
            </a:r>
            <a:r>
              <a:rPr lang="en-US" b="1">
                <a:solidFill>
                  <a:schemeClr val="tx1"/>
                </a:solidFill>
              </a:rPr>
              <a:t>A</a:t>
            </a:r>
          </a:p>
        </p:txBody>
      </p:sp>
      <p:sp>
        <p:nvSpPr>
          <p:cNvPr id="59" name="Rectangle 58">
            <a:extLst>
              <a:ext uri="{FF2B5EF4-FFF2-40B4-BE49-F238E27FC236}">
                <a16:creationId xmlns:a16="http://schemas.microsoft.com/office/drawing/2014/main" id="{0DB475CA-8607-1DBA-4B20-209E5136EAFA}"/>
              </a:ext>
            </a:extLst>
          </p:cNvPr>
          <p:cNvSpPr/>
          <p:nvPr/>
        </p:nvSpPr>
        <p:spPr>
          <a:xfrm>
            <a:off x="3293571" y="2000172"/>
            <a:ext cx="1126913" cy="1971444"/>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5A601A0E-6589-DB6A-6BCF-6CC9E08DE2C0}"/>
              </a:ext>
            </a:extLst>
          </p:cNvPr>
          <p:cNvSpPr/>
          <p:nvPr/>
        </p:nvSpPr>
        <p:spPr>
          <a:xfrm>
            <a:off x="6733212" y="1920149"/>
            <a:ext cx="1126913" cy="1971444"/>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 name="TextBox 81">
            <a:extLst>
              <a:ext uri="{FF2B5EF4-FFF2-40B4-BE49-F238E27FC236}">
                <a16:creationId xmlns:a16="http://schemas.microsoft.com/office/drawing/2014/main" id="{08B499A9-F3A0-6D7A-D8AC-8513FAC14689}"/>
              </a:ext>
            </a:extLst>
          </p:cNvPr>
          <p:cNvSpPr txBox="1"/>
          <p:nvPr/>
        </p:nvSpPr>
        <p:spPr>
          <a:xfrm>
            <a:off x="2580279" y="2536539"/>
            <a:ext cx="648254" cy="369332"/>
          </a:xfrm>
          <a:prstGeom prst="rect">
            <a:avLst/>
          </a:prstGeom>
          <a:noFill/>
        </p:spPr>
        <p:txBody>
          <a:bodyPr wrap="none" rtlCol="0">
            <a:spAutoFit/>
          </a:bodyPr>
          <a:lstStyle/>
          <a:p>
            <a:r>
              <a:rPr lang="en-US" err="1">
                <a:solidFill>
                  <a:srgbClr val="7030A0"/>
                </a:solidFill>
              </a:rPr>
              <a:t>pBox</a:t>
            </a:r>
            <a:endParaRPr lang="en-US">
              <a:solidFill>
                <a:srgbClr val="7030A0"/>
              </a:solidFill>
            </a:endParaRPr>
          </a:p>
        </p:txBody>
      </p:sp>
      <p:sp>
        <p:nvSpPr>
          <p:cNvPr id="83" name="TextBox 82">
            <a:extLst>
              <a:ext uri="{FF2B5EF4-FFF2-40B4-BE49-F238E27FC236}">
                <a16:creationId xmlns:a16="http://schemas.microsoft.com/office/drawing/2014/main" id="{E3238FC4-07C7-8E91-2A62-11AD7B2EEEA8}"/>
              </a:ext>
            </a:extLst>
          </p:cNvPr>
          <p:cNvSpPr txBox="1"/>
          <p:nvPr/>
        </p:nvSpPr>
        <p:spPr>
          <a:xfrm>
            <a:off x="7988127" y="2457076"/>
            <a:ext cx="648254" cy="369332"/>
          </a:xfrm>
          <a:prstGeom prst="rect">
            <a:avLst/>
          </a:prstGeom>
          <a:noFill/>
        </p:spPr>
        <p:txBody>
          <a:bodyPr wrap="none" rtlCol="0">
            <a:spAutoFit/>
          </a:bodyPr>
          <a:lstStyle/>
          <a:p>
            <a:r>
              <a:rPr lang="en-US" err="1">
                <a:solidFill>
                  <a:srgbClr val="7030A0"/>
                </a:solidFill>
              </a:rPr>
              <a:t>pBox</a:t>
            </a:r>
            <a:endParaRPr lang="en-US">
              <a:solidFill>
                <a:srgbClr val="7030A0"/>
              </a:solidFill>
            </a:endParaRPr>
          </a:p>
        </p:txBody>
      </p:sp>
      <p:sp>
        <p:nvSpPr>
          <p:cNvPr id="33" name="Rectangle: Rounded Corners 32">
            <a:extLst>
              <a:ext uri="{FF2B5EF4-FFF2-40B4-BE49-F238E27FC236}">
                <a16:creationId xmlns:a16="http://schemas.microsoft.com/office/drawing/2014/main" id="{DC26F09C-38A2-F203-1EDC-E4DB6AA0E2B5}"/>
              </a:ext>
            </a:extLst>
          </p:cNvPr>
          <p:cNvSpPr/>
          <p:nvPr/>
        </p:nvSpPr>
        <p:spPr>
          <a:xfrm>
            <a:off x="4366864" y="4013383"/>
            <a:ext cx="2691187" cy="392046"/>
          </a:xfrm>
          <a:prstGeom prst="roundRect">
            <a:avLst/>
          </a:prstGeom>
          <a:solidFill>
            <a:schemeClr val="lt1">
              <a:alpha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err="1"/>
              <a:t>pBox</a:t>
            </a:r>
            <a:r>
              <a:rPr lang="en-US"/>
              <a:t> Runtime</a:t>
            </a:r>
          </a:p>
        </p:txBody>
      </p:sp>
    </p:spTree>
    <p:extLst>
      <p:ext uri="{BB962C8B-B14F-4D97-AF65-F5344CB8AC3E}">
        <p14:creationId xmlns:p14="http://schemas.microsoft.com/office/powerpoint/2010/main" val="2317355009"/>
      </p:ext>
    </p:extLst>
  </p:cSld>
  <p:clrMapOvr>
    <a:masterClrMapping/>
  </p:clrMapOvr>
  <mc:AlternateContent xmlns:mc="http://schemas.openxmlformats.org/markup-compatibility/2006" xmlns:p14="http://schemas.microsoft.com/office/powerpoint/2010/main">
    <mc:Choice Requires="p14">
      <p:transition spd="slow" p14:dur="2000" advTm="35907"/>
    </mc:Choice>
    <mc:Fallback xmlns="">
      <p:transition spd="slow" advTm="359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dissolve">
                                      <p:cBhvr>
                                        <p:cTn id="7" dur="500"/>
                                        <p:tgtEl>
                                          <p:spTgt spid="6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dissolve">
                                      <p:cBhvr>
                                        <p:cTn id="10" dur="500"/>
                                        <p:tgtEl>
                                          <p:spTgt spid="5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dissolve">
                                      <p:cBhvr>
                                        <p:cTn id="13" dur="500"/>
                                        <p:tgtEl>
                                          <p:spTgt spid="8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26"/>
                                        </p:tgtEl>
                                        <p:attrNameLst>
                                          <p:attrName>style.visibility</p:attrName>
                                        </p:attrNameLst>
                                      </p:cBhvr>
                                      <p:to>
                                        <p:strVal val="hidden"/>
                                      </p:to>
                                    </p:set>
                                  </p:childTnLst>
                                </p:cTn>
                              </p:par>
                              <p:par>
                                <p:cTn id="18" presetID="9" presetClass="entr" presetSubtype="0" fill="hold" nodeType="with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dissolve">
                                      <p:cBhvr>
                                        <p:cTn id="20" dur="500"/>
                                        <p:tgtEl>
                                          <p:spTgt spid="38"/>
                                        </p:tgtEl>
                                      </p:cBhvr>
                                    </p:animEffect>
                                  </p:childTnLst>
                                </p:cTn>
                              </p:par>
                              <p:par>
                                <p:cTn id="21" presetID="9"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dissolve">
                                      <p:cBhvr>
                                        <p:cTn id="23" dur="500"/>
                                        <p:tgtEl>
                                          <p:spTgt spid="3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dissolve">
                                      <p:cBhvr>
                                        <p:cTn id="26" dur="500"/>
                                        <p:tgtEl>
                                          <p:spTgt spid="3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dissolve">
                                      <p:cBhvr>
                                        <p:cTn id="29" dur="500"/>
                                        <p:tgtEl>
                                          <p:spTgt spid="33"/>
                                        </p:tgtEl>
                                      </p:cBhvr>
                                    </p:animEffect>
                                  </p:childTnLst>
                                </p:cTn>
                              </p:par>
                              <p:par>
                                <p:cTn id="30" presetID="9" presetClass="entr" presetSubtype="0" fill="hold" nodeType="with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dissolve">
                                      <p:cBhvr>
                                        <p:cTn id="32" dur="500"/>
                                        <p:tgtEl>
                                          <p:spTgt spid="53"/>
                                        </p:tgtEl>
                                      </p:cBhvr>
                                    </p:animEffect>
                                  </p:childTnLst>
                                </p:cTn>
                              </p:par>
                              <p:par>
                                <p:cTn id="33" presetID="9"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dissolve">
                                      <p:cBhvr>
                                        <p:cTn id="35" dur="500"/>
                                        <p:tgtEl>
                                          <p:spTgt spid="54"/>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dissolve">
                                      <p:cBhvr>
                                        <p:cTn id="38"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58" grpId="0" animBg="1"/>
      <p:bldP spid="59" grpId="0" animBg="1"/>
      <p:bldP spid="66" grpId="0" animBg="1"/>
      <p:bldP spid="82" grpId="0"/>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altLang="zh-CN" b="1" err="1">
                <a:latin typeface="helvetica" panose="020B0604020202020204" pitchFamily="34" charset="0"/>
                <a:cs typeface="helvetica" panose="020B0604020202020204" pitchFamily="34" charset="0"/>
              </a:rPr>
              <a:t>pBox</a:t>
            </a:r>
            <a:r>
              <a:rPr lang="en-US" altLang="zh-CN" b="1">
                <a:latin typeface="helvetica" panose="020B0604020202020204" pitchFamily="34" charset="0"/>
                <a:cs typeface="helvetica" panose="020B0604020202020204" pitchFamily="34" charset="0"/>
              </a:rPr>
              <a:t> APIs</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8CE01A88-6079-B684-E017-FB2AD006FACF}"/>
              </a:ext>
            </a:extLst>
          </p:cNvPr>
          <p:cNvSpPr>
            <a:spLocks noGrp="1"/>
          </p:cNvSpPr>
          <p:nvPr>
            <p:ph type="sldNum" sz="quarter" idx="12"/>
          </p:nvPr>
        </p:nvSpPr>
        <p:spPr/>
        <p:txBody>
          <a:bodyPr/>
          <a:lstStyle/>
          <a:p>
            <a:fld id="{330EA680-D336-4FF7-8B7A-9848BB0A1C32}" type="slidenum">
              <a:rPr lang="en-US" smtClean="0"/>
              <a:t>13</a:t>
            </a:fld>
            <a:endParaRPr lang="en-US"/>
          </a:p>
        </p:txBody>
      </p:sp>
      <p:graphicFrame>
        <p:nvGraphicFramePr>
          <p:cNvPr id="3" name="Table 2">
            <a:extLst>
              <a:ext uri="{FF2B5EF4-FFF2-40B4-BE49-F238E27FC236}">
                <a16:creationId xmlns:a16="http://schemas.microsoft.com/office/drawing/2014/main" id="{BED5A14F-1D2B-5262-5D69-1A4C48609E62}"/>
              </a:ext>
            </a:extLst>
          </p:cNvPr>
          <p:cNvGraphicFramePr>
            <a:graphicFrameLocks noGrp="1"/>
          </p:cNvGraphicFramePr>
          <p:nvPr>
            <p:extLst>
              <p:ext uri="{D42A27DB-BD31-4B8C-83A1-F6EECF244321}">
                <p14:modId xmlns:p14="http://schemas.microsoft.com/office/powerpoint/2010/main" val="50684604"/>
              </p:ext>
            </p:extLst>
          </p:nvPr>
        </p:nvGraphicFramePr>
        <p:xfrm>
          <a:off x="1552280" y="2985591"/>
          <a:ext cx="8616100" cy="3200400"/>
        </p:xfrm>
        <a:graphic>
          <a:graphicData uri="http://schemas.openxmlformats.org/drawingml/2006/table">
            <a:tbl>
              <a:tblPr firstRow="1" bandRow="1">
                <a:tableStyleId>{5C22544A-7EE6-4342-B048-85BDC9FD1C3A}</a:tableStyleId>
              </a:tblPr>
              <a:tblGrid>
                <a:gridCol w="1687611">
                  <a:extLst>
                    <a:ext uri="{9D8B030D-6E8A-4147-A177-3AD203B41FA5}">
                      <a16:colId xmlns:a16="http://schemas.microsoft.com/office/drawing/2014/main" val="3994544737"/>
                    </a:ext>
                  </a:extLst>
                </a:gridCol>
                <a:gridCol w="6928489">
                  <a:extLst>
                    <a:ext uri="{9D8B030D-6E8A-4147-A177-3AD203B41FA5}">
                      <a16:colId xmlns:a16="http://schemas.microsoft.com/office/drawing/2014/main" val="4087716715"/>
                    </a:ext>
                  </a:extLst>
                </a:gridCol>
              </a:tblGrid>
              <a:tr h="1188720">
                <a:tc>
                  <a:txBody>
                    <a:bodyPr/>
                    <a:lstStyle/>
                    <a:p>
                      <a:pPr algn="ctr">
                        <a:lnSpc>
                          <a:spcPct val="250000"/>
                        </a:lnSpc>
                      </a:pPr>
                      <a:r>
                        <a:rPr lang="en-US" sz="2400">
                          <a:solidFill>
                            <a:schemeClr val="tx1"/>
                          </a:solidFill>
                          <a:latin typeface="Consolas" panose="020B0609020204030204" pitchFamily="49" charset="0"/>
                        </a:rPr>
                        <a:t>Create</a:t>
                      </a:r>
                      <a:endParaRPr lang="en-US" sz="1400">
                        <a:solidFill>
                          <a:schemeClr val="tx1"/>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lnSpc>
                          <a:spcPct val="200000"/>
                        </a:lnSpc>
                        <a:buFont typeface="+mj-lt"/>
                        <a:buNone/>
                      </a:pPr>
                      <a:r>
                        <a:rPr lang="en-US" sz="2000">
                          <a:solidFill>
                            <a:schemeClr val="tx1"/>
                          </a:solidFill>
                          <a:latin typeface="Consolas" panose="020B0609020204030204" pitchFamily="49" charset="0"/>
                        </a:rPr>
                        <a:t>int </a:t>
                      </a:r>
                      <a:r>
                        <a:rPr lang="en-US" sz="2000" err="1">
                          <a:solidFill>
                            <a:schemeClr val="accent1">
                              <a:lumMod val="75000"/>
                            </a:schemeClr>
                          </a:solidFill>
                          <a:latin typeface="Consolas" panose="020B0609020204030204" pitchFamily="49" charset="0"/>
                        </a:rPr>
                        <a:t>create_pbox</a:t>
                      </a:r>
                      <a:r>
                        <a:rPr lang="en-US" sz="2000">
                          <a:solidFill>
                            <a:schemeClr val="tx1"/>
                          </a:solidFill>
                          <a:latin typeface="Consolas" panose="020B0609020204030204" pitchFamily="49" charset="0"/>
                        </a:rPr>
                        <a:t>(</a:t>
                      </a:r>
                      <a:r>
                        <a:rPr lang="en-US" sz="2000" err="1">
                          <a:solidFill>
                            <a:schemeClr val="tx1"/>
                          </a:solidFill>
                          <a:latin typeface="Consolas" panose="020B0609020204030204" pitchFamily="49" charset="0"/>
                        </a:rPr>
                        <a:t>IsolationRule</a:t>
                      </a:r>
                      <a:r>
                        <a:rPr lang="en-US" sz="2000">
                          <a:solidFill>
                            <a:schemeClr val="tx1"/>
                          </a:solidFill>
                          <a:latin typeface="Consolas" panose="020B0609020204030204" pitchFamily="49" charset="0"/>
                        </a:rPr>
                        <a:t> rule);</a:t>
                      </a:r>
                    </a:p>
                    <a:p>
                      <a:pPr marL="0" indent="0" algn="ctr">
                        <a:lnSpc>
                          <a:spcPct val="100000"/>
                        </a:lnSpc>
                        <a:buFont typeface="+mj-lt"/>
                        <a:buNone/>
                      </a:pPr>
                      <a:r>
                        <a:rPr lang="en-US" sz="2000">
                          <a:solidFill>
                            <a:schemeClr val="tx1"/>
                          </a:solidFill>
                          <a:latin typeface="Consolas" panose="020B0609020204030204" pitchFamily="49" charset="0"/>
                        </a:rPr>
                        <a:t>int </a:t>
                      </a:r>
                      <a:r>
                        <a:rPr lang="en-US" sz="2000" err="1">
                          <a:solidFill>
                            <a:schemeClr val="accent1">
                              <a:lumMod val="75000"/>
                            </a:schemeClr>
                          </a:solidFill>
                          <a:latin typeface="Consolas" panose="020B0609020204030204" pitchFamily="49" charset="0"/>
                        </a:rPr>
                        <a:t>release_pbox</a:t>
                      </a:r>
                      <a:r>
                        <a:rPr lang="en-US" sz="2000">
                          <a:solidFill>
                            <a:schemeClr val="tx1"/>
                          </a:solidFill>
                          <a:latin typeface="Consolas" panose="020B0609020204030204" pitchFamily="49" charset="0"/>
                        </a:rPr>
                        <a:t>(</a:t>
                      </a:r>
                      <a:r>
                        <a:rPr lang="en-US" sz="2000" err="1">
                          <a:solidFill>
                            <a:schemeClr val="tx1"/>
                          </a:solidFill>
                          <a:latin typeface="Consolas" panose="020B0609020204030204" pitchFamily="49" charset="0"/>
                        </a:rPr>
                        <a:t>IsolationRule</a:t>
                      </a:r>
                      <a:r>
                        <a:rPr lang="en-US" sz="2000">
                          <a:solidFill>
                            <a:schemeClr val="tx1"/>
                          </a:solidFill>
                          <a:latin typeface="Consolas" panose="020B0609020204030204" pitchFamily="49" charset="0"/>
                        </a:rPr>
                        <a:t> rule);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7936213"/>
                  </a:ext>
                </a:extLst>
              </a:tr>
              <a:tr h="1188720">
                <a:tc>
                  <a:txBody>
                    <a:bodyPr/>
                    <a:lstStyle/>
                    <a:p>
                      <a:pPr algn="ctr">
                        <a:lnSpc>
                          <a:spcPct val="250000"/>
                        </a:lnSpc>
                      </a:pPr>
                      <a:r>
                        <a:rPr lang="en-US" sz="2400" b="1" kern="1200">
                          <a:solidFill>
                            <a:schemeClr val="tx1"/>
                          </a:solidFill>
                          <a:latin typeface="Consolas" panose="020B0609020204030204" pitchFamily="49" charset="0"/>
                          <a:ea typeface="+mn-ea"/>
                          <a:cs typeface="+mn-cs"/>
                        </a:rPr>
                        <a:t>Activate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200000"/>
                        </a:lnSpc>
                      </a:pPr>
                      <a:r>
                        <a:rPr lang="en-US" sz="2000" b="1" kern="1200">
                          <a:solidFill>
                            <a:schemeClr val="tx1"/>
                          </a:solidFill>
                          <a:latin typeface="Consolas" panose="020B0609020204030204" pitchFamily="49" charset="0"/>
                          <a:ea typeface="+mn-ea"/>
                          <a:cs typeface="+mn-cs"/>
                        </a:rPr>
                        <a:t>int </a:t>
                      </a:r>
                      <a:r>
                        <a:rPr lang="en-US" sz="2000" b="1" kern="1200" err="1">
                          <a:solidFill>
                            <a:schemeClr val="accent1">
                              <a:lumMod val="75000"/>
                            </a:schemeClr>
                          </a:solidFill>
                          <a:latin typeface="Consolas" panose="020B0609020204030204" pitchFamily="49" charset="0"/>
                          <a:ea typeface="+mn-ea"/>
                          <a:cs typeface="+mn-cs"/>
                        </a:rPr>
                        <a:t>activate_pbox</a:t>
                      </a:r>
                      <a:r>
                        <a:rPr lang="en-US" sz="2000" b="1" kern="1200">
                          <a:solidFill>
                            <a:schemeClr val="tx1"/>
                          </a:solidFill>
                          <a:latin typeface="Consolas" panose="020B0609020204030204" pitchFamily="49" charset="0"/>
                          <a:ea typeface="+mn-ea"/>
                          <a:cs typeface="+mn-cs"/>
                        </a:rPr>
                        <a:t>(int psid)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a:solidFill>
                            <a:schemeClr val="tx1"/>
                          </a:solidFill>
                          <a:latin typeface="Consolas" panose="020B0609020204030204" pitchFamily="49" charset="0"/>
                          <a:ea typeface="+mn-ea"/>
                          <a:cs typeface="+mn-cs"/>
                        </a:rPr>
                        <a:t>int </a:t>
                      </a:r>
                      <a:r>
                        <a:rPr lang="en-US" sz="2000" b="1" kern="1200" err="1">
                          <a:solidFill>
                            <a:schemeClr val="accent1">
                              <a:lumMod val="75000"/>
                            </a:schemeClr>
                          </a:solidFill>
                          <a:latin typeface="Consolas" panose="020B0609020204030204" pitchFamily="49" charset="0"/>
                          <a:ea typeface="+mn-ea"/>
                          <a:cs typeface="+mn-cs"/>
                        </a:rPr>
                        <a:t>freeze_pbox</a:t>
                      </a:r>
                      <a:r>
                        <a:rPr lang="en-US" sz="2000" b="1" kern="1200">
                          <a:solidFill>
                            <a:schemeClr val="tx1"/>
                          </a:solidFill>
                          <a:latin typeface="Consolas" panose="020B0609020204030204" pitchFamily="49" charset="0"/>
                          <a:ea typeface="+mn-ea"/>
                          <a:cs typeface="+mn-cs"/>
                        </a:rPr>
                        <a:t>(int psid);</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6535896"/>
                  </a:ext>
                </a:extLst>
              </a:tr>
              <a:tr h="822960">
                <a:tc>
                  <a:txBody>
                    <a:bodyPr/>
                    <a:lstStyle/>
                    <a:p>
                      <a:pPr algn="ctr">
                        <a:lnSpc>
                          <a:spcPct val="150000"/>
                        </a:lnSpc>
                      </a:pPr>
                      <a:r>
                        <a:rPr lang="en-US" sz="2400" b="1" kern="1200">
                          <a:solidFill>
                            <a:schemeClr val="tx1"/>
                          </a:solidFill>
                          <a:latin typeface="Consolas" panose="020B0609020204030204" pitchFamily="49" charset="0"/>
                          <a:ea typeface="+mn-ea"/>
                          <a:cs typeface="+mn-cs"/>
                        </a:rPr>
                        <a:t>Trace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sz="2000" b="1" kern="1200" dirty="0">
                          <a:solidFill>
                            <a:schemeClr val="tx1"/>
                          </a:solidFill>
                          <a:latin typeface="Consolas" panose="020B0609020204030204" pitchFamily="49" charset="0"/>
                          <a:ea typeface="+mn-ea"/>
                          <a:cs typeface="+mn-cs"/>
                        </a:rPr>
                        <a:t>int </a:t>
                      </a:r>
                      <a:r>
                        <a:rPr lang="en-US" sz="2000" b="1" kern="1200" dirty="0" err="1">
                          <a:solidFill>
                            <a:schemeClr val="accent1">
                              <a:lumMod val="75000"/>
                            </a:schemeClr>
                          </a:solidFill>
                          <a:latin typeface="Consolas" panose="020B0609020204030204" pitchFamily="49" charset="0"/>
                          <a:ea typeface="+mn-ea"/>
                          <a:cs typeface="+mn-cs"/>
                        </a:rPr>
                        <a:t>update_pbox</a:t>
                      </a:r>
                      <a:r>
                        <a:rPr lang="en-US" sz="2000" b="1" kern="1200" dirty="0">
                          <a:solidFill>
                            <a:schemeClr val="tx1"/>
                          </a:solidFill>
                          <a:latin typeface="Consolas" panose="020B0609020204030204" pitchFamily="49" charset="0"/>
                          <a:ea typeface="+mn-ea"/>
                          <a:cs typeface="+mn-cs"/>
                        </a:rPr>
                        <a:t>(size key, </a:t>
                      </a:r>
                      <a:r>
                        <a:rPr lang="en-US" sz="2000" b="1" kern="1200" dirty="0" err="1">
                          <a:solidFill>
                            <a:schemeClr val="tx1"/>
                          </a:solidFill>
                          <a:latin typeface="Consolas" panose="020B0609020204030204" pitchFamily="49" charset="0"/>
                          <a:ea typeface="+mn-ea"/>
                          <a:cs typeface="+mn-cs"/>
                        </a:rPr>
                        <a:t>event_type</a:t>
                      </a:r>
                      <a:r>
                        <a:rPr lang="en-US" sz="2000" b="1" kern="1200" dirty="0">
                          <a:solidFill>
                            <a:schemeClr val="tx1"/>
                          </a:solidFill>
                          <a:latin typeface="Consolas" panose="020B0609020204030204" pitchFamily="49" charset="0"/>
                          <a:ea typeface="+mn-ea"/>
                          <a:cs typeface="+mn-cs"/>
                        </a:rPr>
                        <a:t> event);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9580103"/>
                  </a:ext>
                </a:extLst>
              </a:tr>
            </a:tbl>
          </a:graphicData>
        </a:graphic>
      </p:graphicFrame>
      <p:sp>
        <p:nvSpPr>
          <p:cNvPr id="4" name="TextBox 3">
            <a:extLst>
              <a:ext uri="{FF2B5EF4-FFF2-40B4-BE49-F238E27FC236}">
                <a16:creationId xmlns:a16="http://schemas.microsoft.com/office/drawing/2014/main" id="{A19B6F9E-E849-23F1-C025-C4968D72E052}"/>
              </a:ext>
            </a:extLst>
          </p:cNvPr>
          <p:cNvSpPr txBox="1"/>
          <p:nvPr/>
        </p:nvSpPr>
        <p:spPr>
          <a:xfrm>
            <a:off x="1206631" y="1264135"/>
            <a:ext cx="9307398" cy="1318181"/>
          </a:xfrm>
          <a:prstGeom prst="rect">
            <a:avLst/>
          </a:prstGeom>
          <a:noFill/>
        </p:spPr>
        <p:txBody>
          <a:bodyPr wrap="square" rtlCol="0">
            <a:spAutoFit/>
          </a:bodyPr>
          <a:lstStyle/>
          <a:p>
            <a:pPr marL="457200" indent="-457200">
              <a:lnSpc>
                <a:spcPct val="150000"/>
              </a:lnSpc>
              <a:buAutoNum type="arabicPeriod"/>
            </a:pPr>
            <a:r>
              <a:rPr lang="en-US" sz="2800"/>
              <a:t>Easily define the isolation boundary by developers </a:t>
            </a:r>
          </a:p>
          <a:p>
            <a:pPr marL="457200" indent="-457200">
              <a:lnSpc>
                <a:spcPct val="150000"/>
              </a:lnSpc>
              <a:buFontTx/>
              <a:buAutoNum type="arabicPeriod"/>
            </a:pPr>
            <a:r>
              <a:rPr lang="en-US" sz="2800"/>
              <a:t>Automatically enforce performance isolation among </a:t>
            </a:r>
            <a:r>
              <a:rPr lang="en-US" sz="2800" err="1"/>
              <a:t>pBox</a:t>
            </a:r>
            <a:endParaRPr lang="en-US" sz="2800"/>
          </a:p>
        </p:txBody>
      </p:sp>
    </p:spTree>
    <p:extLst>
      <p:ext uri="{BB962C8B-B14F-4D97-AF65-F5344CB8AC3E}">
        <p14:creationId xmlns:p14="http://schemas.microsoft.com/office/powerpoint/2010/main" val="1766877096"/>
      </p:ext>
    </p:extLst>
  </p:cSld>
  <p:clrMapOvr>
    <a:masterClrMapping/>
  </p:clrMapOvr>
  <mc:AlternateContent xmlns:mc="http://schemas.openxmlformats.org/markup-compatibility/2006" xmlns:p14="http://schemas.microsoft.com/office/powerpoint/2010/main">
    <mc:Choice Requires="p14">
      <p:transition spd="slow" p14:dur="2000" advTm="28591"/>
    </mc:Choice>
    <mc:Fallback xmlns="">
      <p:transition spd="slow" advTm="2859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04F4EE9-A290-3327-1593-081E690CCDB6}"/>
              </a:ext>
            </a:extLst>
          </p:cNvPr>
          <p:cNvSpPr/>
          <p:nvPr/>
        </p:nvSpPr>
        <p:spPr>
          <a:xfrm>
            <a:off x="830988" y="1092597"/>
            <a:ext cx="10522811" cy="385358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marL="0" indent="0">
              <a:buNone/>
            </a:pPr>
            <a:r>
              <a:rPr lang="en-US" sz="2400">
                <a:solidFill>
                  <a:srgbClr val="336699"/>
                </a:solidFill>
                <a:latin typeface="Consolas" panose="020B0609020204030204" pitchFamily="49" charset="0"/>
              </a:rPr>
              <a:t>void</a:t>
            </a:r>
            <a:r>
              <a:rPr lang="en-US" sz="2400">
                <a:latin typeface="Consolas" panose="020B0609020204030204" pitchFamily="49" charset="0"/>
              </a:rPr>
              <a:t> </a:t>
            </a:r>
            <a:r>
              <a:rPr lang="en-US" sz="2400" err="1">
                <a:solidFill>
                  <a:schemeClr val="tx1"/>
                </a:solidFill>
                <a:latin typeface="Consolas" panose="020B0609020204030204" pitchFamily="49" charset="0"/>
              </a:rPr>
              <a:t>add_connection</a:t>
            </a:r>
            <a:r>
              <a:rPr lang="en-US" sz="2400" b="1">
                <a:latin typeface="Consolas" panose="020B0609020204030204" pitchFamily="49" charset="0"/>
              </a:rPr>
              <a:t>(</a:t>
            </a:r>
            <a:r>
              <a:rPr lang="en-US" sz="2400">
                <a:latin typeface="Consolas" panose="020B0609020204030204" pitchFamily="49" charset="0"/>
              </a:rPr>
              <a:t>THD *</a:t>
            </a:r>
            <a:r>
              <a:rPr lang="en-US" sz="2400" err="1">
                <a:latin typeface="Consolas" panose="020B0609020204030204" pitchFamily="49" charset="0"/>
              </a:rPr>
              <a:t>thd</a:t>
            </a:r>
            <a:r>
              <a:rPr lang="en-US" sz="2400" b="1">
                <a:latin typeface="Consolas" panose="020B0609020204030204" pitchFamily="49" charset="0"/>
              </a:rPr>
              <a:t>) </a:t>
            </a:r>
            <a:r>
              <a:rPr lang="en-US" sz="2400">
                <a:latin typeface="Consolas" panose="020B0609020204030204" pitchFamily="49" charset="0"/>
              </a:rPr>
              <a:t>{</a:t>
            </a:r>
          </a:p>
          <a:p>
            <a:pPr marL="227013">
              <a:buNone/>
            </a:pPr>
            <a:r>
              <a:rPr lang="en-US" sz="2000">
                <a:latin typeface="Consolas" panose="020B0609020204030204" pitchFamily="49" charset="0"/>
              </a:rPr>
              <a:t>…</a:t>
            </a:r>
          </a:p>
          <a:p>
            <a:pPr marL="227013">
              <a:buNone/>
            </a:pPr>
            <a:r>
              <a:rPr lang="en-US" sz="2000">
                <a:solidFill>
                  <a:srgbClr val="336699"/>
                </a:solidFill>
                <a:latin typeface="Consolas" panose="020B0609020204030204" pitchFamily="49" charset="0"/>
              </a:rPr>
              <a:t>While</a:t>
            </a:r>
            <a:r>
              <a:rPr lang="en-US" sz="2000">
                <a:latin typeface="Consolas" panose="020B0609020204030204" pitchFamily="49" charset="0"/>
              </a:rPr>
              <a:t> </a:t>
            </a:r>
            <a:r>
              <a:rPr lang="en-US" sz="2000" b="1">
                <a:latin typeface="Consolas" panose="020B0609020204030204" pitchFamily="49" charset="0"/>
              </a:rPr>
              <a:t>(</a:t>
            </a:r>
            <a:r>
              <a:rPr lang="en-US" sz="2000" err="1">
                <a:latin typeface="Consolas" panose="020B0609020204030204" pitchFamily="49" charset="0"/>
              </a:rPr>
              <a:t>thd_connection_alive</a:t>
            </a:r>
            <a:r>
              <a:rPr lang="en-US" sz="2000" b="1">
                <a:latin typeface="Consolas" panose="020B0609020204030204" pitchFamily="49" charset="0"/>
              </a:rPr>
              <a:t>(</a:t>
            </a:r>
            <a:r>
              <a:rPr lang="en-US" sz="2000" err="1">
                <a:latin typeface="Consolas" panose="020B0609020204030204" pitchFamily="49" charset="0"/>
              </a:rPr>
              <a:t>thd</a:t>
            </a:r>
            <a:r>
              <a:rPr lang="en-US" sz="2000" b="1">
                <a:latin typeface="Consolas" panose="020B0609020204030204" pitchFamily="49" charset="0"/>
              </a:rPr>
              <a:t>)) {</a:t>
            </a:r>
          </a:p>
          <a:p>
            <a:pPr marL="461963">
              <a:buNone/>
            </a:pPr>
            <a:r>
              <a:rPr lang="en-US" sz="2000">
                <a:solidFill>
                  <a:srgbClr val="336699"/>
                </a:solidFill>
                <a:latin typeface="Consolas" panose="020B0609020204030204" pitchFamily="49" charset="0"/>
              </a:rPr>
              <a:t>if</a:t>
            </a:r>
            <a:r>
              <a:rPr lang="en-US" sz="2000">
                <a:latin typeface="Consolas" panose="020B0609020204030204" pitchFamily="49" charset="0"/>
              </a:rPr>
              <a:t> (</a:t>
            </a:r>
            <a:r>
              <a:rPr lang="en-US" sz="2000" err="1">
                <a:latin typeface="Consolas" panose="020B0609020204030204" pitchFamily="49" charset="0"/>
              </a:rPr>
              <a:t>do_command</a:t>
            </a:r>
            <a:r>
              <a:rPr lang="en-US" sz="2000">
                <a:latin typeface="Consolas" panose="020B0609020204030204" pitchFamily="49" charset="0"/>
              </a:rPr>
              <a:t>(</a:t>
            </a:r>
            <a:r>
              <a:rPr lang="en-US" sz="2000" err="1">
                <a:latin typeface="Consolas" panose="020B0609020204030204" pitchFamily="49" charset="0"/>
              </a:rPr>
              <a:t>thd</a:t>
            </a:r>
            <a:r>
              <a:rPr lang="en-US" sz="2000">
                <a:latin typeface="Consolas" panose="020B0609020204030204" pitchFamily="49" charset="0"/>
              </a:rPr>
              <a:t>)) </a:t>
            </a:r>
          </a:p>
          <a:p>
            <a:pPr marL="687388">
              <a:buNone/>
            </a:pPr>
            <a:r>
              <a:rPr lang="en-US" sz="2000">
                <a:latin typeface="Consolas" panose="020B0609020204030204" pitchFamily="49" charset="0"/>
              </a:rPr>
              <a:t>break;</a:t>
            </a:r>
            <a:endParaRPr lang="en-US" sz="2000" b="1">
              <a:latin typeface="Consolas" panose="020B0609020204030204" pitchFamily="49" charset="0"/>
            </a:endParaRPr>
          </a:p>
          <a:p>
            <a:pPr marL="461963">
              <a:buNone/>
            </a:pPr>
            <a:r>
              <a:rPr lang="en-US" sz="2000" err="1">
                <a:latin typeface="Consolas" panose="020B0609020204030204" pitchFamily="49" charset="0"/>
              </a:rPr>
              <a:t>end_connection</a:t>
            </a:r>
            <a:r>
              <a:rPr lang="en-US" sz="2000">
                <a:latin typeface="Consolas" panose="020B0609020204030204" pitchFamily="49" charset="0"/>
              </a:rPr>
              <a:t>(</a:t>
            </a:r>
            <a:r>
              <a:rPr lang="en-US" sz="2000" err="1">
                <a:latin typeface="Consolas" panose="020B0609020204030204" pitchFamily="49" charset="0"/>
              </a:rPr>
              <a:t>thd</a:t>
            </a:r>
            <a:r>
              <a:rPr lang="en-US" sz="2000">
                <a:latin typeface="Consolas" panose="020B0609020204030204" pitchFamily="49" charset="0"/>
              </a:rPr>
              <a:t>);</a:t>
            </a:r>
            <a:endParaRPr lang="en-US" sz="2000" b="1">
              <a:latin typeface="Consolas" panose="020B0609020204030204" pitchFamily="49" charset="0"/>
            </a:endParaRPr>
          </a:p>
          <a:p>
            <a:pPr marL="227013">
              <a:buNone/>
            </a:pPr>
            <a:r>
              <a:rPr lang="en-US" sz="2000" b="1">
                <a:latin typeface="Consolas" panose="020B0609020204030204" pitchFamily="49" charset="0"/>
              </a:rPr>
              <a:t>}</a:t>
            </a:r>
          </a:p>
          <a:p>
            <a:pPr marL="227013" lvl="1">
              <a:buNone/>
            </a:pPr>
            <a:r>
              <a:rPr lang="en-US" sz="2000" err="1">
                <a:latin typeface="Consolas" panose="020B0609020204030204" pitchFamily="49" charset="0"/>
              </a:rPr>
              <a:t>close_connection</a:t>
            </a:r>
            <a:r>
              <a:rPr lang="en-US" sz="2000">
                <a:latin typeface="Consolas" panose="020B0609020204030204" pitchFamily="49" charset="0"/>
              </a:rPr>
              <a:t>(</a:t>
            </a:r>
            <a:r>
              <a:rPr lang="en-US" sz="2000" err="1">
                <a:latin typeface="Consolas" panose="020B0609020204030204" pitchFamily="49" charset="0"/>
              </a:rPr>
              <a:t>thd</a:t>
            </a:r>
            <a:r>
              <a:rPr lang="en-US" sz="2000">
                <a:latin typeface="Consolas" panose="020B0609020204030204" pitchFamily="49" charset="0"/>
              </a:rPr>
              <a:t>); </a:t>
            </a:r>
          </a:p>
          <a:p>
            <a:pPr marL="0" indent="0">
              <a:buNone/>
            </a:pPr>
            <a:r>
              <a:rPr lang="en-US" sz="2400">
                <a:latin typeface="Consolas" panose="020B0609020204030204" pitchFamily="49" charset="0"/>
              </a:rPr>
              <a:t>}</a:t>
            </a:r>
          </a:p>
          <a:p>
            <a:pPr algn="ctr"/>
            <a:endParaRPr lang="en-US">
              <a:latin typeface="Consolas" panose="020B0609020204030204" pitchFamily="49" charset="0"/>
            </a:endParaRPr>
          </a:p>
        </p:txBody>
      </p:sp>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normAutofit/>
          </a:bodyPr>
          <a:lstStyle/>
          <a:p>
            <a:pPr algn="ctr"/>
            <a:r>
              <a:rPr lang="en-US" altLang="zh-CN" b="1" err="1">
                <a:latin typeface="helvetica" panose="020B0604020202020204" pitchFamily="34" charset="0"/>
                <a:cs typeface="helvetica" panose="020B0604020202020204" pitchFamily="34" charset="0"/>
              </a:rPr>
              <a:t>pBox</a:t>
            </a:r>
            <a:r>
              <a:rPr lang="en-US" altLang="zh-CN" b="1">
                <a:latin typeface="helvetica" panose="020B0604020202020204" pitchFamily="34" charset="0"/>
                <a:cs typeface="helvetica" panose="020B0604020202020204" pitchFamily="34" charset="0"/>
              </a:rPr>
              <a:t> Creation</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8CE01A88-6079-B684-E017-FB2AD006FACF}"/>
              </a:ext>
            </a:extLst>
          </p:cNvPr>
          <p:cNvSpPr>
            <a:spLocks noGrp="1"/>
          </p:cNvSpPr>
          <p:nvPr>
            <p:ph type="sldNum" sz="quarter" idx="12"/>
          </p:nvPr>
        </p:nvSpPr>
        <p:spPr/>
        <p:txBody>
          <a:bodyPr/>
          <a:lstStyle/>
          <a:p>
            <a:fld id="{330EA680-D336-4FF7-8B7A-9848BB0A1C32}" type="slidenum">
              <a:rPr lang="en-US" smtClean="0"/>
              <a:t>14</a:t>
            </a:fld>
            <a:endParaRPr lang="en-US"/>
          </a:p>
        </p:txBody>
      </p:sp>
      <p:sp>
        <p:nvSpPr>
          <p:cNvPr id="19" name="TextBox 18">
            <a:extLst>
              <a:ext uri="{FF2B5EF4-FFF2-40B4-BE49-F238E27FC236}">
                <a16:creationId xmlns:a16="http://schemas.microsoft.com/office/drawing/2014/main" id="{A50F45D3-2B96-E27A-05A1-1EBC8C8D7B07}"/>
              </a:ext>
            </a:extLst>
          </p:cNvPr>
          <p:cNvSpPr txBox="1"/>
          <p:nvPr/>
        </p:nvSpPr>
        <p:spPr>
          <a:xfrm>
            <a:off x="6566643" y="2675903"/>
            <a:ext cx="4208974" cy="369332"/>
          </a:xfrm>
          <a:prstGeom prst="rect">
            <a:avLst/>
          </a:prstGeom>
          <a:noFill/>
        </p:spPr>
        <p:txBody>
          <a:bodyPr wrap="none" rtlCol="0">
            <a:spAutoFit/>
          </a:bodyPr>
          <a:lstStyle/>
          <a:p>
            <a:pPr algn="ctr"/>
            <a:r>
              <a:rPr lang="en-US"/>
              <a:t>Loop to handle all requests from one client</a:t>
            </a:r>
          </a:p>
        </p:txBody>
      </p:sp>
      <p:sp>
        <p:nvSpPr>
          <p:cNvPr id="3" name="TextBox 2">
            <a:extLst>
              <a:ext uri="{FF2B5EF4-FFF2-40B4-BE49-F238E27FC236}">
                <a16:creationId xmlns:a16="http://schemas.microsoft.com/office/drawing/2014/main" id="{ECD74A58-0623-4BD9-8D13-43A9166292EC}"/>
              </a:ext>
            </a:extLst>
          </p:cNvPr>
          <p:cNvSpPr txBox="1"/>
          <p:nvPr/>
        </p:nvSpPr>
        <p:spPr>
          <a:xfrm>
            <a:off x="2097115" y="5920069"/>
            <a:ext cx="7736841" cy="461665"/>
          </a:xfrm>
          <a:prstGeom prst="rect">
            <a:avLst/>
          </a:prstGeom>
          <a:solidFill>
            <a:schemeClr val="accent4">
              <a:lumMod val="20000"/>
              <a:lumOff val="80000"/>
            </a:schemeClr>
          </a:solidFill>
        </p:spPr>
        <p:txBody>
          <a:bodyPr wrap="square" rtlCol="0">
            <a:spAutoFit/>
          </a:bodyPr>
          <a:lstStyle/>
          <a:p>
            <a:r>
              <a:rPr lang="en-US" sz="2400">
                <a:latin typeface="helvetica" panose="020B0604020202020204" pitchFamily="34" charset="0"/>
                <a:cs typeface="helvetica" panose="020B0604020202020204" pitchFamily="34" charset="0"/>
              </a:rPr>
              <a:t>Example: MySQL thread handler for a client connection</a:t>
            </a:r>
          </a:p>
        </p:txBody>
      </p:sp>
      <p:sp>
        <p:nvSpPr>
          <p:cNvPr id="10" name="Arc 9">
            <a:extLst>
              <a:ext uri="{FF2B5EF4-FFF2-40B4-BE49-F238E27FC236}">
                <a16:creationId xmlns:a16="http://schemas.microsoft.com/office/drawing/2014/main" id="{D0DBAD10-2F1E-9B0C-0EF6-60D6E393A02C}"/>
              </a:ext>
            </a:extLst>
          </p:cNvPr>
          <p:cNvSpPr/>
          <p:nvPr/>
        </p:nvSpPr>
        <p:spPr>
          <a:xfrm>
            <a:off x="5773946" y="2245094"/>
            <a:ext cx="788670" cy="940961"/>
          </a:xfrm>
          <a:prstGeom prst="arc">
            <a:avLst>
              <a:gd name="adj1" fmla="val 15915493"/>
              <a:gd name="adj2" fmla="val 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E65827AB-2281-8F90-C61F-B1E35996258D}"/>
              </a:ext>
            </a:extLst>
          </p:cNvPr>
          <p:cNvSpPr/>
          <p:nvPr/>
        </p:nvSpPr>
        <p:spPr>
          <a:xfrm flipV="1">
            <a:off x="5769919" y="2518465"/>
            <a:ext cx="788670" cy="940961"/>
          </a:xfrm>
          <a:prstGeom prst="arc">
            <a:avLst>
              <a:gd name="adj1" fmla="val 15915493"/>
              <a:gd name="adj2" fmla="val 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81470374"/>
      </p:ext>
    </p:extLst>
  </p:cSld>
  <p:clrMapOvr>
    <a:masterClrMapping/>
  </p:clrMapOvr>
  <mc:AlternateContent xmlns:mc="http://schemas.openxmlformats.org/markup-compatibility/2006" xmlns:p14="http://schemas.microsoft.com/office/powerpoint/2010/main">
    <mc:Choice Requires="p14">
      <p:transition spd="slow" p14:dur="2000" advTm="22727"/>
    </mc:Choice>
    <mc:Fallback xmlns="">
      <p:transition spd="slow" advTm="227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animBg="1"/>
      <p:bldP spid="10"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04F4EE9-A290-3327-1593-081E690CCDB6}"/>
              </a:ext>
            </a:extLst>
          </p:cNvPr>
          <p:cNvSpPr/>
          <p:nvPr/>
        </p:nvSpPr>
        <p:spPr>
          <a:xfrm>
            <a:off x="830989" y="963627"/>
            <a:ext cx="10522811" cy="405063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marL="0" indent="0">
              <a:buNone/>
            </a:pPr>
            <a:r>
              <a:rPr lang="en-US" sz="2400">
                <a:solidFill>
                  <a:srgbClr val="336699"/>
                </a:solidFill>
                <a:latin typeface="Consolas" panose="020B0609020204030204" pitchFamily="49" charset="0"/>
              </a:rPr>
              <a:t>void</a:t>
            </a:r>
            <a:r>
              <a:rPr lang="en-US" sz="2400">
                <a:latin typeface="Consolas" panose="020B0609020204030204" pitchFamily="49" charset="0"/>
              </a:rPr>
              <a:t> </a:t>
            </a:r>
            <a:r>
              <a:rPr lang="en-US" sz="2400" err="1">
                <a:solidFill>
                  <a:schemeClr val="tx1"/>
                </a:solidFill>
                <a:latin typeface="Consolas" panose="020B0609020204030204" pitchFamily="49" charset="0"/>
              </a:rPr>
              <a:t>add_connection</a:t>
            </a:r>
            <a:r>
              <a:rPr lang="en-US" sz="2400" b="1">
                <a:latin typeface="Consolas" panose="020B0609020204030204" pitchFamily="49" charset="0"/>
              </a:rPr>
              <a:t>(</a:t>
            </a:r>
            <a:r>
              <a:rPr lang="en-US" sz="2400">
                <a:latin typeface="Consolas" panose="020B0609020204030204" pitchFamily="49" charset="0"/>
              </a:rPr>
              <a:t>THD *</a:t>
            </a:r>
            <a:r>
              <a:rPr lang="en-US" sz="2400" err="1">
                <a:latin typeface="Consolas" panose="020B0609020204030204" pitchFamily="49" charset="0"/>
              </a:rPr>
              <a:t>thd</a:t>
            </a:r>
            <a:r>
              <a:rPr lang="en-US" sz="2400" b="1">
                <a:latin typeface="Consolas" panose="020B0609020204030204" pitchFamily="49" charset="0"/>
              </a:rPr>
              <a:t>) </a:t>
            </a:r>
            <a:r>
              <a:rPr lang="en-US" sz="2400">
                <a:latin typeface="Consolas" panose="020B0609020204030204" pitchFamily="49" charset="0"/>
              </a:rPr>
              <a:t>{</a:t>
            </a:r>
          </a:p>
          <a:p>
            <a:pPr marL="227013">
              <a:buNone/>
            </a:pPr>
            <a:r>
              <a:rPr lang="en-US" sz="2000">
                <a:latin typeface="Consolas" panose="020B0609020204030204" pitchFamily="49" charset="0"/>
              </a:rPr>
              <a:t>rule = { .type = RELATIVE, .</a:t>
            </a:r>
            <a:r>
              <a:rPr lang="en-US" sz="2000" err="1">
                <a:latin typeface="Consolas" panose="020B0609020204030204" pitchFamily="49" charset="0"/>
              </a:rPr>
              <a:t>isolation_level</a:t>
            </a:r>
            <a:r>
              <a:rPr lang="en-US" sz="2000">
                <a:latin typeface="Consolas" panose="020B0609020204030204" pitchFamily="49" charset="0"/>
              </a:rPr>
              <a:t> = 50 };     </a:t>
            </a:r>
          </a:p>
          <a:p>
            <a:pPr marL="227013">
              <a:buNone/>
            </a:pPr>
            <a:r>
              <a:rPr lang="en-US" sz="2000">
                <a:latin typeface="Consolas" panose="020B0609020204030204" pitchFamily="49" charset="0"/>
              </a:rPr>
              <a:t>psid = </a:t>
            </a:r>
            <a:r>
              <a:rPr lang="en-US" sz="2000" err="1">
                <a:latin typeface="Consolas" panose="020B0609020204030204" pitchFamily="49" charset="0"/>
              </a:rPr>
              <a:t>create_pbox</a:t>
            </a:r>
            <a:r>
              <a:rPr lang="en-US" sz="2000">
                <a:latin typeface="Consolas" panose="020B0609020204030204" pitchFamily="49" charset="0"/>
              </a:rPr>
              <a:t>(rule); </a:t>
            </a:r>
          </a:p>
          <a:p>
            <a:pPr marL="227013">
              <a:buNone/>
            </a:pPr>
            <a:r>
              <a:rPr lang="en-US" sz="2000">
                <a:latin typeface="Consolas" panose="020B0609020204030204" pitchFamily="49" charset="0"/>
              </a:rPr>
              <a:t>…</a:t>
            </a:r>
          </a:p>
          <a:p>
            <a:pPr marL="227013">
              <a:buNone/>
            </a:pPr>
            <a:r>
              <a:rPr lang="en-US" sz="2000">
                <a:solidFill>
                  <a:srgbClr val="336699"/>
                </a:solidFill>
                <a:latin typeface="Consolas" panose="020B0609020204030204" pitchFamily="49" charset="0"/>
              </a:rPr>
              <a:t>While</a:t>
            </a:r>
            <a:r>
              <a:rPr lang="en-US" sz="2000">
                <a:latin typeface="Consolas" panose="020B0609020204030204" pitchFamily="49" charset="0"/>
              </a:rPr>
              <a:t> </a:t>
            </a:r>
            <a:r>
              <a:rPr lang="en-US" sz="2000" b="1">
                <a:latin typeface="Consolas" panose="020B0609020204030204" pitchFamily="49" charset="0"/>
              </a:rPr>
              <a:t>(</a:t>
            </a:r>
            <a:r>
              <a:rPr lang="en-US" sz="2000" err="1">
                <a:latin typeface="Consolas" panose="020B0609020204030204" pitchFamily="49" charset="0"/>
              </a:rPr>
              <a:t>thd_connection_alive</a:t>
            </a:r>
            <a:r>
              <a:rPr lang="en-US" sz="2000" b="1">
                <a:latin typeface="Consolas" panose="020B0609020204030204" pitchFamily="49" charset="0"/>
              </a:rPr>
              <a:t>(</a:t>
            </a:r>
            <a:r>
              <a:rPr lang="en-US" sz="2000" err="1">
                <a:latin typeface="Consolas" panose="020B0609020204030204" pitchFamily="49" charset="0"/>
              </a:rPr>
              <a:t>thd</a:t>
            </a:r>
            <a:r>
              <a:rPr lang="en-US" sz="2000" b="1">
                <a:latin typeface="Consolas" panose="020B0609020204030204" pitchFamily="49" charset="0"/>
              </a:rPr>
              <a:t>)) {</a:t>
            </a:r>
          </a:p>
          <a:p>
            <a:pPr marL="461963">
              <a:buNone/>
            </a:pPr>
            <a:r>
              <a:rPr lang="en-US" sz="2000">
                <a:solidFill>
                  <a:srgbClr val="336699"/>
                </a:solidFill>
                <a:latin typeface="Consolas" panose="020B0609020204030204" pitchFamily="49" charset="0"/>
              </a:rPr>
              <a:t>if</a:t>
            </a:r>
            <a:r>
              <a:rPr lang="en-US" sz="2000">
                <a:latin typeface="Consolas" panose="020B0609020204030204" pitchFamily="49" charset="0"/>
              </a:rPr>
              <a:t> (</a:t>
            </a:r>
            <a:r>
              <a:rPr lang="en-US" sz="2000" err="1">
                <a:latin typeface="Consolas" panose="020B0609020204030204" pitchFamily="49" charset="0"/>
              </a:rPr>
              <a:t>do_command</a:t>
            </a:r>
            <a:r>
              <a:rPr lang="en-US" sz="2000">
                <a:latin typeface="Consolas" panose="020B0609020204030204" pitchFamily="49" charset="0"/>
              </a:rPr>
              <a:t>(</a:t>
            </a:r>
            <a:r>
              <a:rPr lang="en-US" sz="2000" err="1">
                <a:latin typeface="Consolas" panose="020B0609020204030204" pitchFamily="49" charset="0"/>
              </a:rPr>
              <a:t>thd</a:t>
            </a:r>
            <a:r>
              <a:rPr lang="en-US" sz="2000">
                <a:latin typeface="Consolas" panose="020B0609020204030204" pitchFamily="49" charset="0"/>
              </a:rPr>
              <a:t>)) </a:t>
            </a:r>
          </a:p>
          <a:p>
            <a:pPr marL="687388">
              <a:buNone/>
            </a:pPr>
            <a:r>
              <a:rPr lang="en-US" sz="2000">
                <a:latin typeface="Consolas" panose="020B0609020204030204" pitchFamily="49" charset="0"/>
              </a:rPr>
              <a:t>break;</a:t>
            </a:r>
            <a:endParaRPr lang="en-US" sz="2000" b="1">
              <a:latin typeface="Consolas" panose="020B0609020204030204" pitchFamily="49" charset="0"/>
            </a:endParaRPr>
          </a:p>
          <a:p>
            <a:pPr marL="461963">
              <a:buNone/>
            </a:pPr>
            <a:r>
              <a:rPr lang="en-US" sz="2000" err="1">
                <a:latin typeface="Consolas" panose="020B0609020204030204" pitchFamily="49" charset="0"/>
              </a:rPr>
              <a:t>end_connection</a:t>
            </a:r>
            <a:r>
              <a:rPr lang="en-US" sz="2000">
                <a:latin typeface="Consolas" panose="020B0609020204030204" pitchFamily="49" charset="0"/>
              </a:rPr>
              <a:t>(</a:t>
            </a:r>
            <a:r>
              <a:rPr lang="en-US" sz="2000" err="1">
                <a:latin typeface="Consolas" panose="020B0609020204030204" pitchFamily="49" charset="0"/>
              </a:rPr>
              <a:t>thd</a:t>
            </a:r>
            <a:r>
              <a:rPr lang="en-US" sz="2000">
                <a:latin typeface="Consolas" panose="020B0609020204030204" pitchFamily="49" charset="0"/>
              </a:rPr>
              <a:t>);</a:t>
            </a:r>
            <a:endParaRPr lang="en-US" sz="2000" b="1">
              <a:latin typeface="Consolas" panose="020B0609020204030204" pitchFamily="49" charset="0"/>
            </a:endParaRPr>
          </a:p>
          <a:p>
            <a:pPr marL="227013">
              <a:buNone/>
            </a:pPr>
            <a:r>
              <a:rPr lang="en-US" sz="2000" b="1">
                <a:latin typeface="Consolas" panose="020B0609020204030204" pitchFamily="49" charset="0"/>
              </a:rPr>
              <a:t>}</a:t>
            </a:r>
          </a:p>
          <a:p>
            <a:pPr marL="227013" lvl="1">
              <a:buNone/>
            </a:pPr>
            <a:r>
              <a:rPr lang="en-US" sz="2000" err="1">
                <a:latin typeface="Consolas" panose="020B0609020204030204" pitchFamily="49" charset="0"/>
              </a:rPr>
              <a:t>close_connection</a:t>
            </a:r>
            <a:r>
              <a:rPr lang="en-US" sz="2000">
                <a:latin typeface="Consolas" panose="020B0609020204030204" pitchFamily="49" charset="0"/>
              </a:rPr>
              <a:t>(</a:t>
            </a:r>
            <a:r>
              <a:rPr lang="en-US" sz="2000" err="1">
                <a:latin typeface="Consolas" panose="020B0609020204030204" pitchFamily="49" charset="0"/>
              </a:rPr>
              <a:t>thd</a:t>
            </a:r>
            <a:r>
              <a:rPr lang="en-US" sz="2000">
                <a:latin typeface="Consolas" panose="020B0609020204030204" pitchFamily="49" charset="0"/>
              </a:rPr>
              <a:t>);</a:t>
            </a:r>
          </a:p>
          <a:p>
            <a:pPr marL="227013" lvl="1"/>
            <a:r>
              <a:rPr lang="en-US" sz="2000" err="1">
                <a:latin typeface="Consolas" panose="020B0609020204030204" pitchFamily="49" charset="0"/>
              </a:rPr>
              <a:t>release_pbox</a:t>
            </a:r>
            <a:r>
              <a:rPr lang="en-US" sz="2000">
                <a:latin typeface="Consolas" panose="020B0609020204030204" pitchFamily="49" charset="0"/>
              </a:rPr>
              <a:t>(psid);  </a:t>
            </a:r>
          </a:p>
          <a:p>
            <a:pPr marL="0" indent="0">
              <a:buNone/>
            </a:pPr>
            <a:r>
              <a:rPr lang="en-US" sz="2400">
                <a:latin typeface="Consolas" panose="020B0609020204030204" pitchFamily="49" charset="0"/>
              </a:rPr>
              <a:t>}</a:t>
            </a:r>
          </a:p>
          <a:p>
            <a:pPr algn="ctr"/>
            <a:endParaRPr lang="en-US">
              <a:latin typeface="Consolas" panose="020B0609020204030204" pitchFamily="49" charset="0"/>
            </a:endParaRPr>
          </a:p>
        </p:txBody>
      </p:sp>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normAutofit/>
          </a:bodyPr>
          <a:lstStyle/>
          <a:p>
            <a:pPr algn="ctr"/>
            <a:r>
              <a:rPr lang="en-US" altLang="zh-CN" b="1" err="1">
                <a:latin typeface="helvetica" panose="020B0604020202020204" pitchFamily="34" charset="0"/>
                <a:cs typeface="helvetica" panose="020B0604020202020204" pitchFamily="34" charset="0"/>
              </a:rPr>
              <a:t>pBox</a:t>
            </a:r>
            <a:r>
              <a:rPr lang="en-US" altLang="zh-CN" b="1">
                <a:latin typeface="helvetica" panose="020B0604020202020204" pitchFamily="34" charset="0"/>
                <a:cs typeface="helvetica" panose="020B0604020202020204" pitchFamily="34" charset="0"/>
              </a:rPr>
              <a:t> Creation</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8CE01A88-6079-B684-E017-FB2AD006FACF}"/>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19" name="TextBox 18">
            <a:extLst>
              <a:ext uri="{FF2B5EF4-FFF2-40B4-BE49-F238E27FC236}">
                <a16:creationId xmlns:a16="http://schemas.microsoft.com/office/drawing/2014/main" id="{A50F45D3-2B96-E27A-05A1-1EBC8C8D7B07}"/>
              </a:ext>
            </a:extLst>
          </p:cNvPr>
          <p:cNvSpPr txBox="1"/>
          <p:nvPr/>
        </p:nvSpPr>
        <p:spPr>
          <a:xfrm>
            <a:off x="6506113" y="2796038"/>
            <a:ext cx="4208974" cy="369332"/>
          </a:xfrm>
          <a:prstGeom prst="rect">
            <a:avLst/>
          </a:prstGeom>
          <a:noFill/>
        </p:spPr>
        <p:txBody>
          <a:bodyPr wrap="none" rtlCol="0">
            <a:spAutoFit/>
          </a:bodyPr>
          <a:lstStyle/>
          <a:p>
            <a:pPr algn="ctr"/>
            <a:r>
              <a:rPr lang="en-US"/>
              <a:t>Loop to handle all requests from one client</a:t>
            </a:r>
          </a:p>
        </p:txBody>
      </p:sp>
      <p:sp>
        <p:nvSpPr>
          <p:cNvPr id="10" name="Arc 9">
            <a:extLst>
              <a:ext uri="{FF2B5EF4-FFF2-40B4-BE49-F238E27FC236}">
                <a16:creationId xmlns:a16="http://schemas.microsoft.com/office/drawing/2014/main" id="{D0DBAD10-2F1E-9B0C-0EF6-60D6E393A02C}"/>
              </a:ext>
            </a:extLst>
          </p:cNvPr>
          <p:cNvSpPr/>
          <p:nvPr/>
        </p:nvSpPr>
        <p:spPr>
          <a:xfrm>
            <a:off x="5713416" y="2365229"/>
            <a:ext cx="788670" cy="940961"/>
          </a:xfrm>
          <a:prstGeom prst="arc">
            <a:avLst>
              <a:gd name="adj1" fmla="val 15915493"/>
              <a:gd name="adj2" fmla="val 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E65827AB-2281-8F90-C61F-B1E35996258D}"/>
              </a:ext>
            </a:extLst>
          </p:cNvPr>
          <p:cNvSpPr/>
          <p:nvPr/>
        </p:nvSpPr>
        <p:spPr>
          <a:xfrm flipV="1">
            <a:off x="5709389" y="2638600"/>
            <a:ext cx="788670" cy="940961"/>
          </a:xfrm>
          <a:prstGeom prst="arc">
            <a:avLst>
              <a:gd name="adj1" fmla="val 15915493"/>
              <a:gd name="adj2" fmla="val 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ectangle 3">
            <a:extLst>
              <a:ext uri="{FF2B5EF4-FFF2-40B4-BE49-F238E27FC236}">
                <a16:creationId xmlns:a16="http://schemas.microsoft.com/office/drawing/2014/main" id="{78296FA6-DF02-9B5A-7A54-2287532E1338}"/>
              </a:ext>
            </a:extLst>
          </p:cNvPr>
          <p:cNvSpPr/>
          <p:nvPr/>
        </p:nvSpPr>
        <p:spPr>
          <a:xfrm>
            <a:off x="1140074" y="1346580"/>
            <a:ext cx="7344050"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E2AC88"/>
              </a:solidFill>
            </a:endParaRPr>
          </a:p>
        </p:txBody>
      </p:sp>
      <p:sp>
        <p:nvSpPr>
          <p:cNvPr id="6" name="Rectangle 5">
            <a:extLst>
              <a:ext uri="{FF2B5EF4-FFF2-40B4-BE49-F238E27FC236}">
                <a16:creationId xmlns:a16="http://schemas.microsoft.com/office/drawing/2014/main" id="{945A0F3F-3596-6596-A0DA-16527AA733F7}"/>
              </a:ext>
            </a:extLst>
          </p:cNvPr>
          <p:cNvSpPr/>
          <p:nvPr/>
        </p:nvSpPr>
        <p:spPr>
          <a:xfrm>
            <a:off x="1140074" y="1679692"/>
            <a:ext cx="3507340"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D5E813E0-9C84-129E-C0C2-5D8A77F0D95B}"/>
              </a:ext>
            </a:extLst>
          </p:cNvPr>
          <p:cNvSpPr/>
          <p:nvPr/>
        </p:nvSpPr>
        <p:spPr>
          <a:xfrm>
            <a:off x="1140074" y="4085099"/>
            <a:ext cx="2772050"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Oval 7">
            <a:extLst>
              <a:ext uri="{FF2B5EF4-FFF2-40B4-BE49-F238E27FC236}">
                <a16:creationId xmlns:a16="http://schemas.microsoft.com/office/drawing/2014/main" id="{AAD69834-F761-5A3B-D85D-724A1605B67E}"/>
              </a:ext>
            </a:extLst>
          </p:cNvPr>
          <p:cNvSpPr/>
          <p:nvPr/>
        </p:nvSpPr>
        <p:spPr>
          <a:xfrm>
            <a:off x="4835951" y="1235404"/>
            <a:ext cx="3648173" cy="480477"/>
          </a:xfrm>
          <a:custGeom>
            <a:avLst/>
            <a:gdLst>
              <a:gd name="connsiteX0" fmla="*/ 0 w 3648173"/>
              <a:gd name="connsiteY0" fmla="*/ 240239 h 480477"/>
              <a:gd name="connsiteX1" fmla="*/ 1824087 w 3648173"/>
              <a:gd name="connsiteY1" fmla="*/ 0 h 480477"/>
              <a:gd name="connsiteX2" fmla="*/ 3648174 w 3648173"/>
              <a:gd name="connsiteY2" fmla="*/ 240239 h 480477"/>
              <a:gd name="connsiteX3" fmla="*/ 1824087 w 3648173"/>
              <a:gd name="connsiteY3" fmla="*/ 480478 h 480477"/>
              <a:gd name="connsiteX4" fmla="*/ 0 w 3648173"/>
              <a:gd name="connsiteY4" fmla="*/ 240239 h 48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173" h="480477" extrusionOk="0">
                <a:moveTo>
                  <a:pt x="0" y="240239"/>
                </a:moveTo>
                <a:cubicBezTo>
                  <a:pt x="83425" y="147110"/>
                  <a:pt x="692224" y="-104472"/>
                  <a:pt x="1824087" y="0"/>
                </a:cubicBezTo>
                <a:cubicBezTo>
                  <a:pt x="2855156" y="9845"/>
                  <a:pt x="3662705" y="107336"/>
                  <a:pt x="3648174" y="240239"/>
                </a:cubicBezTo>
                <a:cubicBezTo>
                  <a:pt x="3667550" y="319199"/>
                  <a:pt x="2928658" y="440240"/>
                  <a:pt x="1824087" y="480478"/>
                </a:cubicBezTo>
                <a:cubicBezTo>
                  <a:pt x="832425" y="479870"/>
                  <a:pt x="-10607" y="402274"/>
                  <a:pt x="0" y="240239"/>
                </a:cubicBezTo>
                <a:close/>
              </a:path>
            </a:pathLst>
          </a:custGeom>
          <a:noFill/>
          <a:ln w="38100">
            <a:solidFill>
              <a:schemeClr val="accent1">
                <a:lumMod val="60000"/>
                <a:lumOff val="40000"/>
              </a:schemeClr>
            </a:solidFill>
            <a:extLst>
              <a:ext uri="{C807C97D-BFC1-408E-A445-0C87EB9F89A2}">
                <ask:lineSketchStyleProps xmlns:ask="http://schemas.microsoft.com/office/drawing/2018/sketchyshapes" sd="3299076515">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74BC7D8F-2D2A-5B21-FDB0-A6E519307BC0}"/>
              </a:ext>
            </a:extLst>
          </p:cNvPr>
          <p:cNvCxnSpPr>
            <a:cxnSpLocks/>
          </p:cNvCxnSpPr>
          <p:nvPr/>
        </p:nvCxnSpPr>
        <p:spPr>
          <a:xfrm flipH="1" flipV="1">
            <a:off x="7833674" y="1671468"/>
            <a:ext cx="1481439" cy="1248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B2E34E0-5BF5-F8B9-0372-522721810F7C}"/>
              </a:ext>
            </a:extLst>
          </p:cNvPr>
          <p:cNvSpPr txBox="1"/>
          <p:nvPr/>
        </p:nvSpPr>
        <p:spPr>
          <a:xfrm>
            <a:off x="9209222" y="1475642"/>
            <a:ext cx="1125234" cy="646331"/>
          </a:xfrm>
          <a:prstGeom prst="rect">
            <a:avLst/>
          </a:prstGeom>
          <a:noFill/>
        </p:spPr>
        <p:txBody>
          <a:bodyPr wrap="square" rtlCol="0">
            <a:spAutoFit/>
          </a:bodyPr>
          <a:lstStyle/>
          <a:p>
            <a:pPr algn="ctr"/>
            <a:r>
              <a:rPr lang="en-US"/>
              <a:t>Isolation</a:t>
            </a:r>
          </a:p>
          <a:p>
            <a:pPr algn="ctr"/>
            <a:r>
              <a:rPr lang="en-US"/>
              <a:t>rule</a:t>
            </a:r>
          </a:p>
        </p:txBody>
      </p:sp>
      <p:sp>
        <p:nvSpPr>
          <p:cNvPr id="13" name="Rectangle 12">
            <a:extLst>
              <a:ext uri="{FF2B5EF4-FFF2-40B4-BE49-F238E27FC236}">
                <a16:creationId xmlns:a16="http://schemas.microsoft.com/office/drawing/2014/main" id="{84B37FB3-6739-CA43-5D00-E8346A2CEDC5}"/>
              </a:ext>
            </a:extLst>
          </p:cNvPr>
          <p:cNvSpPr/>
          <p:nvPr/>
        </p:nvSpPr>
        <p:spPr>
          <a:xfrm>
            <a:off x="1896113" y="2585498"/>
            <a:ext cx="2138559" cy="302025"/>
          </a:xfrm>
          <a:prstGeom prst="rect">
            <a:avLst/>
          </a:prstGeom>
          <a:solidFill>
            <a:srgbClr val="C00000">
              <a:alpha val="5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C00000"/>
              </a:solidFill>
            </a:endParaRPr>
          </a:p>
        </p:txBody>
      </p:sp>
      <p:cxnSp>
        <p:nvCxnSpPr>
          <p:cNvPr id="17" name="Straight Arrow Connector 16">
            <a:extLst>
              <a:ext uri="{FF2B5EF4-FFF2-40B4-BE49-F238E27FC236}">
                <a16:creationId xmlns:a16="http://schemas.microsoft.com/office/drawing/2014/main" id="{3DF769C1-5F09-D92D-0AC1-F4B9B15FAE46}"/>
              </a:ext>
            </a:extLst>
          </p:cNvPr>
          <p:cNvCxnSpPr>
            <a:cxnSpLocks/>
          </p:cNvCxnSpPr>
          <p:nvPr/>
        </p:nvCxnSpPr>
        <p:spPr>
          <a:xfrm>
            <a:off x="4034672" y="2887523"/>
            <a:ext cx="2149312" cy="119757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0C38DC3-9663-0DBA-ECDD-CCC9BC85F859}"/>
              </a:ext>
            </a:extLst>
          </p:cNvPr>
          <p:cNvSpPr txBox="1"/>
          <p:nvPr/>
        </p:nvSpPr>
        <p:spPr>
          <a:xfrm>
            <a:off x="6247719" y="3927580"/>
            <a:ext cx="2032159" cy="369332"/>
          </a:xfrm>
          <a:prstGeom prst="rect">
            <a:avLst/>
          </a:prstGeom>
          <a:noFill/>
        </p:spPr>
        <p:txBody>
          <a:bodyPr wrap="none" rtlCol="0">
            <a:spAutoFit/>
          </a:bodyPr>
          <a:lstStyle/>
          <a:p>
            <a:pPr algn="ctr"/>
            <a:r>
              <a:rPr lang="en-US"/>
              <a:t>Handle one request</a:t>
            </a:r>
          </a:p>
        </p:txBody>
      </p:sp>
      <p:sp>
        <p:nvSpPr>
          <p:cNvPr id="14" name="TextBox 13">
            <a:extLst>
              <a:ext uri="{FF2B5EF4-FFF2-40B4-BE49-F238E27FC236}">
                <a16:creationId xmlns:a16="http://schemas.microsoft.com/office/drawing/2014/main" id="{75AB47E9-A3BE-5DE6-B9FB-CDA236E0708C}"/>
              </a:ext>
            </a:extLst>
          </p:cNvPr>
          <p:cNvSpPr txBox="1"/>
          <p:nvPr/>
        </p:nvSpPr>
        <p:spPr>
          <a:xfrm>
            <a:off x="2097115" y="5920069"/>
            <a:ext cx="7736841" cy="461665"/>
          </a:xfrm>
          <a:prstGeom prst="rect">
            <a:avLst/>
          </a:prstGeom>
          <a:solidFill>
            <a:schemeClr val="accent4">
              <a:lumMod val="20000"/>
              <a:lumOff val="80000"/>
            </a:schemeClr>
          </a:solidFill>
        </p:spPr>
        <p:txBody>
          <a:bodyPr wrap="square" rtlCol="0">
            <a:spAutoFit/>
          </a:bodyPr>
          <a:lstStyle/>
          <a:p>
            <a:r>
              <a:rPr lang="en-US" sz="2400">
                <a:latin typeface="helvetica" panose="020B0604020202020204" pitchFamily="34" charset="0"/>
                <a:cs typeface="helvetica" panose="020B0604020202020204" pitchFamily="34" charset="0"/>
              </a:rPr>
              <a:t>Example: MySQL thread handler for a client connection</a:t>
            </a:r>
          </a:p>
        </p:txBody>
      </p:sp>
    </p:spTree>
    <p:custDataLst>
      <p:tags r:id="rId1"/>
    </p:custDataLst>
    <p:extLst>
      <p:ext uri="{BB962C8B-B14F-4D97-AF65-F5344CB8AC3E}">
        <p14:creationId xmlns:p14="http://schemas.microsoft.com/office/powerpoint/2010/main" val="2554325074"/>
      </p:ext>
    </p:extLst>
  </p:cSld>
  <p:clrMapOvr>
    <a:masterClrMapping/>
  </p:clrMapOvr>
  <mc:AlternateContent xmlns:mc="http://schemas.openxmlformats.org/markup-compatibility/2006" xmlns:p14="http://schemas.microsoft.com/office/powerpoint/2010/main">
    <mc:Choice Requires="p14">
      <p:transition spd="slow" p14:dur="2000" advTm="22462"/>
    </mc:Choice>
    <mc:Fallback xmlns="">
      <p:transition spd="slow" advTm="224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9"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par>
                                <p:cTn id="26" presetID="9"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dissolve">
                                      <p:cBhvr>
                                        <p:cTn id="28" dur="500"/>
                                        <p:tgtEl>
                                          <p:spTgt spid="1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dissolve">
                                      <p:cBhvr>
                                        <p:cTn id="31" dur="500"/>
                                        <p:tgtEl>
                                          <p:spTgt spid="2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1" grpId="0"/>
      <p:bldP spid="13" grpId="0" animBg="1"/>
      <p:bldP spid="20" grpId="0"/>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normAutofit/>
          </a:bodyPr>
          <a:lstStyle/>
          <a:p>
            <a:pPr algn="ctr"/>
            <a:r>
              <a:rPr lang="en-US" altLang="zh-CN" b="1">
                <a:latin typeface="helvetica" panose="020B0604020202020204" pitchFamily="34" charset="0"/>
                <a:cs typeface="helvetica" panose="020B0604020202020204" pitchFamily="34" charset="0"/>
              </a:rPr>
              <a:t>Define </a:t>
            </a:r>
            <a:r>
              <a:rPr lang="en-US" altLang="zh-CN" b="1" err="1">
                <a:latin typeface="helvetica" panose="020B0604020202020204" pitchFamily="34" charset="0"/>
                <a:cs typeface="helvetica" panose="020B0604020202020204" pitchFamily="34" charset="0"/>
              </a:rPr>
              <a:t>pBox</a:t>
            </a:r>
            <a:r>
              <a:rPr lang="en-US" altLang="zh-CN" b="1">
                <a:latin typeface="helvetica" panose="020B0604020202020204" pitchFamily="34" charset="0"/>
                <a:cs typeface="helvetica" panose="020B0604020202020204" pitchFamily="34" charset="0"/>
              </a:rPr>
              <a:t> Isolation Area </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8CE01A88-6079-B684-E017-FB2AD006FACF}"/>
              </a:ext>
            </a:extLst>
          </p:cNvPr>
          <p:cNvSpPr>
            <a:spLocks noGrp="1"/>
          </p:cNvSpPr>
          <p:nvPr>
            <p:ph type="sldNum" sz="quarter" idx="12"/>
          </p:nvPr>
        </p:nvSpPr>
        <p:spPr/>
        <p:txBody>
          <a:bodyPr/>
          <a:lstStyle/>
          <a:p>
            <a:fld id="{330EA680-D336-4FF7-8B7A-9848BB0A1C32}" type="slidenum">
              <a:rPr lang="en-US" smtClean="0"/>
              <a:t>16</a:t>
            </a:fld>
            <a:endParaRPr lang="en-US"/>
          </a:p>
        </p:txBody>
      </p:sp>
      <p:sp>
        <p:nvSpPr>
          <p:cNvPr id="7" name="Rectangle 6">
            <a:extLst>
              <a:ext uri="{FF2B5EF4-FFF2-40B4-BE49-F238E27FC236}">
                <a16:creationId xmlns:a16="http://schemas.microsoft.com/office/drawing/2014/main" id="{E9CF6001-111C-C257-4DA7-907730C1724C}"/>
              </a:ext>
            </a:extLst>
          </p:cNvPr>
          <p:cNvSpPr/>
          <p:nvPr/>
        </p:nvSpPr>
        <p:spPr>
          <a:xfrm>
            <a:off x="848019" y="1301842"/>
            <a:ext cx="8541078" cy="326165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marL="0" indent="0">
              <a:buNone/>
            </a:pPr>
            <a:r>
              <a:rPr lang="en-US" sz="2400">
                <a:solidFill>
                  <a:srgbClr val="336699"/>
                </a:solidFill>
                <a:latin typeface="Consolas" panose="020B0609020204030204" pitchFamily="49" charset="0"/>
              </a:rPr>
              <a:t>bool</a:t>
            </a:r>
            <a:r>
              <a:rPr lang="en-US" sz="2400">
                <a:latin typeface="Consolas" panose="020B0609020204030204" pitchFamily="49" charset="0"/>
              </a:rPr>
              <a:t> </a:t>
            </a:r>
            <a:r>
              <a:rPr lang="en-US" sz="2400" err="1">
                <a:solidFill>
                  <a:schemeClr val="tx1"/>
                </a:solidFill>
                <a:latin typeface="Consolas" panose="020B0609020204030204" pitchFamily="49" charset="0"/>
              </a:rPr>
              <a:t>do_command</a:t>
            </a:r>
            <a:r>
              <a:rPr lang="en-US" sz="2400" b="1">
                <a:latin typeface="Consolas" panose="020B0609020204030204" pitchFamily="49" charset="0"/>
              </a:rPr>
              <a:t>(</a:t>
            </a:r>
            <a:r>
              <a:rPr lang="en-US" sz="2400">
                <a:latin typeface="Consolas" panose="020B0609020204030204" pitchFamily="49" charset="0"/>
              </a:rPr>
              <a:t>THD *</a:t>
            </a:r>
            <a:r>
              <a:rPr lang="en-US" sz="2400" err="1">
                <a:latin typeface="Consolas" panose="020B0609020204030204" pitchFamily="49" charset="0"/>
              </a:rPr>
              <a:t>thd</a:t>
            </a:r>
            <a:r>
              <a:rPr lang="en-US" sz="2400" b="1">
                <a:latin typeface="Consolas" panose="020B0609020204030204" pitchFamily="49" charset="0"/>
              </a:rPr>
              <a:t>)</a:t>
            </a:r>
            <a:r>
              <a:rPr lang="en-US" sz="2400">
                <a:latin typeface="Consolas" panose="020B0609020204030204" pitchFamily="49" charset="0"/>
              </a:rPr>
              <a:t> {</a:t>
            </a:r>
          </a:p>
          <a:p>
            <a:pPr marL="227013"/>
            <a:r>
              <a:rPr lang="en-US" sz="2400">
                <a:latin typeface="Consolas" panose="020B0609020204030204" pitchFamily="49" charset="0"/>
              </a:rPr>
              <a:t>…</a:t>
            </a:r>
          </a:p>
          <a:p>
            <a:pPr marL="227013"/>
            <a:r>
              <a:rPr lang="en-US" sz="2400">
                <a:latin typeface="Consolas" panose="020B0609020204030204" pitchFamily="49" charset="0"/>
              </a:rPr>
              <a:t>command = </a:t>
            </a:r>
            <a:r>
              <a:rPr lang="en-US" sz="2400" err="1">
                <a:latin typeface="Consolas" panose="020B0609020204030204" pitchFamily="49" charset="0"/>
              </a:rPr>
              <a:t>thd</a:t>
            </a:r>
            <a:r>
              <a:rPr lang="en-US" sz="2400">
                <a:solidFill>
                  <a:srgbClr val="E2AC88"/>
                </a:solidFill>
                <a:latin typeface="Consolas" panose="020B0609020204030204" pitchFamily="49" charset="0"/>
              </a:rPr>
              <a:t>-&gt;</a:t>
            </a:r>
            <a:r>
              <a:rPr lang="en-US" sz="2400" err="1">
                <a:latin typeface="Consolas" panose="020B0609020204030204" pitchFamily="49" charset="0"/>
              </a:rPr>
              <a:t>net.read_pos</a:t>
            </a:r>
            <a:r>
              <a:rPr lang="en-US" sz="2400">
                <a:latin typeface="Consolas" panose="020B0609020204030204" pitchFamily="49" charset="0"/>
              </a:rPr>
              <a:t>[0]; </a:t>
            </a:r>
          </a:p>
          <a:p>
            <a:pPr marL="227013">
              <a:buNone/>
            </a:pPr>
            <a:r>
              <a:rPr lang="en-US" sz="2400">
                <a:latin typeface="Consolas" panose="020B0609020204030204" pitchFamily="49" charset="0"/>
              </a:rPr>
              <a:t>ret = </a:t>
            </a:r>
            <a:r>
              <a:rPr lang="en-US" sz="2400" err="1">
                <a:latin typeface="Consolas" panose="020B0609020204030204" pitchFamily="49" charset="0"/>
              </a:rPr>
              <a:t>dispatch_command</a:t>
            </a:r>
            <a:r>
              <a:rPr lang="en-US" sz="2400" b="1">
                <a:latin typeface="Consolas" panose="020B0609020204030204" pitchFamily="49" charset="0"/>
              </a:rPr>
              <a:t>(</a:t>
            </a:r>
            <a:r>
              <a:rPr lang="en-US" sz="2400">
                <a:latin typeface="Consolas" panose="020B0609020204030204" pitchFamily="49" charset="0"/>
              </a:rPr>
              <a:t>command, </a:t>
            </a:r>
            <a:r>
              <a:rPr lang="en-US" sz="2400" err="1">
                <a:latin typeface="Consolas" panose="020B0609020204030204" pitchFamily="49" charset="0"/>
              </a:rPr>
              <a:t>thd</a:t>
            </a:r>
            <a:r>
              <a:rPr lang="en-US" sz="2400">
                <a:latin typeface="Consolas" panose="020B0609020204030204" pitchFamily="49" charset="0"/>
              </a:rPr>
              <a:t>, ...</a:t>
            </a:r>
            <a:r>
              <a:rPr lang="en-US" sz="2400" b="1">
                <a:latin typeface="Consolas" panose="020B0609020204030204" pitchFamily="49" charset="0"/>
              </a:rPr>
              <a:t>)</a:t>
            </a:r>
            <a:r>
              <a:rPr lang="en-US" sz="2400">
                <a:latin typeface="Consolas" panose="020B0609020204030204" pitchFamily="49" charset="0"/>
              </a:rPr>
              <a:t>;       </a:t>
            </a:r>
          </a:p>
          <a:p>
            <a:pPr marL="227013"/>
            <a:r>
              <a:rPr lang="en-US" sz="2400">
                <a:latin typeface="Consolas" panose="020B0609020204030204" pitchFamily="49" charset="0"/>
              </a:rPr>
              <a:t>…</a:t>
            </a:r>
          </a:p>
          <a:p>
            <a:pPr marL="0" indent="0">
              <a:buNone/>
            </a:pPr>
            <a:r>
              <a:rPr lang="en-US" sz="2400">
                <a:latin typeface="Consolas" panose="020B0609020204030204" pitchFamily="49" charset="0"/>
              </a:rPr>
              <a:t>}</a:t>
            </a:r>
          </a:p>
        </p:txBody>
      </p:sp>
      <p:sp>
        <p:nvSpPr>
          <p:cNvPr id="3" name="TextBox 2">
            <a:extLst>
              <a:ext uri="{FF2B5EF4-FFF2-40B4-BE49-F238E27FC236}">
                <a16:creationId xmlns:a16="http://schemas.microsoft.com/office/drawing/2014/main" id="{E60C2F53-9755-D60F-3DFC-372BD8D24DBE}"/>
              </a:ext>
            </a:extLst>
          </p:cNvPr>
          <p:cNvSpPr txBox="1"/>
          <p:nvPr/>
        </p:nvSpPr>
        <p:spPr>
          <a:xfrm>
            <a:off x="2097115" y="5920069"/>
            <a:ext cx="7736841" cy="461665"/>
          </a:xfrm>
          <a:prstGeom prst="rect">
            <a:avLst/>
          </a:prstGeom>
          <a:solidFill>
            <a:schemeClr val="accent4">
              <a:lumMod val="20000"/>
              <a:lumOff val="80000"/>
            </a:schemeClr>
          </a:solidFill>
        </p:spPr>
        <p:txBody>
          <a:bodyPr wrap="square" rtlCol="0">
            <a:spAutoFit/>
          </a:bodyPr>
          <a:lstStyle/>
          <a:p>
            <a:r>
              <a:rPr lang="en-US" sz="2400">
                <a:latin typeface="helvetica" panose="020B0604020202020204" pitchFamily="34" charset="0"/>
                <a:cs typeface="helvetica" panose="020B0604020202020204" pitchFamily="34" charset="0"/>
              </a:rPr>
              <a:t>Example: MySQL thread handler for a client connection</a:t>
            </a:r>
          </a:p>
        </p:txBody>
      </p:sp>
    </p:spTree>
    <p:extLst>
      <p:ext uri="{BB962C8B-B14F-4D97-AF65-F5344CB8AC3E}">
        <p14:creationId xmlns:p14="http://schemas.microsoft.com/office/powerpoint/2010/main" val="2423722640"/>
      </p:ext>
    </p:extLst>
  </p:cSld>
  <p:clrMapOvr>
    <a:masterClrMapping/>
  </p:clrMapOvr>
  <mc:AlternateContent xmlns:mc="http://schemas.openxmlformats.org/markup-compatibility/2006" xmlns:p14="http://schemas.microsoft.com/office/powerpoint/2010/main">
    <mc:Choice Requires="p14">
      <p:transition spd="slow" p14:dur="2000" advTm="12392"/>
    </mc:Choice>
    <mc:Fallback xmlns="">
      <p:transition spd="slow" advTm="123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normAutofit/>
          </a:bodyPr>
          <a:lstStyle/>
          <a:p>
            <a:pPr algn="ctr"/>
            <a:r>
              <a:rPr lang="en-US" altLang="zh-CN" b="1">
                <a:latin typeface="helvetica" panose="020B0604020202020204" pitchFamily="34" charset="0"/>
                <a:cs typeface="helvetica" panose="020B0604020202020204" pitchFamily="34" charset="0"/>
              </a:rPr>
              <a:t>Define </a:t>
            </a:r>
            <a:r>
              <a:rPr lang="en-US" altLang="zh-CN" b="1" err="1">
                <a:latin typeface="helvetica" panose="020B0604020202020204" pitchFamily="34" charset="0"/>
                <a:cs typeface="helvetica" panose="020B0604020202020204" pitchFamily="34" charset="0"/>
              </a:rPr>
              <a:t>pBox</a:t>
            </a:r>
            <a:r>
              <a:rPr lang="en-US" altLang="zh-CN" b="1">
                <a:latin typeface="helvetica" panose="020B0604020202020204" pitchFamily="34" charset="0"/>
                <a:cs typeface="helvetica" panose="020B0604020202020204" pitchFamily="34" charset="0"/>
              </a:rPr>
              <a:t> Isolation Area </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8CE01A88-6079-B684-E017-FB2AD006FACF}"/>
              </a:ext>
            </a:extLst>
          </p:cNvPr>
          <p:cNvSpPr>
            <a:spLocks noGrp="1"/>
          </p:cNvSpPr>
          <p:nvPr>
            <p:ph type="sldNum" sz="quarter" idx="12"/>
          </p:nvPr>
        </p:nvSpPr>
        <p:spPr/>
        <p:txBody>
          <a:bodyPr/>
          <a:lstStyle/>
          <a:p>
            <a:fld id="{330EA680-D336-4FF7-8B7A-9848BB0A1C32}" type="slidenum">
              <a:rPr lang="en-US" smtClean="0"/>
              <a:t>17</a:t>
            </a:fld>
            <a:endParaRPr lang="en-US"/>
          </a:p>
        </p:txBody>
      </p:sp>
      <p:sp>
        <p:nvSpPr>
          <p:cNvPr id="7" name="Rectangle 6">
            <a:extLst>
              <a:ext uri="{FF2B5EF4-FFF2-40B4-BE49-F238E27FC236}">
                <a16:creationId xmlns:a16="http://schemas.microsoft.com/office/drawing/2014/main" id="{E9CF6001-111C-C257-4DA7-907730C1724C}"/>
              </a:ext>
            </a:extLst>
          </p:cNvPr>
          <p:cNvSpPr/>
          <p:nvPr/>
        </p:nvSpPr>
        <p:spPr>
          <a:xfrm>
            <a:off x="848019" y="1301842"/>
            <a:ext cx="8541078" cy="326165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marL="0" indent="0">
              <a:buNone/>
            </a:pPr>
            <a:r>
              <a:rPr lang="en-US" sz="2400">
                <a:solidFill>
                  <a:srgbClr val="336699"/>
                </a:solidFill>
                <a:latin typeface="Consolas" panose="020B0609020204030204" pitchFamily="49" charset="0"/>
              </a:rPr>
              <a:t>bool</a:t>
            </a:r>
            <a:r>
              <a:rPr lang="en-US" sz="2400">
                <a:latin typeface="Consolas" panose="020B0609020204030204" pitchFamily="49" charset="0"/>
              </a:rPr>
              <a:t> </a:t>
            </a:r>
            <a:r>
              <a:rPr lang="en-US" sz="2400" err="1">
                <a:solidFill>
                  <a:schemeClr val="tx1"/>
                </a:solidFill>
                <a:latin typeface="Consolas" panose="020B0609020204030204" pitchFamily="49" charset="0"/>
              </a:rPr>
              <a:t>do_command</a:t>
            </a:r>
            <a:r>
              <a:rPr lang="en-US" sz="2400" b="1">
                <a:latin typeface="Consolas" panose="020B0609020204030204" pitchFamily="49" charset="0"/>
              </a:rPr>
              <a:t>(</a:t>
            </a:r>
            <a:r>
              <a:rPr lang="en-US" sz="2400">
                <a:latin typeface="Consolas" panose="020B0609020204030204" pitchFamily="49" charset="0"/>
              </a:rPr>
              <a:t>THD *</a:t>
            </a:r>
            <a:r>
              <a:rPr lang="en-US" sz="2400" err="1">
                <a:latin typeface="Consolas" panose="020B0609020204030204" pitchFamily="49" charset="0"/>
              </a:rPr>
              <a:t>thd</a:t>
            </a:r>
            <a:r>
              <a:rPr lang="en-US" sz="2400" b="1">
                <a:latin typeface="Consolas" panose="020B0609020204030204" pitchFamily="49" charset="0"/>
              </a:rPr>
              <a:t>)</a:t>
            </a:r>
            <a:r>
              <a:rPr lang="en-US" sz="2400">
                <a:latin typeface="Consolas" panose="020B0609020204030204" pitchFamily="49" charset="0"/>
              </a:rPr>
              <a:t> {</a:t>
            </a:r>
          </a:p>
          <a:p>
            <a:pPr marL="227013"/>
            <a:r>
              <a:rPr lang="en-US" sz="2400">
                <a:latin typeface="Consolas" panose="020B0609020204030204" pitchFamily="49" charset="0"/>
              </a:rPr>
              <a:t>…</a:t>
            </a:r>
          </a:p>
          <a:p>
            <a:pPr marL="227013"/>
            <a:r>
              <a:rPr lang="en-US" sz="2400">
                <a:latin typeface="Consolas" panose="020B0609020204030204" pitchFamily="49" charset="0"/>
              </a:rPr>
              <a:t>command = </a:t>
            </a:r>
            <a:r>
              <a:rPr lang="en-US" sz="2400" err="1">
                <a:latin typeface="Consolas" panose="020B0609020204030204" pitchFamily="49" charset="0"/>
              </a:rPr>
              <a:t>thd</a:t>
            </a:r>
            <a:r>
              <a:rPr lang="en-US" sz="2400">
                <a:solidFill>
                  <a:srgbClr val="E2AC88"/>
                </a:solidFill>
                <a:latin typeface="Consolas" panose="020B0609020204030204" pitchFamily="49" charset="0"/>
              </a:rPr>
              <a:t>-&gt;</a:t>
            </a:r>
            <a:r>
              <a:rPr lang="en-US" sz="2400" err="1">
                <a:latin typeface="Consolas" panose="020B0609020204030204" pitchFamily="49" charset="0"/>
              </a:rPr>
              <a:t>net.read_pos</a:t>
            </a:r>
            <a:r>
              <a:rPr lang="en-US" sz="2400">
                <a:latin typeface="Consolas" panose="020B0609020204030204" pitchFamily="49" charset="0"/>
              </a:rPr>
              <a:t>[0];</a:t>
            </a:r>
          </a:p>
          <a:p>
            <a:pPr marL="227013"/>
            <a:r>
              <a:rPr lang="en-US" sz="2400">
                <a:latin typeface="Consolas" panose="020B0609020204030204" pitchFamily="49" charset="0"/>
              </a:rPr>
              <a:t>psid = </a:t>
            </a:r>
            <a:r>
              <a:rPr lang="en-US" sz="2400" err="1">
                <a:latin typeface="Consolas" panose="020B0609020204030204" pitchFamily="49" charset="0"/>
              </a:rPr>
              <a:t>get_current_pbox</a:t>
            </a:r>
            <a:r>
              <a:rPr lang="en-US" sz="2400" b="1">
                <a:latin typeface="Consolas" panose="020B0609020204030204" pitchFamily="49" charset="0"/>
              </a:rPr>
              <a:t>()</a:t>
            </a:r>
            <a:r>
              <a:rPr lang="en-US" sz="2400">
                <a:latin typeface="Consolas" panose="020B0609020204030204" pitchFamily="49" charset="0"/>
              </a:rPr>
              <a:t>; </a:t>
            </a:r>
          </a:p>
          <a:p>
            <a:pPr marL="227013"/>
            <a:r>
              <a:rPr lang="en-US" sz="2400">
                <a:latin typeface="Consolas" panose="020B0609020204030204" pitchFamily="49" charset="0"/>
              </a:rPr>
              <a:t>…</a:t>
            </a:r>
          </a:p>
          <a:p>
            <a:pPr marL="227013"/>
            <a:r>
              <a:rPr lang="en-US" sz="2400" err="1">
                <a:latin typeface="Consolas" panose="020B0609020204030204" pitchFamily="49" charset="0"/>
              </a:rPr>
              <a:t>activate_pbox</a:t>
            </a:r>
            <a:r>
              <a:rPr lang="en-US" sz="2400" b="1">
                <a:latin typeface="Consolas" panose="020B0609020204030204" pitchFamily="49" charset="0"/>
              </a:rPr>
              <a:t>(</a:t>
            </a:r>
            <a:r>
              <a:rPr lang="en-US" sz="2400">
                <a:latin typeface="Consolas" panose="020B0609020204030204" pitchFamily="49" charset="0"/>
              </a:rPr>
              <a:t>psid</a:t>
            </a:r>
            <a:r>
              <a:rPr lang="en-US" sz="2400" b="1">
                <a:latin typeface="Consolas" panose="020B0609020204030204" pitchFamily="49" charset="0"/>
              </a:rPr>
              <a:t>)</a:t>
            </a:r>
            <a:r>
              <a:rPr lang="en-US" sz="2400">
                <a:latin typeface="Consolas" panose="020B0609020204030204" pitchFamily="49" charset="0"/>
              </a:rPr>
              <a:t>;</a:t>
            </a:r>
          </a:p>
          <a:p>
            <a:pPr marL="227013">
              <a:buNone/>
            </a:pPr>
            <a:r>
              <a:rPr lang="en-US" sz="2400">
                <a:latin typeface="Consolas" panose="020B0609020204030204" pitchFamily="49" charset="0"/>
              </a:rPr>
              <a:t>ret = </a:t>
            </a:r>
            <a:r>
              <a:rPr lang="en-US" sz="2400" err="1">
                <a:latin typeface="Consolas" panose="020B0609020204030204" pitchFamily="49" charset="0"/>
              </a:rPr>
              <a:t>dispatch_command</a:t>
            </a:r>
            <a:r>
              <a:rPr lang="en-US" sz="2400" b="1">
                <a:latin typeface="Consolas" panose="020B0609020204030204" pitchFamily="49" charset="0"/>
              </a:rPr>
              <a:t>(</a:t>
            </a:r>
            <a:r>
              <a:rPr lang="en-US" sz="2400">
                <a:latin typeface="Consolas" panose="020B0609020204030204" pitchFamily="49" charset="0"/>
              </a:rPr>
              <a:t>command, </a:t>
            </a:r>
            <a:r>
              <a:rPr lang="en-US" sz="2400" err="1">
                <a:latin typeface="Consolas" panose="020B0609020204030204" pitchFamily="49" charset="0"/>
              </a:rPr>
              <a:t>thd</a:t>
            </a:r>
            <a:r>
              <a:rPr lang="en-US" sz="2400">
                <a:latin typeface="Consolas" panose="020B0609020204030204" pitchFamily="49" charset="0"/>
              </a:rPr>
              <a:t>, ...</a:t>
            </a:r>
            <a:r>
              <a:rPr lang="en-US" sz="2400" b="1">
                <a:latin typeface="Consolas" panose="020B0609020204030204" pitchFamily="49" charset="0"/>
              </a:rPr>
              <a:t>)</a:t>
            </a:r>
            <a:r>
              <a:rPr lang="en-US" sz="2400">
                <a:latin typeface="Consolas" panose="020B0609020204030204" pitchFamily="49" charset="0"/>
              </a:rPr>
              <a:t>;</a:t>
            </a:r>
          </a:p>
          <a:p>
            <a:pPr marL="227013">
              <a:buNone/>
            </a:pPr>
            <a:r>
              <a:rPr lang="en-US" sz="2400" err="1">
                <a:latin typeface="Consolas" panose="020B0609020204030204" pitchFamily="49" charset="0"/>
              </a:rPr>
              <a:t>freeze_pbox</a:t>
            </a:r>
            <a:r>
              <a:rPr lang="en-US" sz="2400">
                <a:latin typeface="Consolas" panose="020B0609020204030204" pitchFamily="49" charset="0"/>
              </a:rPr>
              <a:t>(psid);       </a:t>
            </a:r>
          </a:p>
          <a:p>
            <a:pPr marL="227013"/>
            <a:r>
              <a:rPr lang="en-US" sz="2400">
                <a:latin typeface="Consolas" panose="020B0609020204030204" pitchFamily="49" charset="0"/>
              </a:rPr>
              <a:t>…</a:t>
            </a:r>
          </a:p>
          <a:p>
            <a:pPr marL="0" indent="0">
              <a:buNone/>
            </a:pPr>
            <a:r>
              <a:rPr lang="en-US" sz="2400">
                <a:latin typeface="Consolas" panose="020B0609020204030204" pitchFamily="49" charset="0"/>
              </a:rPr>
              <a:t>}</a:t>
            </a:r>
          </a:p>
        </p:txBody>
      </p:sp>
      <p:sp>
        <p:nvSpPr>
          <p:cNvPr id="3" name="Rectangle 2">
            <a:extLst>
              <a:ext uri="{FF2B5EF4-FFF2-40B4-BE49-F238E27FC236}">
                <a16:creationId xmlns:a16="http://schemas.microsoft.com/office/drawing/2014/main" id="{9620C667-E9F4-1F45-B7A4-EAF58784CFD3}"/>
              </a:ext>
            </a:extLst>
          </p:cNvPr>
          <p:cNvSpPr/>
          <p:nvPr/>
        </p:nvSpPr>
        <p:spPr>
          <a:xfrm>
            <a:off x="1130647" y="2250280"/>
            <a:ext cx="4553716" cy="361879"/>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Rectangle 3">
            <a:extLst>
              <a:ext uri="{FF2B5EF4-FFF2-40B4-BE49-F238E27FC236}">
                <a16:creationId xmlns:a16="http://schemas.microsoft.com/office/drawing/2014/main" id="{ED1FC19B-75ED-5376-32A3-A1C551131437}"/>
              </a:ext>
            </a:extLst>
          </p:cNvPr>
          <p:cNvSpPr/>
          <p:nvPr/>
        </p:nvSpPr>
        <p:spPr>
          <a:xfrm>
            <a:off x="1130647" y="2942984"/>
            <a:ext cx="3507341" cy="361879"/>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C35ABF02-8B1A-F5CF-806C-8E506C0C83AC}"/>
              </a:ext>
            </a:extLst>
          </p:cNvPr>
          <p:cNvSpPr/>
          <p:nvPr/>
        </p:nvSpPr>
        <p:spPr>
          <a:xfrm>
            <a:off x="1130647" y="3658469"/>
            <a:ext cx="3196256" cy="361879"/>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8" name="Straight Arrow Connector 7">
            <a:extLst>
              <a:ext uri="{FF2B5EF4-FFF2-40B4-BE49-F238E27FC236}">
                <a16:creationId xmlns:a16="http://schemas.microsoft.com/office/drawing/2014/main" id="{998F2E43-5646-1FB6-90FF-03209EAA6909}"/>
              </a:ext>
            </a:extLst>
          </p:cNvPr>
          <p:cNvCxnSpPr>
            <a:cxnSpLocks/>
          </p:cNvCxnSpPr>
          <p:nvPr/>
        </p:nvCxnSpPr>
        <p:spPr>
          <a:xfrm flipH="1" flipV="1">
            <a:off x="1923068" y="2771480"/>
            <a:ext cx="4006392" cy="171504"/>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DB1A9EB-A099-03F7-F2C4-7E9DB1B90DE8}"/>
              </a:ext>
            </a:extLst>
          </p:cNvPr>
          <p:cNvSpPr txBox="1"/>
          <p:nvPr/>
        </p:nvSpPr>
        <p:spPr>
          <a:xfrm>
            <a:off x="6033155" y="2473866"/>
            <a:ext cx="4760536" cy="830997"/>
          </a:xfrm>
          <a:prstGeom prst="rect">
            <a:avLst/>
          </a:prstGeom>
          <a:noFill/>
        </p:spPr>
        <p:txBody>
          <a:bodyPr wrap="square" rtlCol="0">
            <a:spAutoFit/>
          </a:bodyPr>
          <a:lstStyle/>
          <a:p>
            <a:pPr algn="ctr"/>
            <a:r>
              <a:rPr lang="en-US" sz="2400"/>
              <a:t>Additional code to filter out requests from </a:t>
            </a:r>
            <a:r>
              <a:rPr lang="en-US" sz="2400" err="1"/>
              <a:t>pBox’s</a:t>
            </a:r>
            <a:r>
              <a:rPr lang="en-US" sz="2400"/>
              <a:t> isolation area </a:t>
            </a:r>
          </a:p>
        </p:txBody>
      </p:sp>
      <p:sp>
        <p:nvSpPr>
          <p:cNvPr id="16" name="Rectangle 15">
            <a:extLst>
              <a:ext uri="{FF2B5EF4-FFF2-40B4-BE49-F238E27FC236}">
                <a16:creationId xmlns:a16="http://schemas.microsoft.com/office/drawing/2014/main" id="{E687F468-4865-29E4-BB12-B57A8CC5067D}"/>
              </a:ext>
            </a:extLst>
          </p:cNvPr>
          <p:cNvSpPr/>
          <p:nvPr/>
        </p:nvSpPr>
        <p:spPr>
          <a:xfrm>
            <a:off x="1130647" y="2603886"/>
            <a:ext cx="707580" cy="361879"/>
          </a:xfrm>
          <a:prstGeom prst="rect">
            <a:avLst/>
          </a:prstGeom>
          <a:solidFill>
            <a:srgbClr val="C00000">
              <a:alpha val="5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Box 8">
            <a:extLst>
              <a:ext uri="{FF2B5EF4-FFF2-40B4-BE49-F238E27FC236}">
                <a16:creationId xmlns:a16="http://schemas.microsoft.com/office/drawing/2014/main" id="{BA6FEB78-3D38-8FEF-808E-503E2D81788C}"/>
              </a:ext>
            </a:extLst>
          </p:cNvPr>
          <p:cNvSpPr txBox="1"/>
          <p:nvPr/>
        </p:nvSpPr>
        <p:spPr>
          <a:xfrm>
            <a:off x="2097115" y="5920069"/>
            <a:ext cx="7736841" cy="461665"/>
          </a:xfrm>
          <a:prstGeom prst="rect">
            <a:avLst/>
          </a:prstGeom>
          <a:solidFill>
            <a:schemeClr val="accent4">
              <a:lumMod val="20000"/>
              <a:lumOff val="80000"/>
            </a:schemeClr>
          </a:solidFill>
        </p:spPr>
        <p:txBody>
          <a:bodyPr wrap="square" rtlCol="0">
            <a:spAutoFit/>
          </a:bodyPr>
          <a:lstStyle/>
          <a:p>
            <a:r>
              <a:rPr lang="en-US" sz="2400">
                <a:latin typeface="helvetica" panose="020B0604020202020204" pitchFamily="34" charset="0"/>
                <a:cs typeface="helvetica" panose="020B0604020202020204" pitchFamily="34" charset="0"/>
              </a:rPr>
              <a:t>Example: MySQL thread handler for a client connection</a:t>
            </a:r>
          </a:p>
        </p:txBody>
      </p:sp>
    </p:spTree>
    <p:extLst>
      <p:ext uri="{BB962C8B-B14F-4D97-AF65-F5344CB8AC3E}">
        <p14:creationId xmlns:p14="http://schemas.microsoft.com/office/powerpoint/2010/main" val="882679024"/>
      </p:ext>
    </p:extLst>
  </p:cSld>
  <p:clrMapOvr>
    <a:masterClrMapping/>
  </p:clrMapOvr>
  <mc:AlternateContent xmlns:mc="http://schemas.openxmlformats.org/markup-compatibility/2006" xmlns:p14="http://schemas.microsoft.com/office/powerpoint/2010/main">
    <mc:Choice Requires="p14">
      <p:transition spd="slow" p14:dur="2000" advTm="21040"/>
    </mc:Choice>
    <mc:Fallback xmlns="">
      <p:transition spd="slow" advTm="21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500"/>
                                        <p:tgtEl>
                                          <p:spTgt spid="16"/>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12" grpId="0"/>
      <p:bldP spid="16"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normAutofit/>
          </a:bodyPr>
          <a:lstStyle/>
          <a:p>
            <a:pPr algn="ctr"/>
            <a:r>
              <a:rPr lang="en-US" altLang="zh-CN" b="1" err="1">
                <a:latin typeface="helvetica" panose="020B0604020202020204" pitchFamily="34" charset="0"/>
                <a:cs typeface="helvetica" panose="020B0604020202020204" pitchFamily="34" charset="0"/>
              </a:rPr>
              <a:t>pBox</a:t>
            </a:r>
            <a:r>
              <a:rPr lang="en-US" altLang="zh-CN" b="1">
                <a:latin typeface="helvetica" panose="020B0604020202020204" pitchFamily="34" charset="0"/>
                <a:cs typeface="helvetica" panose="020B0604020202020204" pitchFamily="34" charset="0"/>
              </a:rPr>
              <a:t> APIs for Thread Pool Model</a:t>
            </a:r>
            <a:endParaRPr lang="en-US" b="1">
              <a:latin typeface="helvetica" panose="020B0604020202020204" pitchFamily="34" charset="0"/>
              <a:cs typeface="helvetica" panose="020B0604020202020204" pitchFamily="34" charset="0"/>
            </a:endParaRPr>
          </a:p>
        </p:txBody>
      </p:sp>
      <p:sp>
        <p:nvSpPr>
          <p:cNvPr id="5" name="灯片编号占位符 4">
            <a:extLst>
              <a:ext uri="{FF2B5EF4-FFF2-40B4-BE49-F238E27FC236}">
                <a16:creationId xmlns:a16="http://schemas.microsoft.com/office/drawing/2014/main" id="{8CE01A88-6079-B684-E017-FB2AD006FACF}"/>
              </a:ext>
            </a:extLst>
          </p:cNvPr>
          <p:cNvSpPr>
            <a:spLocks noGrp="1"/>
          </p:cNvSpPr>
          <p:nvPr>
            <p:ph type="sldNum" sz="quarter" idx="12"/>
          </p:nvPr>
        </p:nvSpPr>
        <p:spPr/>
        <p:txBody>
          <a:bodyPr/>
          <a:lstStyle/>
          <a:p>
            <a:fld id="{330EA680-D336-4FF7-8B7A-9848BB0A1C32}" type="slidenum">
              <a:rPr lang="en-US" smtClean="0"/>
              <a:t>18</a:t>
            </a:fld>
            <a:endParaRPr lang="en-US"/>
          </a:p>
        </p:txBody>
      </p:sp>
      <p:sp>
        <p:nvSpPr>
          <p:cNvPr id="3" name="TextBox 2">
            <a:extLst>
              <a:ext uri="{FF2B5EF4-FFF2-40B4-BE49-F238E27FC236}">
                <a16:creationId xmlns:a16="http://schemas.microsoft.com/office/drawing/2014/main" id="{728580ED-9FD4-2086-79D4-0C018AE91E1F}"/>
              </a:ext>
            </a:extLst>
          </p:cNvPr>
          <p:cNvSpPr txBox="1"/>
          <p:nvPr/>
        </p:nvSpPr>
        <p:spPr>
          <a:xfrm>
            <a:off x="735291" y="1188721"/>
            <a:ext cx="11456709" cy="830997"/>
          </a:xfrm>
          <a:prstGeom prst="rect">
            <a:avLst/>
          </a:prstGeom>
          <a:noFill/>
        </p:spPr>
        <p:txBody>
          <a:bodyPr wrap="square" rtlCol="0">
            <a:spAutoFit/>
          </a:bodyPr>
          <a:lstStyle/>
          <a:p>
            <a:r>
              <a:rPr lang="en-US" sz="2400" b="1"/>
              <a:t>API</a:t>
            </a:r>
            <a:r>
              <a:rPr lang="en-US" sz="2400" b="1">
                <a:latin typeface="Consolas" panose="020B0609020204030204" pitchFamily="49" charset="0"/>
              </a:rPr>
              <a:t>: </a:t>
            </a:r>
            <a:r>
              <a:rPr lang="de-DE" sz="2400">
                <a:solidFill>
                  <a:srgbClr val="517CA8"/>
                </a:solidFill>
                <a:latin typeface="Consolas" panose="020B0609020204030204" pitchFamily="49" charset="0"/>
              </a:rPr>
              <a:t>int</a:t>
            </a:r>
            <a:r>
              <a:rPr lang="de-DE" sz="2400">
                <a:latin typeface="Consolas" panose="020B0609020204030204" pitchFamily="49" charset="0"/>
              </a:rPr>
              <a:t> bind_pbox(</a:t>
            </a:r>
            <a:r>
              <a:rPr lang="de-DE" sz="2400">
                <a:solidFill>
                  <a:srgbClr val="517CA8"/>
                </a:solidFill>
                <a:latin typeface="Consolas" panose="020B0609020204030204" pitchFamily="49" charset="0"/>
              </a:rPr>
              <a:t>size_t</a:t>
            </a:r>
            <a:r>
              <a:rPr lang="de-DE" sz="2400">
                <a:latin typeface="Consolas" panose="020B0609020204030204" pitchFamily="49" charset="0"/>
              </a:rPr>
              <a:t> key, </a:t>
            </a:r>
            <a:r>
              <a:rPr lang="de-DE" sz="2400">
                <a:solidFill>
                  <a:srgbClr val="517CA8"/>
                </a:solidFill>
                <a:latin typeface="Consolas" panose="020B0609020204030204" pitchFamily="49" charset="0"/>
              </a:rPr>
              <a:t>unbind_flags</a:t>
            </a:r>
            <a:r>
              <a:rPr lang="de-DE" sz="2400">
                <a:latin typeface="Consolas" panose="020B0609020204030204" pitchFamily="49" charset="0"/>
              </a:rPr>
              <a:t> flags)</a:t>
            </a:r>
          </a:p>
          <a:p>
            <a:pPr marL="744538"/>
            <a:r>
              <a:rPr lang="de-DE" sz="2400">
                <a:solidFill>
                  <a:srgbClr val="517CA8"/>
                </a:solidFill>
                <a:latin typeface="Consolas" panose="020B0609020204030204" pitchFamily="49" charset="0"/>
              </a:rPr>
              <a:t>int</a:t>
            </a:r>
            <a:r>
              <a:rPr lang="de-DE" sz="2400">
                <a:latin typeface="Consolas" panose="020B0609020204030204" pitchFamily="49" charset="0"/>
              </a:rPr>
              <a:t> unbind_pbox(</a:t>
            </a:r>
            <a:r>
              <a:rPr lang="de-DE" sz="2400">
                <a:solidFill>
                  <a:srgbClr val="517CA8"/>
                </a:solidFill>
                <a:latin typeface="Consolas" panose="020B0609020204030204" pitchFamily="49" charset="0"/>
              </a:rPr>
              <a:t>size_t</a:t>
            </a:r>
            <a:r>
              <a:rPr lang="de-DE" sz="2400">
                <a:latin typeface="Consolas" panose="020B0609020204030204" pitchFamily="49" charset="0"/>
              </a:rPr>
              <a:t> key, </a:t>
            </a:r>
            <a:r>
              <a:rPr lang="de-DE" sz="2400">
                <a:solidFill>
                  <a:srgbClr val="517CA8"/>
                </a:solidFill>
                <a:latin typeface="Consolas" panose="020B0609020204030204" pitchFamily="49" charset="0"/>
              </a:rPr>
              <a:t>unbind_flags</a:t>
            </a:r>
            <a:r>
              <a:rPr lang="de-DE" sz="2400">
                <a:latin typeface="Consolas" panose="020B0609020204030204" pitchFamily="49" charset="0"/>
              </a:rPr>
              <a:t> flags)</a:t>
            </a:r>
          </a:p>
        </p:txBody>
      </p:sp>
      <p:sp>
        <p:nvSpPr>
          <p:cNvPr id="4" name="TextBox 3">
            <a:extLst>
              <a:ext uri="{FF2B5EF4-FFF2-40B4-BE49-F238E27FC236}">
                <a16:creationId xmlns:a16="http://schemas.microsoft.com/office/drawing/2014/main" id="{AD3CD4B0-D1A0-23E2-27DC-3F3CEA8DAAA9}"/>
              </a:ext>
            </a:extLst>
          </p:cNvPr>
          <p:cNvSpPr txBox="1"/>
          <p:nvPr/>
        </p:nvSpPr>
        <p:spPr>
          <a:xfrm>
            <a:off x="367645" y="2641392"/>
            <a:ext cx="11456709" cy="2066400"/>
          </a:xfrm>
          <a:prstGeom prst="rect">
            <a:avLst/>
          </a:prstGeom>
          <a:noFill/>
        </p:spPr>
        <p:txBody>
          <a:bodyPr wrap="square" rtlCol="0">
            <a:spAutoFit/>
          </a:bodyPr>
          <a:lstStyle/>
          <a:p>
            <a:r>
              <a:rPr lang="en-US" sz="2400"/>
              <a:t>Functions to transfer the ownership of </a:t>
            </a:r>
            <a:r>
              <a:rPr lang="en-US" sz="2400" err="1"/>
              <a:t>pBox</a:t>
            </a:r>
            <a:r>
              <a:rPr lang="en-US" sz="2400"/>
              <a:t>:</a:t>
            </a:r>
          </a:p>
          <a:p>
            <a:pPr marL="461963" indent="-227013">
              <a:lnSpc>
                <a:spcPct val="150000"/>
              </a:lnSpc>
              <a:buFont typeface="Arial" panose="020B0604020202020204" pitchFamily="34" charset="0"/>
              <a:buChar char="•"/>
            </a:pPr>
            <a:r>
              <a:rPr lang="de-DE" sz="2400">
                <a:latin typeface="Consolas" panose="020B0609020204030204" pitchFamily="49" charset="0"/>
              </a:rPr>
              <a:t>bind_pbox </a:t>
            </a:r>
            <a:r>
              <a:rPr lang="de-DE" sz="2400"/>
              <a:t>finds the pBox from the key and binds it with the current thread</a:t>
            </a:r>
          </a:p>
          <a:p>
            <a:pPr marL="461963" indent="-227013">
              <a:lnSpc>
                <a:spcPct val="150000"/>
              </a:lnSpc>
              <a:buFont typeface="Arial" panose="020B0604020202020204" pitchFamily="34" charset="0"/>
              <a:buChar char="•"/>
            </a:pPr>
            <a:r>
              <a:rPr lang="de-DE" sz="2400">
                <a:latin typeface="Consolas" panose="020B0609020204030204" pitchFamily="49" charset="0"/>
              </a:rPr>
              <a:t>unbind_pbox</a:t>
            </a:r>
            <a:r>
              <a:rPr lang="en-US" sz="2400"/>
              <a:t>  detaches the </a:t>
            </a:r>
            <a:r>
              <a:rPr lang="en-US" sz="2400" err="1"/>
              <a:t>pBox</a:t>
            </a:r>
            <a:r>
              <a:rPr lang="en-US" sz="2400"/>
              <a:t> from current thread</a:t>
            </a:r>
          </a:p>
          <a:p>
            <a:pPr marL="461963" indent="-227013">
              <a:lnSpc>
                <a:spcPct val="150000"/>
              </a:lnSpc>
              <a:buFont typeface="Arial" panose="020B0604020202020204" pitchFamily="34" charset="0"/>
              <a:buChar char="•"/>
            </a:pPr>
            <a:r>
              <a:rPr lang="en-US" sz="2400"/>
              <a:t>Detach/attach to thread when the task is detached/attached from thread pool</a:t>
            </a:r>
          </a:p>
        </p:txBody>
      </p:sp>
    </p:spTree>
    <p:extLst>
      <p:ext uri="{BB962C8B-B14F-4D97-AF65-F5344CB8AC3E}">
        <p14:creationId xmlns:p14="http://schemas.microsoft.com/office/powerpoint/2010/main" val="3268273962"/>
      </p:ext>
    </p:extLst>
  </p:cSld>
  <p:clrMapOvr>
    <a:masterClrMapping/>
  </p:clrMapOvr>
  <mc:AlternateContent xmlns:mc="http://schemas.openxmlformats.org/markup-compatibility/2006" xmlns:p14="http://schemas.microsoft.com/office/powerpoint/2010/main">
    <mc:Choice Requires="p14">
      <p:transition spd="slow" p14:dur="2000" advTm="15575"/>
    </mc:Choice>
    <mc:Fallback xmlns="">
      <p:transition spd="slow" advTm="1557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6"/>
            <a:ext cx="12192000" cy="1188376"/>
          </a:xfrm>
        </p:spPr>
        <p:txBody>
          <a:bodyPr/>
          <a:lstStyle/>
          <a:p>
            <a:pPr algn="ctr"/>
            <a:r>
              <a:rPr lang="en-US" b="1">
                <a:latin typeface="helvetica" panose="020B0604020202020204" pitchFamily="34" charset="0"/>
                <a:cs typeface="helvetica" panose="020B0604020202020204" pitchFamily="34" charset="0"/>
              </a:rPr>
              <a:t>How to Trace Application Resource</a:t>
            </a:r>
          </a:p>
        </p:txBody>
      </p:sp>
      <p:sp>
        <p:nvSpPr>
          <p:cNvPr id="5" name="灯片编号占位符 4">
            <a:extLst>
              <a:ext uri="{FF2B5EF4-FFF2-40B4-BE49-F238E27FC236}">
                <a16:creationId xmlns:a16="http://schemas.microsoft.com/office/drawing/2014/main" id="{49F581CB-420C-F329-F043-DACAA5908786}"/>
              </a:ext>
            </a:extLst>
          </p:cNvPr>
          <p:cNvSpPr>
            <a:spLocks noGrp="1"/>
          </p:cNvSpPr>
          <p:nvPr>
            <p:ph type="sldNum" sz="quarter" idx="12"/>
          </p:nvPr>
        </p:nvSpPr>
        <p:spPr/>
        <p:txBody>
          <a:bodyPr/>
          <a:lstStyle/>
          <a:p>
            <a:fld id="{330EA680-D336-4FF7-8B7A-9848BB0A1C32}" type="slidenum">
              <a:rPr lang="en-US" smtClean="0"/>
              <a:t>19</a:t>
            </a:fld>
            <a:endParaRPr lang="en-US"/>
          </a:p>
        </p:txBody>
      </p:sp>
      <p:sp>
        <p:nvSpPr>
          <p:cNvPr id="4" name="Content Placeholder 3">
            <a:extLst>
              <a:ext uri="{FF2B5EF4-FFF2-40B4-BE49-F238E27FC236}">
                <a16:creationId xmlns:a16="http://schemas.microsoft.com/office/drawing/2014/main" id="{1CBDE5B8-6CEA-DC57-3B41-5813BC6BDA65}"/>
              </a:ext>
            </a:extLst>
          </p:cNvPr>
          <p:cNvSpPr>
            <a:spLocks noGrp="1"/>
          </p:cNvSpPr>
          <p:nvPr>
            <p:ph idx="1"/>
          </p:nvPr>
        </p:nvSpPr>
        <p:spPr>
          <a:xfrm>
            <a:off x="0" y="1206500"/>
            <a:ext cx="11353800" cy="5331716"/>
          </a:xfrm>
          <a:prstGeom prst="rect">
            <a:avLst/>
          </a:prstGeom>
        </p:spPr>
        <p:txBody>
          <a:bodyPr wrap="square">
            <a:spAutoFit/>
          </a:bodyPr>
          <a:lstStyle/>
          <a:p>
            <a:pPr marL="457200" indent="-457200">
              <a:buFont typeface="Arial" panose="020B0604020202020204" pitchFamily="34" charset="0"/>
              <a:buChar char="•"/>
            </a:pPr>
            <a:r>
              <a:rPr lang="en-US" sz="3200" b="1"/>
              <a:t>Require developer to expose resource usage </a:t>
            </a:r>
            <a:endParaRPr lang="en-US" sz="3200" b="1" i="1"/>
          </a:p>
          <a:p>
            <a:pPr marL="801688" lvl="1" indent="-344488">
              <a:buFont typeface="Courier New" panose="02070309020205020404" pitchFamily="49" charset="0"/>
              <a:buChar char="o"/>
            </a:pPr>
            <a:r>
              <a:rPr lang="en-US" sz="2800"/>
              <a:t>High </a:t>
            </a:r>
            <a:r>
              <a:rPr lang="en-US" sz="2800">
                <a:solidFill>
                  <a:schemeClr val="accent6">
                    <a:lumMod val="75000"/>
                  </a:schemeClr>
                </a:solidFill>
              </a:rPr>
              <a:t>overhead</a:t>
            </a:r>
            <a:r>
              <a:rPr lang="en-US" sz="2800"/>
              <a:t> to inform every changes of resource</a:t>
            </a:r>
          </a:p>
          <a:p>
            <a:pPr lvl="1"/>
            <a:endParaRPr lang="en-US" sz="2800"/>
          </a:p>
          <a:p>
            <a:pPr marL="457200" indent="-457200">
              <a:buFont typeface="Arial" panose="020B0604020202020204" pitchFamily="34" charset="0"/>
              <a:buChar char="•"/>
            </a:pPr>
            <a:r>
              <a:rPr lang="en-US" sz="3200" b="1"/>
              <a:t>Observation: </a:t>
            </a:r>
            <a:endParaRPr lang="en-US" sz="2400"/>
          </a:p>
          <a:p>
            <a:pPr marL="798513" lvl="1" indent="-341313">
              <a:buFont typeface="Courier New" panose="02070309020205020404" pitchFamily="49" charset="0"/>
              <a:buChar char="o"/>
            </a:pPr>
            <a:r>
              <a:rPr lang="en-US" sz="2800"/>
              <a:t>two key questions for performance interference: which activity is causing </a:t>
            </a:r>
            <a:r>
              <a:rPr lang="en-US" sz="2800" b="1">
                <a:solidFill>
                  <a:srgbClr val="C00000"/>
                </a:solidFill>
              </a:rPr>
              <a:t>delay</a:t>
            </a:r>
            <a:r>
              <a:rPr lang="en-US" sz="2800"/>
              <a:t> and which one is </a:t>
            </a:r>
            <a:r>
              <a:rPr lang="en-US" sz="2800" b="1">
                <a:solidFill>
                  <a:srgbClr val="C00000"/>
                </a:solidFill>
              </a:rPr>
              <a:t>deferred</a:t>
            </a:r>
            <a:endParaRPr lang="en-US" sz="2800"/>
          </a:p>
          <a:p>
            <a:pPr marL="798513" lvl="1" indent="-341313">
              <a:buFont typeface="Courier New" panose="02070309020205020404" pitchFamily="49" charset="0"/>
              <a:buChar char="o"/>
            </a:pPr>
            <a:r>
              <a:rPr lang="en-US" sz="2800"/>
              <a:t>But we also need to adapt different resource implementation, variable types and resource use pattern</a:t>
            </a:r>
          </a:p>
          <a:p>
            <a:pPr marL="457200" lvl="1" indent="0">
              <a:buNone/>
            </a:pPr>
            <a:endParaRPr lang="en-US" sz="2800"/>
          </a:p>
          <a:p>
            <a:pPr marL="457200" indent="-457200">
              <a:buFont typeface="Arial" panose="020B0604020202020204" pitchFamily="34" charset="0"/>
              <a:buChar char="•"/>
            </a:pPr>
            <a:r>
              <a:rPr lang="en-US" sz="3200" b="1"/>
              <a:t>Our approach:</a:t>
            </a:r>
          </a:p>
          <a:p>
            <a:pPr marL="801688" lvl="1" indent="-344488">
              <a:buFont typeface="Courier New" panose="02070309020205020404" pitchFamily="49" charset="0"/>
              <a:buChar char="o"/>
            </a:pPr>
            <a:r>
              <a:rPr lang="en-US" sz="2800"/>
              <a:t>A new concept, </a:t>
            </a:r>
            <a:r>
              <a:rPr lang="en-US" sz="2800" b="1" i="1"/>
              <a:t>state event</a:t>
            </a:r>
            <a:r>
              <a:rPr lang="en-US" sz="2800"/>
              <a:t>, to capture key application resources event</a:t>
            </a:r>
          </a:p>
        </p:txBody>
      </p:sp>
    </p:spTree>
    <p:extLst>
      <p:ext uri="{BB962C8B-B14F-4D97-AF65-F5344CB8AC3E}">
        <p14:creationId xmlns:p14="http://schemas.microsoft.com/office/powerpoint/2010/main" val="1148030141"/>
      </p:ext>
    </p:extLst>
  </p:cSld>
  <p:clrMapOvr>
    <a:masterClrMapping/>
  </p:clrMapOvr>
  <mc:AlternateContent xmlns:mc="http://schemas.openxmlformats.org/markup-compatibility/2006" xmlns:p14="http://schemas.microsoft.com/office/powerpoint/2010/main">
    <mc:Choice Requires="p14">
      <p:transition spd="slow" p14:dur="2000" advTm="49535"/>
    </mc:Choice>
    <mc:Fallback xmlns="">
      <p:transition spd="slow" advTm="495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5"/>
            <a:ext cx="12192000" cy="1188720"/>
          </a:xfrm>
        </p:spPr>
        <p:txBody>
          <a:bodyPr/>
          <a:lstStyle/>
          <a:p>
            <a:pPr algn="ctr"/>
            <a:r>
              <a:rPr lang="en-US" b="1">
                <a:latin typeface="helvetica" panose="020B0604020202020204" pitchFamily="34" charset="0"/>
                <a:cs typeface="helvetica" panose="020B0604020202020204" pitchFamily="34" charset="0"/>
              </a:rPr>
              <a:t>State Event</a:t>
            </a:r>
          </a:p>
        </p:txBody>
      </p:sp>
      <p:sp>
        <p:nvSpPr>
          <p:cNvPr id="5" name="灯片编号占位符 4">
            <a:extLst>
              <a:ext uri="{FF2B5EF4-FFF2-40B4-BE49-F238E27FC236}">
                <a16:creationId xmlns:a16="http://schemas.microsoft.com/office/drawing/2014/main" id="{5A593367-7DA8-B9FF-7EF8-A0AE5ECD1D8E}"/>
              </a:ext>
            </a:extLst>
          </p:cNvPr>
          <p:cNvSpPr>
            <a:spLocks noGrp="1"/>
          </p:cNvSpPr>
          <p:nvPr>
            <p:ph type="sldNum" sz="quarter" idx="12"/>
          </p:nvPr>
        </p:nvSpPr>
        <p:spPr/>
        <p:txBody>
          <a:bodyPr/>
          <a:lstStyle/>
          <a:p>
            <a:fld id="{330EA680-D336-4FF7-8B7A-9848BB0A1C32}" type="slidenum">
              <a:rPr lang="en-US" smtClean="0"/>
              <a:t>20</a:t>
            </a:fld>
            <a:endParaRPr lang="en-US"/>
          </a:p>
        </p:txBody>
      </p:sp>
      <p:graphicFrame>
        <p:nvGraphicFramePr>
          <p:cNvPr id="3" name="Table 2">
            <a:extLst>
              <a:ext uri="{FF2B5EF4-FFF2-40B4-BE49-F238E27FC236}">
                <a16:creationId xmlns:a16="http://schemas.microsoft.com/office/drawing/2014/main" id="{C4EC3410-4125-841F-AEA2-92C2E6C1F8A9}"/>
              </a:ext>
            </a:extLst>
          </p:cNvPr>
          <p:cNvGraphicFramePr>
            <a:graphicFrameLocks noGrp="1"/>
          </p:cNvGraphicFramePr>
          <p:nvPr>
            <p:extLst>
              <p:ext uri="{D42A27DB-BD31-4B8C-83A1-F6EECF244321}">
                <p14:modId xmlns:p14="http://schemas.microsoft.com/office/powerpoint/2010/main" val="3330881128"/>
              </p:ext>
            </p:extLst>
          </p:nvPr>
        </p:nvGraphicFramePr>
        <p:xfrm>
          <a:off x="1448584" y="1206975"/>
          <a:ext cx="9657565" cy="3657600"/>
        </p:xfrm>
        <a:graphic>
          <a:graphicData uri="http://schemas.openxmlformats.org/drawingml/2006/table">
            <a:tbl>
              <a:tblPr firstRow="1" bandRow="1">
                <a:tableStyleId>{5C22544A-7EE6-4342-B048-85BDC9FD1C3A}</a:tableStyleId>
              </a:tblPr>
              <a:tblGrid>
                <a:gridCol w="1891600">
                  <a:extLst>
                    <a:ext uri="{9D8B030D-6E8A-4147-A177-3AD203B41FA5}">
                      <a16:colId xmlns:a16="http://schemas.microsoft.com/office/drawing/2014/main" val="3994544737"/>
                    </a:ext>
                  </a:extLst>
                </a:gridCol>
                <a:gridCol w="7765965">
                  <a:extLst>
                    <a:ext uri="{9D8B030D-6E8A-4147-A177-3AD203B41FA5}">
                      <a16:colId xmlns:a16="http://schemas.microsoft.com/office/drawing/2014/main" val="4087716715"/>
                    </a:ext>
                  </a:extLst>
                </a:gridCol>
              </a:tblGrid>
              <a:tr h="914400">
                <a:tc>
                  <a:txBody>
                    <a:bodyPr/>
                    <a:lstStyle/>
                    <a:p>
                      <a:pPr algn="ctr">
                        <a:lnSpc>
                          <a:spcPct val="200000"/>
                        </a:lnSpc>
                      </a:pPr>
                      <a:r>
                        <a:rPr lang="en-US" sz="2400">
                          <a:solidFill>
                            <a:schemeClr val="tx1"/>
                          </a:solidFill>
                          <a:latin typeface="Consolas" panose="020B0609020204030204" pitchFamily="49" charset="0"/>
                        </a:rPr>
                        <a:t>PREPARE</a:t>
                      </a:r>
                      <a:endParaRPr lang="en-US" sz="1400">
                        <a:solidFill>
                          <a:schemeClr val="tx1"/>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lnSpc>
                          <a:spcPct val="200000"/>
                        </a:lnSpc>
                        <a:buFont typeface="+mj-lt"/>
                        <a:buNone/>
                      </a:pPr>
                      <a:r>
                        <a:rPr lang="en-US" sz="2400" b="1" kern="1200">
                          <a:solidFill>
                            <a:schemeClr val="tx1"/>
                          </a:solidFill>
                          <a:latin typeface="+mn-lt"/>
                          <a:ea typeface="+mn-ea"/>
                          <a:cs typeface="+mn-cs"/>
                        </a:rPr>
                        <a:t>A </a:t>
                      </a:r>
                      <a:r>
                        <a:rPr lang="en-US" sz="2400" b="1" kern="1200" err="1">
                          <a:solidFill>
                            <a:schemeClr val="tx1"/>
                          </a:solidFill>
                          <a:latin typeface="+mn-lt"/>
                          <a:ea typeface="+mn-ea"/>
                          <a:cs typeface="+mn-cs"/>
                        </a:rPr>
                        <a:t>pBox</a:t>
                      </a:r>
                      <a:r>
                        <a:rPr lang="en-US" sz="2400" b="1" kern="1200">
                          <a:solidFill>
                            <a:schemeClr val="tx1"/>
                          </a:solidFill>
                          <a:latin typeface="+mn-lt"/>
                          <a:ea typeface="+mn-ea"/>
                          <a:cs typeface="+mn-cs"/>
                        </a:rPr>
                        <a:t> is </a:t>
                      </a:r>
                      <a:r>
                        <a:rPr lang="en-US" sz="2400" b="1" kern="1200" err="1">
                          <a:solidFill>
                            <a:srgbClr val="C00000"/>
                          </a:solidFill>
                          <a:latin typeface="+mn-lt"/>
                          <a:ea typeface="+mn-ea"/>
                          <a:cs typeface="+mn-cs"/>
                        </a:rPr>
                        <a:t>derferred</a:t>
                      </a:r>
                      <a:r>
                        <a:rPr lang="en-US" sz="2400" b="1" kern="1200">
                          <a:solidFill>
                            <a:schemeClr val="tx1"/>
                          </a:solidFill>
                          <a:latin typeface="+mn-lt"/>
                          <a:ea typeface="+mn-ea"/>
                          <a:cs typeface="+mn-cs"/>
                        </a:rPr>
                        <a:t> by an application resource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7936213"/>
                  </a:ext>
                </a:extLst>
              </a:tr>
              <a:tr h="914400">
                <a:tc>
                  <a:txBody>
                    <a:bodyPr/>
                    <a:lstStyle/>
                    <a:p>
                      <a:pPr algn="ctr">
                        <a:lnSpc>
                          <a:spcPct val="200000"/>
                        </a:lnSpc>
                      </a:pPr>
                      <a:r>
                        <a:rPr lang="en-US" sz="2400" b="1" kern="1200">
                          <a:solidFill>
                            <a:schemeClr val="tx1"/>
                          </a:solidFill>
                          <a:latin typeface="Consolas" panose="020B0609020204030204" pitchFamily="49" charset="0"/>
                          <a:ea typeface="+mn-ea"/>
                          <a:cs typeface="+mn-cs"/>
                        </a:rPr>
                        <a:t>ENTER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sz="2400" b="1" kern="1200">
                          <a:solidFill>
                            <a:schemeClr val="tx1"/>
                          </a:solidFill>
                          <a:latin typeface="+mn-lt"/>
                          <a:ea typeface="+mn-ea"/>
                          <a:cs typeface="+mn-cs"/>
                        </a:rPr>
                        <a:t>A </a:t>
                      </a:r>
                      <a:r>
                        <a:rPr lang="en-US" sz="2400" b="1" kern="1200" err="1">
                          <a:solidFill>
                            <a:schemeClr val="tx1"/>
                          </a:solidFill>
                          <a:latin typeface="+mn-lt"/>
                          <a:ea typeface="+mn-ea"/>
                          <a:cs typeface="+mn-cs"/>
                        </a:rPr>
                        <a:t>pBox</a:t>
                      </a:r>
                      <a:r>
                        <a:rPr lang="en-US" sz="2400" b="1" kern="1200">
                          <a:solidFill>
                            <a:schemeClr val="tx1"/>
                          </a:solidFill>
                          <a:latin typeface="+mn-lt"/>
                          <a:ea typeface="+mn-ea"/>
                          <a:cs typeface="+mn-cs"/>
                        </a:rPr>
                        <a:t> is </a:t>
                      </a:r>
                      <a:r>
                        <a:rPr lang="en-US" sz="2400" b="1" kern="1200">
                          <a:solidFill>
                            <a:srgbClr val="C00000"/>
                          </a:solidFill>
                          <a:latin typeface="+mn-lt"/>
                          <a:ea typeface="+mn-ea"/>
                          <a:cs typeface="+mn-cs"/>
                        </a:rPr>
                        <a:t>no longer </a:t>
                      </a:r>
                      <a:r>
                        <a:rPr lang="en-US" sz="2400" b="1" kern="1200" err="1">
                          <a:solidFill>
                            <a:schemeClr val="tx1"/>
                          </a:solidFill>
                          <a:latin typeface="+mn-lt"/>
                          <a:ea typeface="+mn-ea"/>
                          <a:cs typeface="+mn-cs"/>
                        </a:rPr>
                        <a:t>derferred</a:t>
                      </a:r>
                      <a:r>
                        <a:rPr lang="en-US" sz="2400" b="1" kern="1200">
                          <a:solidFill>
                            <a:schemeClr val="tx1"/>
                          </a:solidFill>
                          <a:latin typeface="+mn-lt"/>
                          <a:ea typeface="+mn-ea"/>
                          <a:cs typeface="+mn-cs"/>
                        </a:rPr>
                        <a:t> by an application resource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6535896"/>
                  </a:ext>
                </a:extLst>
              </a:tr>
              <a:tr h="914400">
                <a:tc>
                  <a:txBody>
                    <a:bodyPr/>
                    <a:lstStyle/>
                    <a:p>
                      <a:pPr algn="ctr">
                        <a:lnSpc>
                          <a:spcPct val="200000"/>
                        </a:lnSpc>
                      </a:pPr>
                      <a:r>
                        <a:rPr lang="en-US" sz="2400" b="1" kern="1200">
                          <a:solidFill>
                            <a:schemeClr val="tx1"/>
                          </a:solidFill>
                          <a:latin typeface="Consolas" panose="020B0609020204030204" pitchFamily="49" charset="0"/>
                          <a:ea typeface="+mn-ea"/>
                          <a:cs typeface="+mn-cs"/>
                        </a:rPr>
                        <a:t>HOLD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sz="2400" b="1" kern="1200">
                          <a:solidFill>
                            <a:schemeClr val="tx1"/>
                          </a:solidFill>
                          <a:latin typeface="+mn-lt"/>
                          <a:ea typeface="+mn-ea"/>
                          <a:cs typeface="+mn-cs"/>
                        </a:rPr>
                        <a:t>A </a:t>
                      </a:r>
                      <a:r>
                        <a:rPr lang="en-US" sz="2400" b="1" kern="1200" err="1">
                          <a:solidFill>
                            <a:schemeClr val="tx1"/>
                          </a:solidFill>
                          <a:latin typeface="+mn-lt"/>
                          <a:ea typeface="+mn-ea"/>
                          <a:cs typeface="+mn-cs"/>
                        </a:rPr>
                        <a:t>pBox</a:t>
                      </a:r>
                      <a:r>
                        <a:rPr lang="en-US" sz="2400" b="1" kern="1200">
                          <a:solidFill>
                            <a:schemeClr val="tx1"/>
                          </a:solidFill>
                          <a:latin typeface="+mn-lt"/>
                          <a:ea typeface="+mn-ea"/>
                          <a:cs typeface="+mn-cs"/>
                        </a:rPr>
                        <a:t> is </a:t>
                      </a:r>
                      <a:r>
                        <a:rPr lang="en-US" sz="2400" b="1" kern="1200">
                          <a:solidFill>
                            <a:srgbClr val="C00000"/>
                          </a:solidFill>
                          <a:latin typeface="+mn-lt"/>
                          <a:ea typeface="+mn-ea"/>
                          <a:cs typeface="+mn-cs"/>
                        </a:rPr>
                        <a:t>holding</a:t>
                      </a:r>
                      <a:r>
                        <a:rPr lang="en-US" sz="2400" b="1" kern="1200">
                          <a:solidFill>
                            <a:schemeClr val="tx1"/>
                          </a:solidFill>
                          <a:latin typeface="+mn-lt"/>
                          <a:ea typeface="+mn-ea"/>
                          <a:cs typeface="+mn-cs"/>
                        </a:rPr>
                        <a:t> an application resource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9580103"/>
                  </a:ext>
                </a:extLst>
              </a:tr>
              <a:tr h="914400">
                <a:tc>
                  <a:txBody>
                    <a:bodyPr/>
                    <a:lstStyle/>
                    <a:p>
                      <a:pPr algn="ctr">
                        <a:lnSpc>
                          <a:spcPct val="200000"/>
                        </a:lnSpc>
                      </a:pPr>
                      <a:r>
                        <a:rPr lang="en-US" sz="2400" b="1" kern="1200">
                          <a:solidFill>
                            <a:schemeClr val="tx1"/>
                          </a:solidFill>
                          <a:latin typeface="Consolas" panose="020B0609020204030204" pitchFamily="49" charset="0"/>
                          <a:ea typeface="+mn-ea"/>
                          <a:cs typeface="+mn-cs"/>
                        </a:rPr>
                        <a:t>UNHOLD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sz="2400" b="1" kern="1200">
                          <a:solidFill>
                            <a:schemeClr val="tx1"/>
                          </a:solidFill>
                          <a:latin typeface="+mn-lt"/>
                          <a:ea typeface="+mn-ea"/>
                          <a:cs typeface="+mn-cs"/>
                        </a:rPr>
                        <a:t>A </a:t>
                      </a:r>
                      <a:r>
                        <a:rPr lang="en-US" sz="2400" b="1" kern="1200" err="1">
                          <a:solidFill>
                            <a:schemeClr val="tx1"/>
                          </a:solidFill>
                          <a:latin typeface="+mn-lt"/>
                          <a:ea typeface="+mn-ea"/>
                          <a:cs typeface="+mn-cs"/>
                        </a:rPr>
                        <a:t>pBox</a:t>
                      </a:r>
                      <a:r>
                        <a:rPr lang="en-US" sz="2400" b="1" kern="1200">
                          <a:solidFill>
                            <a:schemeClr val="tx1"/>
                          </a:solidFill>
                          <a:latin typeface="+mn-lt"/>
                          <a:ea typeface="+mn-ea"/>
                          <a:cs typeface="+mn-cs"/>
                        </a:rPr>
                        <a:t> </a:t>
                      </a:r>
                      <a:r>
                        <a:rPr lang="en-US" sz="2400" b="1" kern="1200">
                          <a:solidFill>
                            <a:srgbClr val="C00000"/>
                          </a:solidFill>
                          <a:latin typeface="+mn-lt"/>
                          <a:ea typeface="+mn-ea"/>
                          <a:cs typeface="+mn-cs"/>
                        </a:rPr>
                        <a:t>releases</a:t>
                      </a:r>
                      <a:r>
                        <a:rPr lang="en-US" sz="2400" b="1" kern="1200">
                          <a:solidFill>
                            <a:schemeClr val="tx1"/>
                          </a:solidFill>
                          <a:latin typeface="+mn-lt"/>
                          <a:ea typeface="+mn-ea"/>
                          <a:cs typeface="+mn-cs"/>
                        </a:rPr>
                        <a:t> an application resource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5841774"/>
                  </a:ext>
                </a:extLst>
              </a:tr>
            </a:tbl>
          </a:graphicData>
        </a:graphic>
      </p:graphicFrame>
      <p:sp>
        <p:nvSpPr>
          <p:cNvPr id="4" name="TextBox 3">
            <a:extLst>
              <a:ext uri="{FF2B5EF4-FFF2-40B4-BE49-F238E27FC236}">
                <a16:creationId xmlns:a16="http://schemas.microsoft.com/office/drawing/2014/main" id="{6D40011F-A304-20C4-876B-C9C9EDB7BE75}"/>
              </a:ext>
            </a:extLst>
          </p:cNvPr>
          <p:cNvSpPr txBox="1"/>
          <p:nvPr/>
        </p:nvSpPr>
        <p:spPr>
          <a:xfrm>
            <a:off x="1696630" y="5420192"/>
            <a:ext cx="9303371" cy="461665"/>
          </a:xfrm>
          <a:prstGeom prst="rect">
            <a:avLst/>
          </a:prstGeom>
          <a:noFill/>
        </p:spPr>
        <p:txBody>
          <a:bodyPr wrap="square" rtlCol="0">
            <a:spAutoFit/>
          </a:bodyPr>
          <a:lstStyle/>
          <a:p>
            <a:r>
              <a:rPr lang="en-US" sz="2400" b="1"/>
              <a:t>API</a:t>
            </a:r>
            <a:r>
              <a:rPr lang="en-US" sz="2400" b="1">
                <a:latin typeface="Consolas" panose="020B0609020204030204" pitchFamily="49" charset="0"/>
              </a:rPr>
              <a:t>: </a:t>
            </a:r>
            <a:r>
              <a:rPr lang="de-DE" sz="2400">
                <a:solidFill>
                  <a:srgbClr val="517CA8"/>
                </a:solidFill>
                <a:latin typeface="Consolas" panose="020B0609020204030204" pitchFamily="49" charset="0"/>
              </a:rPr>
              <a:t>int</a:t>
            </a:r>
            <a:r>
              <a:rPr lang="de-DE" sz="2400">
                <a:latin typeface="Consolas" panose="020B0609020204030204" pitchFamily="49" charset="0"/>
              </a:rPr>
              <a:t> update_pbox(</a:t>
            </a:r>
            <a:r>
              <a:rPr lang="de-DE" sz="2400">
                <a:solidFill>
                  <a:srgbClr val="517CA8"/>
                </a:solidFill>
                <a:latin typeface="Consolas" panose="020B0609020204030204" pitchFamily="49" charset="0"/>
              </a:rPr>
              <a:t>size_t</a:t>
            </a:r>
            <a:r>
              <a:rPr lang="de-DE" sz="2400">
                <a:latin typeface="Consolas" panose="020B0609020204030204" pitchFamily="49" charset="0"/>
              </a:rPr>
              <a:t> key, </a:t>
            </a:r>
            <a:r>
              <a:rPr lang="de-DE" sz="2400">
                <a:solidFill>
                  <a:srgbClr val="517CA8"/>
                </a:solidFill>
                <a:latin typeface="Consolas" panose="020B0609020204030204" pitchFamily="49" charset="0"/>
              </a:rPr>
              <a:t>event_type</a:t>
            </a:r>
            <a:r>
              <a:rPr lang="de-DE" sz="2400">
                <a:latin typeface="Consolas" panose="020B0609020204030204" pitchFamily="49" charset="0"/>
              </a:rPr>
              <a:t> event)</a:t>
            </a:r>
          </a:p>
        </p:txBody>
      </p:sp>
    </p:spTree>
    <p:extLst>
      <p:ext uri="{BB962C8B-B14F-4D97-AF65-F5344CB8AC3E}">
        <p14:creationId xmlns:p14="http://schemas.microsoft.com/office/powerpoint/2010/main" val="2941570167"/>
      </p:ext>
    </p:extLst>
  </p:cSld>
  <p:clrMapOvr>
    <a:masterClrMapping/>
  </p:clrMapOvr>
  <mc:AlternateContent xmlns:mc="http://schemas.openxmlformats.org/markup-compatibility/2006" xmlns:p14="http://schemas.microsoft.com/office/powerpoint/2010/main">
    <mc:Choice Requires="p14">
      <p:transition spd="slow" p14:dur="2000" advTm="27309"/>
    </mc:Choice>
    <mc:Fallback xmlns="">
      <p:transition spd="slow" advTm="2730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4207"/>
            <a:ext cx="12192000" cy="1188720"/>
          </a:xfrm>
        </p:spPr>
        <p:txBody>
          <a:bodyPr/>
          <a:lstStyle/>
          <a:p>
            <a:pPr algn="ctr"/>
            <a:r>
              <a:rPr lang="en-US" b="1">
                <a:latin typeface="helvetica" panose="020B0604020202020204" pitchFamily="34" charset="0"/>
                <a:cs typeface="helvetica" panose="020B0604020202020204" pitchFamily="34" charset="0"/>
              </a:rPr>
              <a:t>Tracing Deferring Time by State Event</a:t>
            </a:r>
          </a:p>
        </p:txBody>
      </p:sp>
      <p:sp>
        <p:nvSpPr>
          <p:cNvPr id="5" name="灯片编号占位符 4">
            <a:extLst>
              <a:ext uri="{FF2B5EF4-FFF2-40B4-BE49-F238E27FC236}">
                <a16:creationId xmlns:a16="http://schemas.microsoft.com/office/drawing/2014/main" id="{5A593367-7DA8-B9FF-7EF8-A0AE5ECD1D8E}"/>
              </a:ext>
            </a:extLst>
          </p:cNvPr>
          <p:cNvSpPr>
            <a:spLocks noGrp="1"/>
          </p:cNvSpPr>
          <p:nvPr>
            <p:ph type="sldNum" sz="quarter" idx="12"/>
          </p:nvPr>
        </p:nvSpPr>
        <p:spPr/>
        <p:txBody>
          <a:bodyPr/>
          <a:lstStyle/>
          <a:p>
            <a:fld id="{330EA680-D336-4FF7-8B7A-9848BB0A1C32}" type="slidenum">
              <a:rPr lang="en-US" smtClean="0"/>
              <a:t>21</a:t>
            </a:fld>
            <a:endParaRPr lang="en-US"/>
          </a:p>
        </p:txBody>
      </p:sp>
      <p:sp>
        <p:nvSpPr>
          <p:cNvPr id="4" name="任意多边形: 形状 54">
            <a:extLst>
              <a:ext uri="{FF2B5EF4-FFF2-40B4-BE49-F238E27FC236}">
                <a16:creationId xmlns:a16="http://schemas.microsoft.com/office/drawing/2014/main" id="{65D5BDA1-301D-9E8E-71E4-DA8B8DD301D0}"/>
              </a:ext>
            </a:extLst>
          </p:cNvPr>
          <p:cNvSpPr/>
          <p:nvPr/>
        </p:nvSpPr>
        <p:spPr>
          <a:xfrm rot="16200000">
            <a:off x="722080" y="3742799"/>
            <a:ext cx="4686219" cy="633277"/>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5">
            <a:extLst>
              <a:ext uri="{FF2B5EF4-FFF2-40B4-BE49-F238E27FC236}">
                <a16:creationId xmlns:a16="http://schemas.microsoft.com/office/drawing/2014/main" id="{5C827CEB-7B9F-2D9F-1099-A1DC5F7FCABB}"/>
              </a:ext>
            </a:extLst>
          </p:cNvPr>
          <p:cNvSpPr/>
          <p:nvPr/>
        </p:nvSpPr>
        <p:spPr>
          <a:xfrm>
            <a:off x="2320086" y="1429482"/>
            <a:ext cx="1645920" cy="5144841"/>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F8EA3B81-8B3F-9604-13D2-26B6008864C1}"/>
              </a:ext>
            </a:extLst>
          </p:cNvPr>
          <p:cNvSpPr txBox="1"/>
          <p:nvPr/>
        </p:nvSpPr>
        <p:spPr>
          <a:xfrm>
            <a:off x="2495565" y="925182"/>
            <a:ext cx="1240404" cy="369332"/>
          </a:xfrm>
          <a:prstGeom prst="rect">
            <a:avLst/>
          </a:prstGeom>
          <a:noFill/>
        </p:spPr>
        <p:txBody>
          <a:bodyPr wrap="none" rtlCol="0">
            <a:spAutoFit/>
          </a:bodyPr>
          <a:lstStyle/>
          <a:p>
            <a:r>
              <a:rPr lang="en-US">
                <a:solidFill>
                  <a:srgbClr val="7030A0"/>
                </a:solidFill>
              </a:rPr>
              <a:t>noisy </a:t>
            </a:r>
            <a:r>
              <a:rPr lang="en-US" err="1">
                <a:solidFill>
                  <a:srgbClr val="7030A0"/>
                </a:solidFill>
              </a:rPr>
              <a:t>pBox</a:t>
            </a:r>
            <a:r>
              <a:rPr lang="en-US">
                <a:solidFill>
                  <a:srgbClr val="7030A0"/>
                </a:solidFill>
              </a:rPr>
              <a:t> </a:t>
            </a:r>
          </a:p>
        </p:txBody>
      </p:sp>
      <p:sp>
        <p:nvSpPr>
          <p:cNvPr id="9" name="TextBox 8">
            <a:extLst>
              <a:ext uri="{FF2B5EF4-FFF2-40B4-BE49-F238E27FC236}">
                <a16:creationId xmlns:a16="http://schemas.microsoft.com/office/drawing/2014/main" id="{957C7297-130F-7DE7-6482-A5116D54274A}"/>
              </a:ext>
            </a:extLst>
          </p:cNvPr>
          <p:cNvSpPr txBox="1"/>
          <p:nvPr/>
        </p:nvSpPr>
        <p:spPr>
          <a:xfrm>
            <a:off x="7354428" y="920503"/>
            <a:ext cx="1270220" cy="369332"/>
          </a:xfrm>
          <a:prstGeom prst="rect">
            <a:avLst/>
          </a:prstGeom>
          <a:noFill/>
        </p:spPr>
        <p:txBody>
          <a:bodyPr wrap="none" rtlCol="0">
            <a:spAutoFit/>
          </a:bodyPr>
          <a:lstStyle/>
          <a:p>
            <a:r>
              <a:rPr lang="en-US">
                <a:solidFill>
                  <a:srgbClr val="C55A11"/>
                </a:solidFill>
              </a:rPr>
              <a:t>victim </a:t>
            </a:r>
            <a:r>
              <a:rPr lang="en-US" err="1">
                <a:solidFill>
                  <a:srgbClr val="C55A11"/>
                </a:solidFill>
              </a:rPr>
              <a:t>pBox</a:t>
            </a:r>
            <a:endParaRPr lang="en-US">
              <a:solidFill>
                <a:srgbClr val="C55A11"/>
              </a:solidFill>
            </a:endParaRPr>
          </a:p>
        </p:txBody>
      </p:sp>
      <p:sp>
        <p:nvSpPr>
          <p:cNvPr id="8" name="Rectangle 7">
            <a:extLst>
              <a:ext uri="{FF2B5EF4-FFF2-40B4-BE49-F238E27FC236}">
                <a16:creationId xmlns:a16="http://schemas.microsoft.com/office/drawing/2014/main" id="{A30B6FB7-D384-03DB-0A3C-2AD2C865444B}"/>
              </a:ext>
            </a:extLst>
          </p:cNvPr>
          <p:cNvSpPr/>
          <p:nvPr/>
        </p:nvSpPr>
        <p:spPr>
          <a:xfrm>
            <a:off x="7166578" y="1429481"/>
            <a:ext cx="1645920" cy="5144841"/>
          </a:xfrm>
          <a:prstGeom prst="rect">
            <a:avLst/>
          </a:prstGeom>
          <a:noFill/>
          <a:ln w="38100">
            <a:solidFill>
              <a:srgbClr val="C55A11"/>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rgbClr val="FF9900"/>
              </a:solidFill>
            </a:endParaRPr>
          </a:p>
        </p:txBody>
      </p:sp>
      <p:sp>
        <p:nvSpPr>
          <p:cNvPr id="10" name="任意多边形: 形状 54">
            <a:extLst>
              <a:ext uri="{FF2B5EF4-FFF2-40B4-BE49-F238E27FC236}">
                <a16:creationId xmlns:a16="http://schemas.microsoft.com/office/drawing/2014/main" id="{52D5FCED-49BC-F093-A475-A25B5388676E}"/>
              </a:ext>
            </a:extLst>
          </p:cNvPr>
          <p:cNvSpPr/>
          <p:nvPr/>
        </p:nvSpPr>
        <p:spPr>
          <a:xfrm rot="16200000">
            <a:off x="7487225" y="2090779"/>
            <a:ext cx="1004626" cy="255722"/>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2">
            <a:extLst>
              <a:ext uri="{FF2B5EF4-FFF2-40B4-BE49-F238E27FC236}">
                <a16:creationId xmlns:a16="http://schemas.microsoft.com/office/drawing/2014/main" id="{FCDBD043-62B4-1D1E-8B6E-FB118D54A2DE}"/>
              </a:ext>
            </a:extLst>
          </p:cNvPr>
          <p:cNvSpPr txBox="1"/>
          <p:nvPr/>
        </p:nvSpPr>
        <p:spPr>
          <a:xfrm>
            <a:off x="4872676" y="2817389"/>
            <a:ext cx="1565790" cy="584775"/>
          </a:xfrm>
          <a:prstGeom prst="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altLang="zh-CN" sz="1600" b="1">
                <a:latin typeface="helvetica" panose="020B0604020202020204" pitchFamily="34" charset="0"/>
                <a:cs typeface="helvetica" panose="020B0604020202020204" pitchFamily="34" charset="0"/>
              </a:rPr>
              <a:t>Shared </a:t>
            </a:r>
          </a:p>
          <a:p>
            <a:pPr algn="ctr"/>
            <a:r>
              <a:rPr lang="en-US" altLang="zh-CN" sz="1600" b="1">
                <a:latin typeface="helvetica" panose="020B0604020202020204" pitchFamily="34" charset="0"/>
                <a:cs typeface="helvetica" panose="020B0604020202020204" pitchFamily="34" charset="0"/>
              </a:rPr>
              <a:t>Resource</a:t>
            </a:r>
            <a:endParaRPr lang="zh-CN" altLang="en-US" sz="1600" b="1">
              <a:latin typeface="helvetica" panose="020B0604020202020204" pitchFamily="34" charset="0"/>
              <a:cs typeface="helvetica" panose="020B0604020202020204" pitchFamily="34" charset="0"/>
            </a:endParaRPr>
          </a:p>
        </p:txBody>
      </p:sp>
      <p:sp>
        <p:nvSpPr>
          <p:cNvPr id="18" name="Oval 17">
            <a:extLst>
              <a:ext uri="{FF2B5EF4-FFF2-40B4-BE49-F238E27FC236}">
                <a16:creationId xmlns:a16="http://schemas.microsoft.com/office/drawing/2014/main" id="{FFA487FE-7ACA-5D81-A28C-341DA410508D}"/>
              </a:ext>
            </a:extLst>
          </p:cNvPr>
          <p:cNvSpPr/>
          <p:nvPr/>
        </p:nvSpPr>
        <p:spPr>
          <a:xfrm>
            <a:off x="3213925" y="1902470"/>
            <a:ext cx="182880" cy="182880"/>
          </a:xfrm>
          <a:prstGeom prst="ellipse">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0122D53-56BC-E5C9-C665-DB0B8C2A450E}"/>
              </a:ext>
            </a:extLst>
          </p:cNvPr>
          <p:cNvSpPr/>
          <p:nvPr/>
        </p:nvSpPr>
        <p:spPr>
          <a:xfrm>
            <a:off x="3213925" y="2218640"/>
            <a:ext cx="182880" cy="182880"/>
          </a:xfrm>
          <a:prstGeom prst="ellipse">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DFAF11E-1E5E-3B2F-BEAA-5EDC86D248C0}"/>
              </a:ext>
            </a:extLst>
          </p:cNvPr>
          <p:cNvSpPr/>
          <p:nvPr/>
        </p:nvSpPr>
        <p:spPr>
          <a:xfrm>
            <a:off x="2882309" y="2538073"/>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F80E9F5-C6FB-2890-A598-DAF00A0886AA}"/>
              </a:ext>
            </a:extLst>
          </p:cNvPr>
          <p:cNvSpPr/>
          <p:nvPr/>
        </p:nvSpPr>
        <p:spPr>
          <a:xfrm>
            <a:off x="3072678" y="3895287"/>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56DCC7E-5E86-ADDB-5926-FBB395202B6C}"/>
              </a:ext>
            </a:extLst>
          </p:cNvPr>
          <p:cNvSpPr/>
          <p:nvPr/>
        </p:nvSpPr>
        <p:spPr>
          <a:xfrm>
            <a:off x="7903542" y="1792585"/>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ABA8F761-8210-83F0-5E38-ECDEBA594B16}"/>
              </a:ext>
            </a:extLst>
          </p:cNvPr>
          <p:cNvCxnSpPr>
            <a:cxnSpLocks/>
            <a:endCxn id="36" idx="2"/>
          </p:cNvCxnSpPr>
          <p:nvPr/>
        </p:nvCxnSpPr>
        <p:spPr>
          <a:xfrm flipV="1">
            <a:off x="6504495" y="1884025"/>
            <a:ext cx="1399047" cy="933364"/>
          </a:xfrm>
          <a:prstGeom prst="straightConnector1">
            <a:avLst/>
          </a:prstGeom>
          <a:ln w="571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Arrow: Right 40">
            <a:extLst>
              <a:ext uri="{FF2B5EF4-FFF2-40B4-BE49-F238E27FC236}">
                <a16:creationId xmlns:a16="http://schemas.microsoft.com/office/drawing/2014/main" id="{E08A14BF-7D52-F050-7B90-024ACEB242B4}"/>
              </a:ext>
            </a:extLst>
          </p:cNvPr>
          <p:cNvSpPr/>
          <p:nvPr/>
        </p:nvSpPr>
        <p:spPr>
          <a:xfrm rot="11687584">
            <a:off x="3181490" y="2671166"/>
            <a:ext cx="1648639" cy="484632"/>
          </a:xfrm>
          <a:prstGeom prst="rightArrow">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nvGrpSpPr>
          <p:cNvPr id="47" name="Group 46">
            <a:extLst>
              <a:ext uri="{FF2B5EF4-FFF2-40B4-BE49-F238E27FC236}">
                <a16:creationId xmlns:a16="http://schemas.microsoft.com/office/drawing/2014/main" id="{F361C944-D6E0-BBA1-501D-35D2C883225A}"/>
              </a:ext>
            </a:extLst>
          </p:cNvPr>
          <p:cNvGrpSpPr/>
          <p:nvPr/>
        </p:nvGrpSpPr>
        <p:grpSpPr>
          <a:xfrm>
            <a:off x="881008" y="1394070"/>
            <a:ext cx="274320" cy="5212080"/>
            <a:chOff x="320510" y="1583703"/>
            <a:chExt cx="274320" cy="4684889"/>
          </a:xfrm>
        </p:grpSpPr>
        <p:cxnSp>
          <p:nvCxnSpPr>
            <p:cNvPr id="43" name="Straight Connector 42">
              <a:extLst>
                <a:ext uri="{FF2B5EF4-FFF2-40B4-BE49-F238E27FC236}">
                  <a16:creationId xmlns:a16="http://schemas.microsoft.com/office/drawing/2014/main" id="{83D5B946-B8EC-92F9-5EA8-2543B2129670}"/>
                </a:ext>
              </a:extLst>
            </p:cNvPr>
            <p:cNvCxnSpPr/>
            <p:nvPr/>
          </p:nvCxnSpPr>
          <p:spPr>
            <a:xfrm>
              <a:off x="320510" y="1583703"/>
              <a:ext cx="27432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CD814CF5-38BA-3CAD-D7DF-AD8CEBE61251}"/>
                </a:ext>
              </a:extLst>
            </p:cNvPr>
            <p:cNvCxnSpPr>
              <a:cxnSpLocks/>
            </p:cNvCxnSpPr>
            <p:nvPr/>
          </p:nvCxnSpPr>
          <p:spPr>
            <a:xfrm flipH="1">
              <a:off x="457670" y="1583703"/>
              <a:ext cx="0" cy="4684889"/>
            </a:xfrm>
            <a:prstGeom prst="line">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48" name="Group 47">
            <a:extLst>
              <a:ext uri="{FF2B5EF4-FFF2-40B4-BE49-F238E27FC236}">
                <a16:creationId xmlns:a16="http://schemas.microsoft.com/office/drawing/2014/main" id="{4DE61584-420D-3D72-5223-AADFC66B395D}"/>
              </a:ext>
            </a:extLst>
          </p:cNvPr>
          <p:cNvGrpSpPr/>
          <p:nvPr/>
        </p:nvGrpSpPr>
        <p:grpSpPr>
          <a:xfrm>
            <a:off x="10536059" y="1429480"/>
            <a:ext cx="274320" cy="5212080"/>
            <a:chOff x="320510" y="1583703"/>
            <a:chExt cx="274320" cy="4684889"/>
          </a:xfrm>
        </p:grpSpPr>
        <p:cxnSp>
          <p:nvCxnSpPr>
            <p:cNvPr id="49" name="Straight Connector 48">
              <a:extLst>
                <a:ext uri="{FF2B5EF4-FFF2-40B4-BE49-F238E27FC236}">
                  <a16:creationId xmlns:a16="http://schemas.microsoft.com/office/drawing/2014/main" id="{58A217A8-7BBB-6602-D1A3-C6A0E0A9D602}"/>
                </a:ext>
              </a:extLst>
            </p:cNvPr>
            <p:cNvCxnSpPr/>
            <p:nvPr/>
          </p:nvCxnSpPr>
          <p:spPr>
            <a:xfrm>
              <a:off x="320510" y="1583703"/>
              <a:ext cx="27432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C8980EC7-CA3B-C42E-D53D-FC230DF0C252}"/>
                </a:ext>
              </a:extLst>
            </p:cNvPr>
            <p:cNvCxnSpPr>
              <a:cxnSpLocks/>
            </p:cNvCxnSpPr>
            <p:nvPr/>
          </p:nvCxnSpPr>
          <p:spPr>
            <a:xfrm flipH="1">
              <a:off x="457670" y="1583703"/>
              <a:ext cx="0" cy="4684889"/>
            </a:xfrm>
            <a:prstGeom prst="line">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51" name="TextBox 50">
            <a:extLst>
              <a:ext uri="{FF2B5EF4-FFF2-40B4-BE49-F238E27FC236}">
                <a16:creationId xmlns:a16="http://schemas.microsoft.com/office/drawing/2014/main" id="{27764934-3136-5C86-E7A4-4282113FAE8C}"/>
              </a:ext>
            </a:extLst>
          </p:cNvPr>
          <p:cNvSpPr txBox="1"/>
          <p:nvPr/>
        </p:nvSpPr>
        <p:spPr>
          <a:xfrm>
            <a:off x="459464" y="970469"/>
            <a:ext cx="1391728" cy="369332"/>
          </a:xfrm>
          <a:prstGeom prst="rect">
            <a:avLst/>
          </a:prstGeom>
          <a:noFill/>
        </p:spPr>
        <p:txBody>
          <a:bodyPr wrap="none" rtlCol="0">
            <a:spAutoFit/>
          </a:bodyPr>
          <a:lstStyle/>
          <a:p>
            <a:r>
              <a:rPr lang="en-US"/>
              <a:t>Holding time</a:t>
            </a:r>
          </a:p>
        </p:txBody>
      </p:sp>
      <p:sp>
        <p:nvSpPr>
          <p:cNvPr id="52" name="TextBox 51">
            <a:extLst>
              <a:ext uri="{FF2B5EF4-FFF2-40B4-BE49-F238E27FC236}">
                <a16:creationId xmlns:a16="http://schemas.microsoft.com/office/drawing/2014/main" id="{8A020716-01CB-D599-9A8C-CCA508F6B025}"/>
              </a:ext>
            </a:extLst>
          </p:cNvPr>
          <p:cNvSpPr txBox="1"/>
          <p:nvPr/>
        </p:nvSpPr>
        <p:spPr>
          <a:xfrm>
            <a:off x="10081455" y="990065"/>
            <a:ext cx="1183529" cy="369332"/>
          </a:xfrm>
          <a:prstGeom prst="rect">
            <a:avLst/>
          </a:prstGeom>
          <a:noFill/>
        </p:spPr>
        <p:txBody>
          <a:bodyPr wrap="none" rtlCol="0">
            <a:spAutoFit/>
          </a:bodyPr>
          <a:lstStyle/>
          <a:p>
            <a:r>
              <a:rPr lang="en-US"/>
              <a:t>Defer time</a:t>
            </a:r>
          </a:p>
        </p:txBody>
      </p:sp>
      <p:cxnSp>
        <p:nvCxnSpPr>
          <p:cNvPr id="53" name="Straight Connector 52">
            <a:extLst>
              <a:ext uri="{FF2B5EF4-FFF2-40B4-BE49-F238E27FC236}">
                <a16:creationId xmlns:a16="http://schemas.microsoft.com/office/drawing/2014/main" id="{E6A4691C-87C3-6C8F-A46E-BFAFD0456D07}"/>
              </a:ext>
            </a:extLst>
          </p:cNvPr>
          <p:cNvCxnSpPr>
            <a:cxnSpLocks/>
          </p:cNvCxnSpPr>
          <p:nvPr/>
        </p:nvCxnSpPr>
        <p:spPr>
          <a:xfrm flipH="1">
            <a:off x="1018168" y="1394070"/>
            <a:ext cx="0" cy="914400"/>
          </a:xfrm>
          <a:prstGeom prst="line">
            <a:avLst/>
          </a:prstGeom>
          <a:ln w="57150">
            <a:solidFill>
              <a:schemeClr val="accent5">
                <a:lumMod val="60000"/>
                <a:lumOff val="4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CBCE6538-5A91-CA1A-313B-78E93B59DBAA}"/>
              </a:ext>
            </a:extLst>
          </p:cNvPr>
          <p:cNvCxnSpPr>
            <a:cxnSpLocks/>
          </p:cNvCxnSpPr>
          <p:nvPr/>
        </p:nvCxnSpPr>
        <p:spPr>
          <a:xfrm flipH="1">
            <a:off x="10673219" y="1429480"/>
            <a:ext cx="0" cy="1828800"/>
          </a:xfrm>
          <a:prstGeom prst="line">
            <a:avLst/>
          </a:prstGeom>
          <a:ln w="57150">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A999A11-9AC1-50C5-A375-71875645EA6E}"/>
              </a:ext>
            </a:extLst>
          </p:cNvPr>
          <p:cNvCxnSpPr>
            <a:cxnSpLocks/>
          </p:cNvCxnSpPr>
          <p:nvPr/>
        </p:nvCxnSpPr>
        <p:spPr>
          <a:xfrm flipH="1">
            <a:off x="1018168" y="2297221"/>
            <a:ext cx="0" cy="1828800"/>
          </a:xfrm>
          <a:prstGeom prst="line">
            <a:avLst/>
          </a:prstGeom>
          <a:ln w="57150">
            <a:solidFill>
              <a:schemeClr val="accent5">
                <a:lumMod val="60000"/>
                <a:lumOff val="4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6" name="Oval 55">
            <a:extLst>
              <a:ext uri="{FF2B5EF4-FFF2-40B4-BE49-F238E27FC236}">
                <a16:creationId xmlns:a16="http://schemas.microsoft.com/office/drawing/2014/main" id="{60C531EB-F76E-6229-BED5-88EDE7C13520}"/>
              </a:ext>
            </a:extLst>
          </p:cNvPr>
          <p:cNvSpPr/>
          <p:nvPr/>
        </p:nvSpPr>
        <p:spPr>
          <a:xfrm>
            <a:off x="7969512" y="2049408"/>
            <a:ext cx="182880" cy="182880"/>
          </a:xfrm>
          <a:prstGeom prst="ellipse">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任意多边形: 形状 54">
            <a:extLst>
              <a:ext uri="{FF2B5EF4-FFF2-40B4-BE49-F238E27FC236}">
                <a16:creationId xmlns:a16="http://schemas.microsoft.com/office/drawing/2014/main" id="{FD000E51-0538-E2F9-B0BB-986016B2F909}"/>
              </a:ext>
            </a:extLst>
          </p:cNvPr>
          <p:cNvSpPr/>
          <p:nvPr/>
        </p:nvSpPr>
        <p:spPr>
          <a:xfrm rot="16200000">
            <a:off x="7434641" y="3506874"/>
            <a:ext cx="1004626" cy="255722"/>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Oval 57">
            <a:extLst>
              <a:ext uri="{FF2B5EF4-FFF2-40B4-BE49-F238E27FC236}">
                <a16:creationId xmlns:a16="http://schemas.microsoft.com/office/drawing/2014/main" id="{E865E705-4C26-BB9B-40F3-B03D037386A0}"/>
              </a:ext>
            </a:extLst>
          </p:cNvPr>
          <p:cNvSpPr/>
          <p:nvPr/>
        </p:nvSpPr>
        <p:spPr>
          <a:xfrm>
            <a:off x="2790869" y="4204181"/>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52BBE7CC-1B15-834A-804F-4DA4D78D520D}"/>
              </a:ext>
            </a:extLst>
          </p:cNvPr>
          <p:cNvSpPr/>
          <p:nvPr/>
        </p:nvSpPr>
        <p:spPr>
          <a:xfrm>
            <a:off x="2897908" y="4673907"/>
            <a:ext cx="182880" cy="182880"/>
          </a:xfrm>
          <a:prstGeom prst="ellipse">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2862B35E-F7DE-E54A-1FC7-5BBAFDAE1B4D}"/>
              </a:ext>
            </a:extLst>
          </p:cNvPr>
          <p:cNvSpPr/>
          <p:nvPr/>
        </p:nvSpPr>
        <p:spPr>
          <a:xfrm>
            <a:off x="3114997" y="4856787"/>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573C8979-36E8-0527-8705-7EA6A2A8AC28}"/>
              </a:ext>
            </a:extLst>
          </p:cNvPr>
          <p:cNvSpPr/>
          <p:nvPr/>
        </p:nvSpPr>
        <p:spPr>
          <a:xfrm>
            <a:off x="2814390" y="5636303"/>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46F5B576-FF01-4E7B-AE10-DBD3454BB89E}"/>
              </a:ext>
            </a:extLst>
          </p:cNvPr>
          <p:cNvSpPr/>
          <p:nvPr/>
        </p:nvSpPr>
        <p:spPr>
          <a:xfrm>
            <a:off x="7903542" y="2306231"/>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AED05F46-7601-0644-FF6D-B6FE15B88A9B}"/>
              </a:ext>
            </a:extLst>
          </p:cNvPr>
          <p:cNvSpPr/>
          <p:nvPr/>
        </p:nvSpPr>
        <p:spPr>
          <a:xfrm>
            <a:off x="7812102" y="2595392"/>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F82A70F5-A786-7BF5-65DB-CDBDC2C85C10}"/>
              </a:ext>
            </a:extLst>
          </p:cNvPr>
          <p:cNvSpPr/>
          <p:nvPr/>
        </p:nvSpPr>
        <p:spPr>
          <a:xfrm>
            <a:off x="7914780" y="3096090"/>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C0877E62-A13C-9D06-CAA7-5429FDD48199}"/>
              </a:ext>
            </a:extLst>
          </p:cNvPr>
          <p:cNvSpPr/>
          <p:nvPr/>
        </p:nvSpPr>
        <p:spPr>
          <a:xfrm>
            <a:off x="7787553" y="3358239"/>
            <a:ext cx="182880" cy="182880"/>
          </a:xfrm>
          <a:prstGeom prst="ellipse">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F2884CE4-459E-958B-8607-2519B429F23B}"/>
              </a:ext>
            </a:extLst>
          </p:cNvPr>
          <p:cNvSpPr/>
          <p:nvPr/>
        </p:nvSpPr>
        <p:spPr>
          <a:xfrm>
            <a:off x="7829820" y="3587551"/>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5E5FED46-25F8-2729-B38D-44E20CD233E5}"/>
              </a:ext>
            </a:extLst>
          </p:cNvPr>
          <p:cNvSpPr/>
          <p:nvPr/>
        </p:nvSpPr>
        <p:spPr>
          <a:xfrm>
            <a:off x="7776248" y="3874210"/>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640B93DC-8AEC-B7C2-945F-271AB67A1A8D}"/>
              </a:ext>
            </a:extLst>
          </p:cNvPr>
          <p:cNvCxnSpPr>
            <a:cxnSpLocks/>
          </p:cNvCxnSpPr>
          <p:nvPr/>
        </p:nvCxnSpPr>
        <p:spPr>
          <a:xfrm flipH="1">
            <a:off x="10673219" y="3222648"/>
            <a:ext cx="0" cy="1828800"/>
          </a:xfrm>
          <a:prstGeom prst="line">
            <a:avLst/>
          </a:prstGeom>
          <a:ln w="57150">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F51AA6F0-F621-6ECB-1632-B6B74811AEFC}"/>
              </a:ext>
            </a:extLst>
          </p:cNvPr>
          <p:cNvCxnSpPr>
            <a:cxnSpLocks/>
          </p:cNvCxnSpPr>
          <p:nvPr/>
        </p:nvCxnSpPr>
        <p:spPr>
          <a:xfrm flipH="1">
            <a:off x="1018168" y="4099063"/>
            <a:ext cx="0" cy="1828800"/>
          </a:xfrm>
          <a:prstGeom prst="line">
            <a:avLst/>
          </a:prstGeom>
          <a:ln w="57150">
            <a:solidFill>
              <a:schemeClr val="accent5">
                <a:lumMod val="60000"/>
                <a:lumOff val="4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2" name="Right Brace 71">
            <a:extLst>
              <a:ext uri="{FF2B5EF4-FFF2-40B4-BE49-F238E27FC236}">
                <a16:creationId xmlns:a16="http://schemas.microsoft.com/office/drawing/2014/main" id="{88D5E40A-B39B-4D40-5027-D6617C22E988}"/>
              </a:ext>
            </a:extLst>
          </p:cNvPr>
          <p:cNvSpPr/>
          <p:nvPr/>
        </p:nvSpPr>
        <p:spPr>
          <a:xfrm>
            <a:off x="1303179" y="1454413"/>
            <a:ext cx="393997" cy="4433118"/>
          </a:xfrm>
          <a:prstGeom prst="rightBrace">
            <a:avLst>
              <a:gd name="adj1" fmla="val 32259"/>
              <a:gd name="adj2" fmla="val 4978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3" name="Right Brace 72">
            <a:extLst>
              <a:ext uri="{FF2B5EF4-FFF2-40B4-BE49-F238E27FC236}">
                <a16:creationId xmlns:a16="http://schemas.microsoft.com/office/drawing/2014/main" id="{2BDDDC23-1A47-52B1-ACA6-564DE411442D}"/>
              </a:ext>
            </a:extLst>
          </p:cNvPr>
          <p:cNvSpPr/>
          <p:nvPr/>
        </p:nvSpPr>
        <p:spPr>
          <a:xfrm flipH="1">
            <a:off x="10057601" y="1479207"/>
            <a:ext cx="393997" cy="3485794"/>
          </a:xfrm>
          <a:prstGeom prst="rightBrace">
            <a:avLst>
              <a:gd name="adj1" fmla="val 32259"/>
              <a:gd name="adj2" fmla="val 4978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nvGrpSpPr>
          <p:cNvPr id="74" name="Group 73">
            <a:extLst>
              <a:ext uri="{FF2B5EF4-FFF2-40B4-BE49-F238E27FC236}">
                <a16:creationId xmlns:a16="http://schemas.microsoft.com/office/drawing/2014/main" id="{757653FB-3545-3882-658E-31262F6EBF35}"/>
              </a:ext>
            </a:extLst>
          </p:cNvPr>
          <p:cNvGrpSpPr/>
          <p:nvPr/>
        </p:nvGrpSpPr>
        <p:grpSpPr>
          <a:xfrm>
            <a:off x="4645842" y="5394310"/>
            <a:ext cx="1936559" cy="1200329"/>
            <a:chOff x="3239168" y="5589627"/>
            <a:chExt cx="1936559" cy="1200329"/>
          </a:xfrm>
        </p:grpSpPr>
        <p:sp>
          <p:nvSpPr>
            <p:cNvPr id="75" name="TextBox 74">
              <a:extLst>
                <a:ext uri="{FF2B5EF4-FFF2-40B4-BE49-F238E27FC236}">
                  <a16:creationId xmlns:a16="http://schemas.microsoft.com/office/drawing/2014/main" id="{733D1C3E-62BB-1A6E-2A46-AB7763F9EC3A}"/>
                </a:ext>
              </a:extLst>
            </p:cNvPr>
            <p:cNvSpPr txBox="1"/>
            <p:nvPr/>
          </p:nvSpPr>
          <p:spPr>
            <a:xfrm>
              <a:off x="3239168" y="5589627"/>
              <a:ext cx="1936559" cy="1200329"/>
            </a:xfrm>
            <a:prstGeom prst="rect">
              <a:avLst/>
            </a:prstGeom>
            <a:noFill/>
            <a:ln w="19050">
              <a:solidFill>
                <a:schemeClr val="tx1"/>
              </a:solidFill>
            </a:ln>
          </p:spPr>
          <p:txBody>
            <a:bodyPr wrap="square" rtlCol="0">
              <a:spAutoFit/>
            </a:bodyPr>
            <a:lstStyle/>
            <a:p>
              <a:pPr marL="571500"/>
              <a:r>
                <a:rPr lang="en-US"/>
                <a:t>PREPARE</a:t>
              </a:r>
            </a:p>
            <a:p>
              <a:pPr marL="571500"/>
              <a:r>
                <a:rPr lang="en-US"/>
                <a:t>ENTER</a:t>
              </a:r>
            </a:p>
            <a:p>
              <a:pPr marL="571500"/>
              <a:r>
                <a:rPr lang="en-US"/>
                <a:t>HOLD</a:t>
              </a:r>
            </a:p>
            <a:p>
              <a:pPr marL="571500"/>
              <a:r>
                <a:rPr lang="en-US"/>
                <a:t>UNHOLD</a:t>
              </a:r>
            </a:p>
          </p:txBody>
        </p:sp>
        <p:sp>
          <p:nvSpPr>
            <p:cNvPr id="76" name="Rectangle 75">
              <a:extLst>
                <a:ext uri="{FF2B5EF4-FFF2-40B4-BE49-F238E27FC236}">
                  <a16:creationId xmlns:a16="http://schemas.microsoft.com/office/drawing/2014/main" id="{6EEB99CC-F674-0965-3445-1E217AF93E42}"/>
                </a:ext>
              </a:extLst>
            </p:cNvPr>
            <p:cNvSpPr/>
            <p:nvPr/>
          </p:nvSpPr>
          <p:spPr>
            <a:xfrm>
              <a:off x="3385299" y="5703229"/>
              <a:ext cx="457200" cy="182880"/>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lumMod val="75000"/>
                  </a:schemeClr>
                </a:solidFill>
              </a:endParaRPr>
            </a:p>
          </p:txBody>
        </p:sp>
        <p:sp>
          <p:nvSpPr>
            <p:cNvPr id="77" name="Rectangle 76">
              <a:extLst>
                <a:ext uri="{FF2B5EF4-FFF2-40B4-BE49-F238E27FC236}">
                  <a16:creationId xmlns:a16="http://schemas.microsoft.com/office/drawing/2014/main" id="{8087B0DC-D7D2-5D4E-6952-0D008A2A70B6}"/>
                </a:ext>
              </a:extLst>
            </p:cNvPr>
            <p:cNvSpPr/>
            <p:nvPr/>
          </p:nvSpPr>
          <p:spPr>
            <a:xfrm>
              <a:off x="3377880" y="6245901"/>
              <a:ext cx="457200" cy="182880"/>
            </a:xfrm>
            <a:prstGeom prst="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8" name="Rectangle 77">
              <a:extLst>
                <a:ext uri="{FF2B5EF4-FFF2-40B4-BE49-F238E27FC236}">
                  <a16:creationId xmlns:a16="http://schemas.microsoft.com/office/drawing/2014/main" id="{091DAAB6-D491-27EB-500C-6E949B885EA3}"/>
                </a:ext>
              </a:extLst>
            </p:cNvPr>
            <p:cNvSpPr/>
            <p:nvPr/>
          </p:nvSpPr>
          <p:spPr>
            <a:xfrm>
              <a:off x="3377880" y="5984076"/>
              <a:ext cx="457200" cy="182880"/>
            </a:xfrm>
            <a:prstGeom prst="rect">
              <a:avLst/>
            </a:prstGeom>
            <a:solidFill>
              <a:schemeClr val="bg1">
                <a:lumMod val="6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9" name="Rectangle 78">
              <a:extLst>
                <a:ext uri="{FF2B5EF4-FFF2-40B4-BE49-F238E27FC236}">
                  <a16:creationId xmlns:a16="http://schemas.microsoft.com/office/drawing/2014/main" id="{ED1C8A20-685E-CDEA-58A8-F01192ADFAD9}"/>
                </a:ext>
              </a:extLst>
            </p:cNvPr>
            <p:cNvSpPr/>
            <p:nvPr/>
          </p:nvSpPr>
          <p:spPr>
            <a:xfrm>
              <a:off x="3385299" y="6519378"/>
              <a:ext cx="457200" cy="182880"/>
            </a:xfrm>
            <a:prstGeom prst="rect">
              <a:avLst/>
            </a:prstGeom>
            <a:solidFill>
              <a:srgbClr val="C55A1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4084341136"/>
      </p:ext>
    </p:extLst>
  </p:cSld>
  <p:clrMapOvr>
    <a:masterClrMapping/>
  </p:clrMapOvr>
  <mc:AlternateContent xmlns:mc="http://schemas.openxmlformats.org/markup-compatibility/2006" xmlns:p14="http://schemas.microsoft.com/office/powerpoint/2010/main">
    <mc:Choice Requires="p14">
      <p:transition spd="slow" p14:dur="2000" advTm="52026"/>
    </mc:Choice>
    <mc:Fallback xmlns="">
      <p:transition spd="slow" advTm="520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dissolve">
                                      <p:cBhvr>
                                        <p:cTn id="13" dur="500"/>
                                        <p:tgtEl>
                                          <p:spTgt spid="2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dissolve">
                                      <p:cBhvr>
                                        <p:cTn id="16" dur="500"/>
                                        <p:tgtEl>
                                          <p:spTgt spid="4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dissolve">
                                      <p:cBhvr>
                                        <p:cTn id="19" dur="500"/>
                                        <p:tgtEl>
                                          <p:spTgt spid="36"/>
                                        </p:tgtEl>
                                      </p:cBhvr>
                                    </p:animEffect>
                                  </p:childTnLst>
                                </p:cTn>
                              </p:par>
                              <p:par>
                                <p:cTn id="20" presetID="9" presetClass="entr" presetSubtype="0" fill="hold"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par>
                                <p:cTn id="23" presetID="9"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dissolve">
                                      <p:cBhvr>
                                        <p:cTn id="25" dur="5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dissolve">
                                      <p:cBhvr>
                                        <p:cTn id="30" dur="500"/>
                                        <p:tgtEl>
                                          <p:spTgt spid="54"/>
                                        </p:tgtEl>
                                      </p:cBhvr>
                                    </p:animEffect>
                                  </p:childTnLst>
                                </p:cTn>
                              </p:par>
                              <p:par>
                                <p:cTn id="31" presetID="9"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animEffect transition="in" filter="dissolve">
                                      <p:cBhvr>
                                        <p:cTn id="33" dur="500"/>
                                        <p:tgtEl>
                                          <p:spTgt spid="55"/>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dissolve">
                                      <p:cBhvr>
                                        <p:cTn id="36" dur="500"/>
                                        <p:tgtEl>
                                          <p:spTgt spid="30"/>
                                        </p:tgtEl>
                                      </p:cBhvr>
                                    </p:animEffect>
                                  </p:childTnLst>
                                </p:cTn>
                              </p:par>
                              <p:par>
                                <p:cTn id="37" presetID="1" presetClass="exit" presetSubtype="0" fill="hold" grpId="1" nodeType="withEffect">
                                  <p:stCondLst>
                                    <p:cond delay="0"/>
                                  </p:stCondLst>
                                  <p:childTnLst>
                                    <p:set>
                                      <p:cBhvr>
                                        <p:cTn id="38" dur="1" fill="hold">
                                          <p:stCondLst>
                                            <p:cond delay="0"/>
                                          </p:stCondLst>
                                        </p:cTn>
                                        <p:tgtEl>
                                          <p:spTgt spid="41"/>
                                        </p:tgtEl>
                                        <p:attrNameLst>
                                          <p:attrName>style.visibility</p:attrName>
                                        </p:attrNameLst>
                                      </p:cBhvr>
                                      <p:to>
                                        <p:strVal val="hidden"/>
                                      </p:to>
                                    </p:set>
                                  </p:childTnLst>
                                </p:cTn>
                              </p:par>
                              <p:par>
                                <p:cTn id="39" presetID="9"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dissolve">
                                      <p:cBhvr>
                                        <p:cTn id="41" dur="500"/>
                                        <p:tgtEl>
                                          <p:spTgt spid="56"/>
                                        </p:tgtEl>
                                      </p:cBhvr>
                                    </p:animEffect>
                                  </p:childTnLst>
                                </p:cTn>
                              </p:par>
                              <p:par>
                                <p:cTn id="42" presetID="1" presetClass="exit" presetSubtype="0" fill="hold" nodeType="withEffect">
                                  <p:stCondLst>
                                    <p:cond delay="0"/>
                                  </p:stCondLst>
                                  <p:childTnLst>
                                    <p:set>
                                      <p:cBhvr>
                                        <p:cTn id="43" dur="1" fill="hold">
                                          <p:stCondLst>
                                            <p:cond delay="0"/>
                                          </p:stCondLst>
                                        </p:cTn>
                                        <p:tgtEl>
                                          <p:spTgt spid="3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58"/>
                                        </p:tgtEl>
                                        <p:attrNameLst>
                                          <p:attrName>style.visibility</p:attrName>
                                        </p:attrNameLst>
                                      </p:cBhvr>
                                      <p:to>
                                        <p:strVal val="visible"/>
                                      </p:to>
                                    </p:set>
                                    <p:animEffect transition="in" filter="dissolve">
                                      <p:cBhvr>
                                        <p:cTn id="48" dur="500"/>
                                        <p:tgtEl>
                                          <p:spTgt spid="58"/>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dissolve">
                                      <p:cBhvr>
                                        <p:cTn id="51" dur="500"/>
                                        <p:tgtEl>
                                          <p:spTgt spid="59"/>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62"/>
                                        </p:tgtEl>
                                        <p:attrNameLst>
                                          <p:attrName>style.visibility</p:attrName>
                                        </p:attrNameLst>
                                      </p:cBhvr>
                                      <p:to>
                                        <p:strVal val="visible"/>
                                      </p:to>
                                    </p:set>
                                    <p:animEffect transition="in" filter="dissolve">
                                      <p:cBhvr>
                                        <p:cTn id="54" dur="500"/>
                                        <p:tgtEl>
                                          <p:spTgt spid="62"/>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dissolve">
                                      <p:cBhvr>
                                        <p:cTn id="57" dur="500"/>
                                        <p:tgtEl>
                                          <p:spTgt spid="63"/>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dissolve">
                                      <p:cBhvr>
                                        <p:cTn id="60" dur="500"/>
                                        <p:tgtEl>
                                          <p:spTgt spid="64"/>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animEffect transition="in" filter="dissolve">
                                      <p:cBhvr>
                                        <p:cTn id="63" dur="500"/>
                                        <p:tgtEl>
                                          <p:spTgt spid="65"/>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dissolve">
                                      <p:cBhvr>
                                        <p:cTn id="66" dur="500"/>
                                        <p:tgtEl>
                                          <p:spTgt spid="66"/>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animEffect transition="in" filter="dissolve">
                                      <p:cBhvr>
                                        <p:cTn id="69" dur="500"/>
                                        <p:tgtEl>
                                          <p:spTgt spid="67"/>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dissolve">
                                      <p:cBhvr>
                                        <p:cTn id="72" dur="500"/>
                                        <p:tgtEl>
                                          <p:spTgt spid="68"/>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69"/>
                                        </p:tgtEl>
                                        <p:attrNameLst>
                                          <p:attrName>style.visibility</p:attrName>
                                        </p:attrNameLst>
                                      </p:cBhvr>
                                      <p:to>
                                        <p:strVal val="visible"/>
                                      </p:to>
                                    </p:set>
                                    <p:animEffect transition="in" filter="dissolve">
                                      <p:cBhvr>
                                        <p:cTn id="75" dur="500"/>
                                        <p:tgtEl>
                                          <p:spTgt spid="69"/>
                                        </p:tgtEl>
                                      </p:cBhvr>
                                    </p:animEffect>
                                  </p:childTnLst>
                                </p:cTn>
                              </p:par>
                              <p:par>
                                <p:cTn id="76" presetID="9" presetClass="entr" presetSubtype="0" fill="hold" nodeType="withEffect">
                                  <p:stCondLst>
                                    <p:cond delay="0"/>
                                  </p:stCondLst>
                                  <p:childTnLst>
                                    <p:set>
                                      <p:cBhvr>
                                        <p:cTn id="77" dur="1" fill="hold">
                                          <p:stCondLst>
                                            <p:cond delay="0"/>
                                          </p:stCondLst>
                                        </p:cTn>
                                        <p:tgtEl>
                                          <p:spTgt spid="70"/>
                                        </p:tgtEl>
                                        <p:attrNameLst>
                                          <p:attrName>style.visibility</p:attrName>
                                        </p:attrNameLst>
                                      </p:cBhvr>
                                      <p:to>
                                        <p:strVal val="visible"/>
                                      </p:to>
                                    </p:set>
                                    <p:animEffect transition="in" filter="dissolve">
                                      <p:cBhvr>
                                        <p:cTn id="78" dur="500"/>
                                        <p:tgtEl>
                                          <p:spTgt spid="70"/>
                                        </p:tgtEl>
                                      </p:cBhvr>
                                    </p:animEffect>
                                  </p:childTnLst>
                                </p:cTn>
                              </p:par>
                              <p:par>
                                <p:cTn id="79" presetID="9" presetClass="entr" presetSubtype="0" fill="hold" nodeType="withEffect">
                                  <p:stCondLst>
                                    <p:cond delay="0"/>
                                  </p:stCondLst>
                                  <p:childTnLst>
                                    <p:set>
                                      <p:cBhvr>
                                        <p:cTn id="80" dur="1" fill="hold">
                                          <p:stCondLst>
                                            <p:cond delay="0"/>
                                          </p:stCondLst>
                                        </p:cTn>
                                        <p:tgtEl>
                                          <p:spTgt spid="71"/>
                                        </p:tgtEl>
                                        <p:attrNameLst>
                                          <p:attrName>style.visibility</p:attrName>
                                        </p:attrNameLst>
                                      </p:cBhvr>
                                      <p:to>
                                        <p:strVal val="visible"/>
                                      </p:to>
                                    </p:set>
                                    <p:animEffect transition="in" filter="dissolve">
                                      <p:cBhvr>
                                        <p:cTn id="81" dur="500"/>
                                        <p:tgtEl>
                                          <p:spTgt spid="71"/>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dissolve">
                                      <p:cBhvr>
                                        <p:cTn id="84" dur="500"/>
                                        <p:tgtEl>
                                          <p:spTgt spid="73"/>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72"/>
                                        </p:tgtEl>
                                        <p:attrNameLst>
                                          <p:attrName>style.visibility</p:attrName>
                                        </p:attrNameLst>
                                      </p:cBhvr>
                                      <p:to>
                                        <p:strVal val="visible"/>
                                      </p:to>
                                    </p:set>
                                    <p:animEffect transition="in" filter="dissolve">
                                      <p:cBhvr>
                                        <p:cTn id="8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9" grpId="0" animBg="1"/>
      <p:bldP spid="30" grpId="0" animBg="1"/>
      <p:bldP spid="36" grpId="0" animBg="1"/>
      <p:bldP spid="41" grpId="0" animBg="1"/>
      <p:bldP spid="41" grpId="1" animBg="1"/>
      <p:bldP spid="56" grpId="0" animBg="1"/>
      <p:bldP spid="58" grpId="0" animBg="1"/>
      <p:bldP spid="59" grpId="0" animBg="1"/>
      <p:bldP spid="62" grpId="0" animBg="1"/>
      <p:bldP spid="63" grpId="0" animBg="1"/>
      <p:bldP spid="64" grpId="0" animBg="1"/>
      <p:bldP spid="65" grpId="0" animBg="1"/>
      <p:bldP spid="66" grpId="0" animBg="1"/>
      <p:bldP spid="67" grpId="0" animBg="1"/>
      <p:bldP spid="68" grpId="0" animBg="1"/>
      <p:bldP spid="69" grpId="0" animBg="1"/>
      <p:bldP spid="72" grpId="0" animBg="1"/>
      <p:bldP spid="7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normAutofit fontScale="90000"/>
          </a:bodyPr>
          <a:lstStyle/>
          <a:p>
            <a:pPr algn="ctr"/>
            <a:r>
              <a:rPr lang="en-US" b="1">
                <a:latin typeface="helvetica" panose="020B0604020202020204" pitchFamily="34" charset="0"/>
                <a:cs typeface="helvetica" panose="020B0604020202020204" pitchFamily="34" charset="0"/>
              </a:rPr>
              <a:t>Detecting Performance Interference for Activity</a:t>
            </a:r>
          </a:p>
        </p:txBody>
      </p:sp>
      <p:sp>
        <p:nvSpPr>
          <p:cNvPr id="5" name="灯片编号占位符 4">
            <a:extLst>
              <a:ext uri="{FF2B5EF4-FFF2-40B4-BE49-F238E27FC236}">
                <a16:creationId xmlns:a16="http://schemas.microsoft.com/office/drawing/2014/main" id="{088525E3-2C5D-0DE6-C2CF-478D28F9E231}"/>
              </a:ext>
            </a:extLst>
          </p:cNvPr>
          <p:cNvSpPr>
            <a:spLocks noGrp="1"/>
          </p:cNvSpPr>
          <p:nvPr>
            <p:ph type="sldNum" sz="quarter" idx="12"/>
          </p:nvPr>
        </p:nvSpPr>
        <p:spPr/>
        <p:txBody>
          <a:bodyPr/>
          <a:lstStyle/>
          <a:p>
            <a:fld id="{330EA680-D336-4FF7-8B7A-9848BB0A1C32}" type="slidenum">
              <a:rPr lang="en-US" smtClean="0"/>
              <a:t>22</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E7D8D95-D643-943A-5FD2-B1041696D0E9}"/>
                  </a:ext>
                </a:extLst>
              </p:cNvPr>
              <p:cNvSpPr>
                <a:spLocks noGrp="1"/>
              </p:cNvSpPr>
              <p:nvPr>
                <p:ph idx="1"/>
              </p:nvPr>
            </p:nvSpPr>
            <p:spPr>
              <a:xfrm>
                <a:off x="0" y="1206500"/>
                <a:ext cx="11353800" cy="1439368"/>
              </a:xfrm>
              <a:prstGeom prst="rect">
                <a:avLst/>
              </a:prstGeom>
            </p:spPr>
            <p:txBody>
              <a:bodyPr wrap="square">
                <a:spAutoFit/>
              </a:bodyPr>
              <a:lstStyle/>
              <a:p>
                <a:pPr marL="457200" indent="-457200">
                  <a:buFont typeface="Arial" panose="020B0604020202020204" pitchFamily="34" charset="0"/>
                  <a:buChar char="•"/>
                </a:pPr>
                <a:r>
                  <a:rPr lang="en-US" sz="3200" b="1"/>
                  <a:t>State event only trace deferring time on resource level</a:t>
                </a:r>
              </a:p>
              <a:p>
                <a:pPr marL="801688" lvl="1" indent="-344488">
                  <a:buFont typeface="Courier New" panose="02070309020205020404" pitchFamily="49" charset="0"/>
                  <a:buChar char="o"/>
                </a:pPr>
                <a:r>
                  <a:rPr lang="en-US" sz="2800"/>
                  <a:t>Resource level interference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a:t> end-to-end performance interference</a:t>
                </a:r>
              </a:p>
              <a:p>
                <a:pPr marL="801688" lvl="1" indent="-344488">
                  <a:buFont typeface="Courier New" panose="02070309020205020404" pitchFamily="49" charset="0"/>
                  <a:buChar char="o"/>
                </a:pPr>
                <a:r>
                  <a:rPr lang="en-US" sz="2800"/>
                  <a:t>No priori knowledge </a:t>
                </a:r>
                <a:r>
                  <a:rPr lang="en-US" altLang="zh-CN" sz="2800"/>
                  <a:t>of future resource usage and interference level</a:t>
                </a:r>
                <a:endParaRPr lang="en-US" sz="2800"/>
              </a:p>
            </p:txBody>
          </p:sp>
        </mc:Choice>
        <mc:Fallback xmlns="">
          <p:sp>
            <p:nvSpPr>
              <p:cNvPr id="4" name="Content Placeholder 3">
                <a:extLst>
                  <a:ext uri="{FF2B5EF4-FFF2-40B4-BE49-F238E27FC236}">
                    <a16:creationId xmlns:a16="http://schemas.microsoft.com/office/drawing/2014/main" id="{9E7D8D95-D643-943A-5FD2-B1041696D0E9}"/>
                  </a:ext>
                </a:extLst>
              </p:cNvPr>
              <p:cNvSpPr>
                <a:spLocks noGrp="1" noRot="1" noChangeAspect="1" noMove="1" noResize="1" noEditPoints="1" noAdjustHandles="1" noChangeArrowheads="1" noChangeShapeType="1" noTextEdit="1"/>
              </p:cNvSpPr>
              <p:nvPr>
                <p:ph idx="1"/>
              </p:nvPr>
            </p:nvSpPr>
            <p:spPr>
              <a:xfrm>
                <a:off x="0" y="1206500"/>
                <a:ext cx="11353800" cy="1439368"/>
              </a:xfrm>
              <a:prstGeom prst="rect">
                <a:avLst/>
              </a:prstGeom>
              <a:blipFill>
                <a:blip r:embed="rId5"/>
                <a:stretch>
                  <a:fillRect l="-1235" t="-8898" b="-11017"/>
                </a:stretch>
              </a:blipFill>
            </p:spPr>
            <p:txBody>
              <a:bodyPr/>
              <a:lstStyle/>
              <a:p>
                <a:r>
                  <a:rPr lang="en-US">
                    <a:noFill/>
                  </a:rPr>
                  <a:t> </a:t>
                </a:r>
              </a:p>
            </p:txBody>
          </p:sp>
        </mc:Fallback>
      </mc:AlternateContent>
    </p:spTree>
    <p:extLst>
      <p:ext uri="{BB962C8B-B14F-4D97-AF65-F5344CB8AC3E}">
        <p14:creationId xmlns:p14="http://schemas.microsoft.com/office/powerpoint/2010/main" val="854761423"/>
      </p:ext>
    </p:extLst>
  </p:cSld>
  <p:clrMapOvr>
    <a:masterClrMapping/>
  </p:clrMapOvr>
  <mc:AlternateContent xmlns:mc="http://schemas.openxmlformats.org/markup-compatibility/2006" xmlns:p14="http://schemas.microsoft.com/office/powerpoint/2010/main">
    <mc:Choice Requires="p14">
      <p:transition spd="slow" p14:dur="2000" advTm="36473"/>
    </mc:Choice>
    <mc:Fallback xmlns="">
      <p:transition spd="slow" advTm="364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Activities' Interference Level</a:t>
            </a:r>
          </a:p>
        </p:txBody>
      </p:sp>
      <p:sp>
        <p:nvSpPr>
          <p:cNvPr id="5" name="灯片编号占位符 4">
            <a:extLst>
              <a:ext uri="{FF2B5EF4-FFF2-40B4-BE49-F238E27FC236}">
                <a16:creationId xmlns:a16="http://schemas.microsoft.com/office/drawing/2014/main" id="{9D0CCFA9-A013-D9EA-077D-99DE9BA7889B}"/>
              </a:ext>
            </a:extLst>
          </p:cNvPr>
          <p:cNvSpPr>
            <a:spLocks noGrp="1"/>
          </p:cNvSpPr>
          <p:nvPr>
            <p:ph type="sldNum" sz="quarter" idx="12"/>
          </p:nvPr>
        </p:nvSpPr>
        <p:spPr/>
        <p:txBody>
          <a:bodyPr/>
          <a:lstStyle/>
          <a:p>
            <a:fld id="{330EA680-D336-4FF7-8B7A-9848BB0A1C32}" type="slidenum">
              <a:rPr lang="en-US" smtClean="0"/>
              <a:t>23</a:t>
            </a:fld>
            <a:endParaRPr lang="en-US"/>
          </a:p>
        </p:txBody>
      </p:sp>
      <p:grpSp>
        <p:nvGrpSpPr>
          <p:cNvPr id="13" name="Group 12">
            <a:extLst>
              <a:ext uri="{FF2B5EF4-FFF2-40B4-BE49-F238E27FC236}">
                <a16:creationId xmlns:a16="http://schemas.microsoft.com/office/drawing/2014/main" id="{153A8053-B43E-0751-915B-D882B91CDB8F}"/>
              </a:ext>
            </a:extLst>
          </p:cNvPr>
          <p:cNvGrpSpPr/>
          <p:nvPr/>
        </p:nvGrpSpPr>
        <p:grpSpPr>
          <a:xfrm>
            <a:off x="275377" y="5521146"/>
            <a:ext cx="1936559" cy="1200329"/>
            <a:chOff x="3239168" y="5589627"/>
            <a:chExt cx="1936559" cy="1200329"/>
          </a:xfrm>
        </p:grpSpPr>
        <p:sp>
          <p:nvSpPr>
            <p:cNvPr id="14" name="TextBox 13">
              <a:extLst>
                <a:ext uri="{FF2B5EF4-FFF2-40B4-BE49-F238E27FC236}">
                  <a16:creationId xmlns:a16="http://schemas.microsoft.com/office/drawing/2014/main" id="{2F0097C1-7F96-8512-54CB-218844468A8C}"/>
                </a:ext>
              </a:extLst>
            </p:cNvPr>
            <p:cNvSpPr txBox="1"/>
            <p:nvPr/>
          </p:nvSpPr>
          <p:spPr>
            <a:xfrm>
              <a:off x="3239168" y="5589627"/>
              <a:ext cx="1936559" cy="1200329"/>
            </a:xfrm>
            <a:prstGeom prst="rect">
              <a:avLst/>
            </a:prstGeom>
            <a:noFill/>
            <a:ln w="19050">
              <a:solidFill>
                <a:schemeClr val="tx1"/>
              </a:solidFill>
            </a:ln>
          </p:spPr>
          <p:txBody>
            <a:bodyPr wrap="square" rtlCol="0">
              <a:spAutoFit/>
            </a:bodyPr>
            <a:lstStyle/>
            <a:p>
              <a:pPr marL="571500"/>
              <a:r>
                <a:rPr lang="en-US"/>
                <a:t>PREPARE</a:t>
              </a:r>
            </a:p>
            <a:p>
              <a:pPr marL="571500"/>
              <a:r>
                <a:rPr lang="en-US"/>
                <a:t>ENTER</a:t>
              </a:r>
            </a:p>
            <a:p>
              <a:pPr marL="571500"/>
              <a:r>
                <a:rPr lang="en-US"/>
                <a:t>HOLD</a:t>
              </a:r>
            </a:p>
            <a:p>
              <a:pPr marL="571500"/>
              <a:r>
                <a:rPr lang="en-US"/>
                <a:t>UNHOLD</a:t>
              </a:r>
            </a:p>
          </p:txBody>
        </p:sp>
        <p:sp>
          <p:nvSpPr>
            <p:cNvPr id="15" name="Rectangle 14">
              <a:extLst>
                <a:ext uri="{FF2B5EF4-FFF2-40B4-BE49-F238E27FC236}">
                  <a16:creationId xmlns:a16="http://schemas.microsoft.com/office/drawing/2014/main" id="{05347059-29C5-C4B5-0F5F-DED325DED520}"/>
                </a:ext>
              </a:extLst>
            </p:cNvPr>
            <p:cNvSpPr/>
            <p:nvPr/>
          </p:nvSpPr>
          <p:spPr>
            <a:xfrm>
              <a:off x="3385299" y="5703229"/>
              <a:ext cx="457200" cy="182880"/>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lumMod val="75000"/>
                  </a:schemeClr>
                </a:solidFill>
              </a:endParaRPr>
            </a:p>
          </p:txBody>
        </p:sp>
        <p:sp>
          <p:nvSpPr>
            <p:cNvPr id="16" name="Rectangle 15">
              <a:extLst>
                <a:ext uri="{FF2B5EF4-FFF2-40B4-BE49-F238E27FC236}">
                  <a16:creationId xmlns:a16="http://schemas.microsoft.com/office/drawing/2014/main" id="{C93965FF-9160-AE1C-20CF-FC6B4CBFF647}"/>
                </a:ext>
              </a:extLst>
            </p:cNvPr>
            <p:cNvSpPr/>
            <p:nvPr/>
          </p:nvSpPr>
          <p:spPr>
            <a:xfrm>
              <a:off x="3377880" y="6245901"/>
              <a:ext cx="457200" cy="182880"/>
            </a:xfrm>
            <a:prstGeom prst="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Rectangle 16">
              <a:extLst>
                <a:ext uri="{FF2B5EF4-FFF2-40B4-BE49-F238E27FC236}">
                  <a16:creationId xmlns:a16="http://schemas.microsoft.com/office/drawing/2014/main" id="{E35BF2F6-0AFB-910E-2B29-D7EAA236BBA6}"/>
                </a:ext>
              </a:extLst>
            </p:cNvPr>
            <p:cNvSpPr/>
            <p:nvPr/>
          </p:nvSpPr>
          <p:spPr>
            <a:xfrm>
              <a:off x="3377880" y="5984076"/>
              <a:ext cx="457200" cy="182880"/>
            </a:xfrm>
            <a:prstGeom prst="rect">
              <a:avLst/>
            </a:prstGeom>
            <a:solidFill>
              <a:schemeClr val="bg1">
                <a:lumMod val="6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Rectangle 17">
              <a:extLst>
                <a:ext uri="{FF2B5EF4-FFF2-40B4-BE49-F238E27FC236}">
                  <a16:creationId xmlns:a16="http://schemas.microsoft.com/office/drawing/2014/main" id="{9A2BC94A-1BEA-E896-6D8F-F57B47B2AB58}"/>
                </a:ext>
              </a:extLst>
            </p:cNvPr>
            <p:cNvSpPr/>
            <p:nvPr/>
          </p:nvSpPr>
          <p:spPr>
            <a:xfrm>
              <a:off x="3385299" y="6519378"/>
              <a:ext cx="457200" cy="182880"/>
            </a:xfrm>
            <a:prstGeom prst="rect">
              <a:avLst/>
            </a:prstGeom>
            <a:solidFill>
              <a:srgbClr val="C55A1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4" name="Right Brace 23">
            <a:extLst>
              <a:ext uri="{FF2B5EF4-FFF2-40B4-BE49-F238E27FC236}">
                <a16:creationId xmlns:a16="http://schemas.microsoft.com/office/drawing/2014/main" id="{90282991-1C5E-D355-AB54-83432F9508C0}"/>
              </a:ext>
            </a:extLst>
          </p:cNvPr>
          <p:cNvSpPr/>
          <p:nvPr/>
        </p:nvSpPr>
        <p:spPr>
          <a:xfrm rot="5400000">
            <a:off x="3027064" y="2182798"/>
            <a:ext cx="528804" cy="727488"/>
          </a:xfrm>
          <a:prstGeom prst="rightBrace">
            <a:avLst>
              <a:gd name="adj1" fmla="val 3159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5" name="Right Brace 24">
            <a:extLst>
              <a:ext uri="{FF2B5EF4-FFF2-40B4-BE49-F238E27FC236}">
                <a16:creationId xmlns:a16="http://schemas.microsoft.com/office/drawing/2014/main" id="{1724E44E-8FF4-26ED-75EF-E9EF074261CA}"/>
              </a:ext>
            </a:extLst>
          </p:cNvPr>
          <p:cNvSpPr/>
          <p:nvPr/>
        </p:nvSpPr>
        <p:spPr>
          <a:xfrm rot="5400000">
            <a:off x="5100350" y="2160507"/>
            <a:ext cx="528804" cy="852277"/>
          </a:xfrm>
          <a:prstGeom prst="rightBrace">
            <a:avLst>
              <a:gd name="adj1" fmla="val 31594"/>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36CA07F4-E87D-7B3C-1062-0574CC68F158}"/>
              </a:ext>
            </a:extLst>
          </p:cNvPr>
          <p:cNvSpPr txBox="1"/>
          <p:nvPr/>
        </p:nvSpPr>
        <p:spPr>
          <a:xfrm>
            <a:off x="3316559" y="1543603"/>
            <a:ext cx="1458476"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Resource A</a:t>
            </a:r>
          </a:p>
        </p:txBody>
      </p:sp>
      <p:sp>
        <p:nvSpPr>
          <p:cNvPr id="27" name="TextBox 26">
            <a:extLst>
              <a:ext uri="{FF2B5EF4-FFF2-40B4-BE49-F238E27FC236}">
                <a16:creationId xmlns:a16="http://schemas.microsoft.com/office/drawing/2014/main" id="{5E304E60-4943-9C9F-D557-1677E8A8AE81}"/>
              </a:ext>
            </a:extLst>
          </p:cNvPr>
          <p:cNvSpPr txBox="1"/>
          <p:nvPr/>
        </p:nvSpPr>
        <p:spPr>
          <a:xfrm>
            <a:off x="5364752" y="1543603"/>
            <a:ext cx="1467068"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Resource B</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9F61AF3-EA74-14A2-BDA7-103616E7D398}"/>
                  </a:ext>
                </a:extLst>
              </p:cNvPr>
              <p:cNvSpPr txBox="1"/>
              <p:nvPr/>
            </p:nvSpPr>
            <p:spPr>
              <a:xfrm>
                <a:off x="2520338" y="2837918"/>
                <a:ext cx="1653594" cy="369332"/>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𝑒𝑛𝑡𝑒𝑟</m:t>
                        </m:r>
                      </m:e>
                      <m:sub>
                        <m:r>
                          <a:rPr lang="en-US" b="0" i="1" smtClean="0">
                            <a:latin typeface="Cambria Math" panose="02040503050406030204" pitchFamily="18" charset="0"/>
                          </a:rPr>
                          <m:t>𝐴</m:t>
                        </m:r>
                      </m:sub>
                    </m:sSub>
                  </m:oMath>
                </a14:m>
                <a:r>
                  <a:rPr lang="en-US"/>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𝑝𝑟𝑒𝑝</m:t>
                        </m:r>
                      </m:e>
                      <m:sub>
                        <m:r>
                          <a:rPr lang="en-US" b="0" i="1" smtClean="0">
                            <a:latin typeface="Cambria Math" panose="02040503050406030204" pitchFamily="18" charset="0"/>
                          </a:rPr>
                          <m:t>𝐴</m:t>
                        </m:r>
                      </m:sub>
                    </m:sSub>
                    <m:r>
                      <a:rPr lang="en-US" i="1">
                        <a:latin typeface="Cambria Math" panose="02040503050406030204" pitchFamily="18" charset="0"/>
                      </a:rPr>
                      <m:t> </m:t>
                    </m:r>
                  </m:oMath>
                </a14:m>
                <a:endParaRPr lang="en-US"/>
              </a:p>
            </p:txBody>
          </p:sp>
        </mc:Choice>
        <mc:Fallback xmlns="">
          <p:sp>
            <p:nvSpPr>
              <p:cNvPr id="28" name="TextBox 27">
                <a:extLst>
                  <a:ext uri="{FF2B5EF4-FFF2-40B4-BE49-F238E27FC236}">
                    <a16:creationId xmlns:a16="http://schemas.microsoft.com/office/drawing/2014/main" id="{09F61AF3-EA74-14A2-BDA7-103616E7D398}"/>
                  </a:ext>
                </a:extLst>
              </p:cNvPr>
              <p:cNvSpPr txBox="1">
                <a:spLocks noRot="1" noChangeAspect="1" noMove="1" noResize="1" noEditPoints="1" noAdjustHandles="1" noChangeArrowheads="1" noChangeShapeType="1" noTextEdit="1"/>
              </p:cNvSpPr>
              <p:nvPr/>
            </p:nvSpPr>
            <p:spPr>
              <a:xfrm>
                <a:off x="2520338" y="2837918"/>
                <a:ext cx="1653594" cy="369332"/>
              </a:xfrm>
              <a:prstGeom prst="rect">
                <a:avLst/>
              </a:prstGeom>
              <a:blipFill>
                <a:blip r:embed="rId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774EFC5-834A-55BC-AD5F-8A8528737F19}"/>
                  </a:ext>
                </a:extLst>
              </p:cNvPr>
              <p:cNvSpPr txBox="1"/>
              <p:nvPr/>
            </p:nvSpPr>
            <p:spPr>
              <a:xfrm>
                <a:off x="4584670" y="2837918"/>
                <a:ext cx="1732077" cy="369332"/>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𝑒𝑛𝑡𝑒𝑟</m:t>
                        </m:r>
                      </m:e>
                      <m:sub>
                        <m:r>
                          <a:rPr lang="en-US" b="0" i="1" smtClean="0">
                            <a:latin typeface="Cambria Math" panose="02040503050406030204" pitchFamily="18" charset="0"/>
                          </a:rPr>
                          <m:t>𝐵</m:t>
                        </m:r>
                      </m:sub>
                    </m:sSub>
                  </m:oMath>
                </a14:m>
                <a:r>
                  <a:rPr lang="en-US"/>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𝑝𝑟𝑒𝑝</m:t>
                        </m:r>
                      </m:e>
                      <m:sub>
                        <m:r>
                          <a:rPr lang="en-US" b="0" i="1" smtClean="0">
                            <a:latin typeface="Cambria Math" panose="02040503050406030204" pitchFamily="18" charset="0"/>
                          </a:rPr>
                          <m:t>𝐵</m:t>
                        </m:r>
                      </m:sub>
                    </m:sSub>
                    <m:r>
                      <a:rPr lang="en-US" i="1">
                        <a:latin typeface="Cambria Math" panose="02040503050406030204" pitchFamily="18" charset="0"/>
                      </a:rPr>
                      <m:t> </m:t>
                    </m:r>
                  </m:oMath>
                </a14:m>
                <a:endParaRPr lang="en-US"/>
              </a:p>
            </p:txBody>
          </p:sp>
        </mc:Choice>
        <mc:Fallback xmlns="">
          <p:sp>
            <p:nvSpPr>
              <p:cNvPr id="29" name="TextBox 28">
                <a:extLst>
                  <a:ext uri="{FF2B5EF4-FFF2-40B4-BE49-F238E27FC236}">
                    <a16:creationId xmlns:a16="http://schemas.microsoft.com/office/drawing/2014/main" id="{F774EFC5-834A-55BC-AD5F-8A8528737F19}"/>
                  </a:ext>
                </a:extLst>
              </p:cNvPr>
              <p:cNvSpPr txBox="1">
                <a:spLocks noRot="1" noChangeAspect="1" noMove="1" noResize="1" noEditPoints="1" noAdjustHandles="1" noChangeArrowheads="1" noChangeShapeType="1" noTextEdit="1"/>
              </p:cNvSpPr>
              <p:nvPr/>
            </p:nvSpPr>
            <p:spPr>
              <a:xfrm>
                <a:off x="4584670" y="2837918"/>
                <a:ext cx="1732077" cy="369332"/>
              </a:xfrm>
              <a:prstGeom prst="rect">
                <a:avLst/>
              </a:prstGeom>
              <a:blipFill>
                <a:blip r:embed="rId6"/>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5491EF4-56AE-EE16-8617-AE1846AA5BE7}"/>
                  </a:ext>
                </a:extLst>
              </p:cNvPr>
              <p:cNvSpPr txBox="1"/>
              <p:nvPr/>
            </p:nvSpPr>
            <p:spPr>
              <a:xfrm>
                <a:off x="4128136" y="2863913"/>
                <a:ext cx="4106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a:p>
            </p:txBody>
          </p:sp>
        </mc:Choice>
        <mc:Fallback xmlns="">
          <p:sp>
            <p:nvSpPr>
              <p:cNvPr id="30" name="TextBox 29">
                <a:extLst>
                  <a:ext uri="{FF2B5EF4-FFF2-40B4-BE49-F238E27FC236}">
                    <a16:creationId xmlns:a16="http://schemas.microsoft.com/office/drawing/2014/main" id="{15491EF4-56AE-EE16-8617-AE1846AA5BE7}"/>
                  </a:ext>
                </a:extLst>
              </p:cNvPr>
              <p:cNvSpPr txBox="1">
                <a:spLocks noRot="1" noChangeAspect="1" noMove="1" noResize="1" noEditPoints="1" noAdjustHandles="1" noChangeArrowheads="1" noChangeShapeType="1" noTextEdit="1"/>
              </p:cNvSpPr>
              <p:nvPr/>
            </p:nvSpPr>
            <p:spPr>
              <a:xfrm>
                <a:off x="4128136" y="2863913"/>
                <a:ext cx="41068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54D0969-5B56-D112-6BEC-C5B40D310D2F}"/>
                  </a:ext>
                </a:extLst>
              </p:cNvPr>
              <p:cNvSpPr txBox="1"/>
              <p:nvPr/>
            </p:nvSpPr>
            <p:spPr>
              <a:xfrm>
                <a:off x="918479" y="2832644"/>
                <a:ext cx="17283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𝑫𝒆𝒇𝒆𝒓</m:t>
                      </m:r>
                      <m:r>
                        <a:rPr lang="en-US" b="1" i="1" smtClean="0">
                          <a:latin typeface="Cambria Math" panose="02040503050406030204" pitchFamily="18" charset="0"/>
                        </a:rPr>
                        <m:t> </m:t>
                      </m:r>
                      <m:r>
                        <a:rPr lang="en-US" b="1" i="1" smtClean="0">
                          <a:latin typeface="Cambria Math" panose="02040503050406030204" pitchFamily="18" charset="0"/>
                        </a:rPr>
                        <m:t>𝒕𝒊𝒎𝒆</m:t>
                      </m:r>
                      <m:r>
                        <a:rPr lang="en-US" b="0" i="1" smtClean="0">
                          <a:latin typeface="Cambria Math" panose="02040503050406030204" pitchFamily="18" charset="0"/>
                        </a:rPr>
                        <m:t>=</m:t>
                      </m:r>
                    </m:oMath>
                  </m:oMathPara>
                </a14:m>
                <a:endParaRPr lang="en-US"/>
              </a:p>
            </p:txBody>
          </p:sp>
        </mc:Choice>
        <mc:Fallback xmlns="">
          <p:sp>
            <p:nvSpPr>
              <p:cNvPr id="31" name="TextBox 30">
                <a:extLst>
                  <a:ext uri="{FF2B5EF4-FFF2-40B4-BE49-F238E27FC236}">
                    <a16:creationId xmlns:a16="http://schemas.microsoft.com/office/drawing/2014/main" id="{054D0969-5B56-D112-6BEC-C5B40D310D2F}"/>
                  </a:ext>
                </a:extLst>
              </p:cNvPr>
              <p:cNvSpPr txBox="1">
                <a:spLocks noRot="1" noChangeAspect="1" noMove="1" noResize="1" noEditPoints="1" noAdjustHandles="1" noChangeArrowheads="1" noChangeShapeType="1" noTextEdit="1"/>
              </p:cNvSpPr>
              <p:nvPr/>
            </p:nvSpPr>
            <p:spPr>
              <a:xfrm>
                <a:off x="918479" y="2832644"/>
                <a:ext cx="1728358" cy="369332"/>
              </a:xfrm>
              <a:prstGeom prst="rect">
                <a:avLst/>
              </a:prstGeom>
              <a:blipFill>
                <a:blip r:embed="rId8"/>
                <a:stretch>
                  <a:fillRect b="-13333"/>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05146FFA-4AC1-4BA6-4306-85937F0862D9}"/>
              </a:ext>
            </a:extLst>
          </p:cNvPr>
          <p:cNvGrpSpPr/>
          <p:nvPr/>
        </p:nvGrpSpPr>
        <p:grpSpPr>
          <a:xfrm>
            <a:off x="1649202" y="1517713"/>
            <a:ext cx="10652492" cy="907483"/>
            <a:chOff x="1649202" y="1517713"/>
            <a:chExt cx="10652492" cy="907483"/>
          </a:xfrm>
        </p:grpSpPr>
        <p:sp>
          <p:nvSpPr>
            <p:cNvPr id="4" name="任意多边形: 形状 54">
              <a:extLst>
                <a:ext uri="{FF2B5EF4-FFF2-40B4-BE49-F238E27FC236}">
                  <a16:creationId xmlns:a16="http://schemas.microsoft.com/office/drawing/2014/main" id="{3B3330A4-975F-AB5D-4E7D-24587F1BE3EC}"/>
                </a:ext>
              </a:extLst>
            </p:cNvPr>
            <p:cNvSpPr/>
            <p:nvPr/>
          </p:nvSpPr>
          <p:spPr>
            <a:xfrm rot="10800000">
              <a:off x="2725478" y="1956430"/>
              <a:ext cx="4686219" cy="27434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Oval 6">
              <a:extLst>
                <a:ext uri="{FF2B5EF4-FFF2-40B4-BE49-F238E27FC236}">
                  <a16:creationId xmlns:a16="http://schemas.microsoft.com/office/drawing/2014/main" id="{95CD6354-4A3B-7FC2-A016-9DD94B1222E7}"/>
                </a:ext>
              </a:extLst>
            </p:cNvPr>
            <p:cNvSpPr/>
            <p:nvPr/>
          </p:nvSpPr>
          <p:spPr>
            <a:xfrm rot="16200000">
              <a:off x="2848447" y="1930434"/>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5AD2D05-DA2B-74AB-1315-85333CF133E4}"/>
                </a:ext>
              </a:extLst>
            </p:cNvPr>
            <p:cNvSpPr/>
            <p:nvPr/>
          </p:nvSpPr>
          <p:spPr>
            <a:xfrm rot="16200000">
              <a:off x="3629259" y="2047897"/>
              <a:ext cx="182880" cy="182880"/>
            </a:xfrm>
            <a:prstGeom prst="ellipse">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B0ABC39-FFD5-BA2C-AA01-4357F6351F27}"/>
                </a:ext>
              </a:extLst>
            </p:cNvPr>
            <p:cNvSpPr/>
            <p:nvPr/>
          </p:nvSpPr>
          <p:spPr>
            <a:xfrm rot="16200000">
              <a:off x="4045797" y="2099260"/>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4C6E087-A7EE-91E4-605B-12132DCEA12D}"/>
                </a:ext>
              </a:extLst>
            </p:cNvPr>
            <p:cNvSpPr/>
            <p:nvPr/>
          </p:nvSpPr>
          <p:spPr>
            <a:xfrm rot="16200000">
              <a:off x="4360424" y="1930434"/>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294E953-65AA-B295-BF54-3CE757C2C76E}"/>
                </a:ext>
              </a:extLst>
            </p:cNvPr>
            <p:cNvSpPr txBox="1"/>
            <p:nvPr/>
          </p:nvSpPr>
          <p:spPr>
            <a:xfrm>
              <a:off x="1649202" y="1769112"/>
              <a:ext cx="871136" cy="461665"/>
            </a:xfrm>
            <a:prstGeom prst="rect">
              <a:avLst/>
            </a:prstGeom>
            <a:noFill/>
          </p:spPr>
          <p:txBody>
            <a:bodyPr wrap="none" rtlCol="0">
              <a:spAutoFit/>
            </a:bodyPr>
            <a:lstStyle/>
            <a:p>
              <a:r>
                <a:rPr lang="en-US" sz="2400" err="1">
                  <a:solidFill>
                    <a:srgbClr val="7030A0"/>
                  </a:solidFill>
                </a:rPr>
                <a:t>pBox</a:t>
              </a:r>
              <a:r>
                <a:rPr lang="en-US" sz="2400">
                  <a:solidFill>
                    <a:srgbClr val="7030A0"/>
                  </a:solidFill>
                </a:rPr>
                <a:t> </a:t>
              </a:r>
            </a:p>
          </p:txBody>
        </p:sp>
        <p:sp>
          <p:nvSpPr>
            <p:cNvPr id="19" name="Oval 18">
              <a:extLst>
                <a:ext uri="{FF2B5EF4-FFF2-40B4-BE49-F238E27FC236}">
                  <a16:creationId xmlns:a16="http://schemas.microsoft.com/office/drawing/2014/main" id="{1847F2DD-2F6E-4FF5-6992-C8FB28028066}"/>
                </a:ext>
              </a:extLst>
            </p:cNvPr>
            <p:cNvSpPr/>
            <p:nvPr/>
          </p:nvSpPr>
          <p:spPr>
            <a:xfrm>
              <a:off x="4885707" y="1943859"/>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74ADC11-B09B-CEC7-C4F9-15DC1603D0F2}"/>
                </a:ext>
              </a:extLst>
            </p:cNvPr>
            <p:cNvSpPr/>
            <p:nvPr/>
          </p:nvSpPr>
          <p:spPr>
            <a:xfrm>
              <a:off x="5699451" y="2047896"/>
              <a:ext cx="182880" cy="182880"/>
            </a:xfrm>
            <a:prstGeom prst="ellipse">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DF8C24A-C45D-5081-8822-1C4B3BCA5804}"/>
                </a:ext>
              </a:extLst>
            </p:cNvPr>
            <p:cNvSpPr/>
            <p:nvPr/>
          </p:nvSpPr>
          <p:spPr>
            <a:xfrm>
              <a:off x="6146824" y="1862699"/>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90FE32F-494F-FB55-A251-7D85E029BA9D}"/>
                </a:ext>
              </a:extLst>
            </p:cNvPr>
            <p:cNvSpPr/>
            <p:nvPr/>
          </p:nvSpPr>
          <p:spPr>
            <a:xfrm>
              <a:off x="6641071" y="2045579"/>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任意多边形: 形状 54">
              <a:extLst>
                <a:ext uri="{FF2B5EF4-FFF2-40B4-BE49-F238E27FC236}">
                  <a16:creationId xmlns:a16="http://schemas.microsoft.com/office/drawing/2014/main" id="{E8FBFCA8-BE62-1869-E00B-A5E4D1026CE4}"/>
                </a:ext>
              </a:extLst>
            </p:cNvPr>
            <p:cNvSpPr/>
            <p:nvPr/>
          </p:nvSpPr>
          <p:spPr>
            <a:xfrm rot="10800000">
              <a:off x="7384940" y="1957388"/>
              <a:ext cx="4686219" cy="27434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ctangle 32">
              <a:extLst>
                <a:ext uri="{FF2B5EF4-FFF2-40B4-BE49-F238E27FC236}">
                  <a16:creationId xmlns:a16="http://schemas.microsoft.com/office/drawing/2014/main" id="{060F1E96-04D6-8725-598C-41139078E32D}"/>
                </a:ext>
              </a:extLst>
            </p:cNvPr>
            <p:cNvSpPr/>
            <p:nvPr/>
          </p:nvSpPr>
          <p:spPr>
            <a:xfrm>
              <a:off x="10404621" y="1679088"/>
              <a:ext cx="1897073" cy="663189"/>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9AF35B8-2BA3-7A10-1DB0-5008C36BCC7B}"/>
                </a:ext>
              </a:extLst>
            </p:cNvPr>
            <p:cNvSpPr/>
            <p:nvPr/>
          </p:nvSpPr>
          <p:spPr>
            <a:xfrm rot="16200000">
              <a:off x="6159416" y="-2067679"/>
              <a:ext cx="907483" cy="8078268"/>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36" name="Straight Arrow Connector 35">
            <a:extLst>
              <a:ext uri="{FF2B5EF4-FFF2-40B4-BE49-F238E27FC236}">
                <a16:creationId xmlns:a16="http://schemas.microsoft.com/office/drawing/2014/main" id="{448579FC-5D87-7DCA-EE46-8384F364886B}"/>
              </a:ext>
            </a:extLst>
          </p:cNvPr>
          <p:cNvCxnSpPr>
            <a:cxnSpLocks/>
          </p:cNvCxnSpPr>
          <p:nvPr/>
        </p:nvCxnSpPr>
        <p:spPr>
          <a:xfrm flipH="1" flipV="1">
            <a:off x="7675658" y="2093602"/>
            <a:ext cx="0" cy="2780056"/>
          </a:xfrm>
          <a:prstGeom prst="straightConnector1">
            <a:avLst/>
          </a:prstGeom>
          <a:ln w="57150">
            <a:solidFill>
              <a:srgbClr val="C00000"/>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160D35-AD39-A0F9-0C3B-301AD5A67FDB}"/>
                  </a:ext>
                </a:extLst>
              </p:cNvPr>
              <p:cNvSpPr txBox="1"/>
              <p:nvPr/>
            </p:nvSpPr>
            <p:spPr>
              <a:xfrm>
                <a:off x="918478" y="3429000"/>
                <a:ext cx="5905206" cy="6674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𝑰𝒏𝒕𝒆𝒓𝒇𝒆𝒓𝒆𝒏𝒄𝒆</m:t>
                      </m:r>
                      <m:r>
                        <a:rPr lang="en-US" b="1" i="1" smtClean="0">
                          <a:latin typeface="Cambria Math" panose="02040503050406030204" pitchFamily="18" charset="0"/>
                        </a:rPr>
                        <m:t> </m:t>
                      </m:r>
                      <m:r>
                        <a:rPr lang="en-US" b="1" i="1" smtClean="0">
                          <a:latin typeface="Cambria Math" panose="02040503050406030204" pitchFamily="18" charset="0"/>
                        </a:rPr>
                        <m:t>𝒍𝒆𝒗𝒆𝒍</m:t>
                      </m:r>
                      <m:r>
                        <a:rPr lang="en-US" b="1" i="1" smtClean="0">
                          <a:latin typeface="Cambria Math" panose="02040503050406030204" pitchFamily="18" charset="0"/>
                        </a:rPr>
                        <m:t> </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a:latin typeface="Cambria Math" panose="02040503050406030204" pitchFamily="18" charset="0"/>
                            </a:rPr>
                            <m:t>𝐷𝑒𝑓𝑒𝑟</m:t>
                          </m:r>
                          <m:r>
                            <a:rPr lang="en-US" b="0" i="1">
                              <a:latin typeface="Cambria Math" panose="02040503050406030204" pitchFamily="18" charset="0"/>
                            </a:rPr>
                            <m:t> </m:t>
                          </m:r>
                          <m:r>
                            <a:rPr lang="en-US" b="0" i="1">
                              <a:latin typeface="Cambria Math" panose="02040503050406030204" pitchFamily="18" charset="0"/>
                            </a:rPr>
                            <m:t>𝑡𝑖𝑚𝑒</m:t>
                          </m:r>
                        </m:num>
                        <m:den>
                          <m:r>
                            <a:rPr lang="en-US" b="0" i="1" smtClean="0">
                              <a:latin typeface="Cambria Math" panose="02040503050406030204" pitchFamily="18" charset="0"/>
                            </a:rPr>
                            <m:t>𝐸𝑥𝑒𝑐𝑢𝑡𝑖𝑜𝑛</m:t>
                          </m:r>
                          <m:r>
                            <a:rPr lang="en-US" b="0" i="1" smtClean="0">
                              <a:latin typeface="Cambria Math" panose="02040503050406030204" pitchFamily="18" charset="0"/>
                            </a:rPr>
                            <m:t> </m:t>
                          </m:r>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a:latin typeface="Cambria Math" panose="02040503050406030204" pitchFamily="18" charset="0"/>
                            </a:rPr>
                            <m:t>𝐷𝑒𝑓𝑒𝑟</m:t>
                          </m:r>
                          <m:r>
                            <a:rPr lang="en-US" b="0" i="1">
                              <a:latin typeface="Cambria Math" panose="02040503050406030204" pitchFamily="18" charset="0"/>
                            </a:rPr>
                            <m:t> </m:t>
                          </m:r>
                          <m:r>
                            <a:rPr lang="en-US" b="0" i="1">
                              <a:latin typeface="Cambria Math" panose="02040503050406030204" pitchFamily="18" charset="0"/>
                            </a:rPr>
                            <m:t>𝑡𝑖𝑚𝑒</m:t>
                          </m:r>
                        </m:den>
                      </m:f>
                    </m:oMath>
                  </m:oMathPara>
                </a14:m>
                <a:endParaRPr lang="en-US"/>
              </a:p>
            </p:txBody>
          </p:sp>
        </mc:Choice>
        <mc:Fallback xmlns="">
          <p:sp>
            <p:nvSpPr>
              <p:cNvPr id="40" name="TextBox 39">
                <a:extLst>
                  <a:ext uri="{FF2B5EF4-FFF2-40B4-BE49-F238E27FC236}">
                    <a16:creationId xmlns:a16="http://schemas.microsoft.com/office/drawing/2014/main" id="{B0160D35-AD39-A0F9-0C3B-301AD5A67FDB}"/>
                  </a:ext>
                </a:extLst>
              </p:cNvPr>
              <p:cNvSpPr txBox="1">
                <a:spLocks noRot="1" noChangeAspect="1" noMove="1" noResize="1" noEditPoints="1" noAdjustHandles="1" noChangeArrowheads="1" noChangeShapeType="1" noTextEdit="1"/>
              </p:cNvSpPr>
              <p:nvPr/>
            </p:nvSpPr>
            <p:spPr>
              <a:xfrm>
                <a:off x="918478" y="3429000"/>
                <a:ext cx="5905206" cy="66749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Content Placeholder 3">
                <a:extLst>
                  <a:ext uri="{FF2B5EF4-FFF2-40B4-BE49-F238E27FC236}">
                    <a16:creationId xmlns:a16="http://schemas.microsoft.com/office/drawing/2014/main" id="{0BE3BE79-D8F2-A9FB-5229-19B7458B15DB}"/>
                  </a:ext>
                </a:extLst>
              </p:cNvPr>
              <p:cNvSpPr>
                <a:spLocks noGrp="1"/>
              </p:cNvSpPr>
              <p:nvPr>
                <p:ph idx="1"/>
              </p:nvPr>
            </p:nvSpPr>
            <p:spPr>
              <a:xfrm>
                <a:off x="2574023" y="4961722"/>
                <a:ext cx="8362403" cy="757130"/>
              </a:xfrm>
              <a:prstGeom prst="rect">
                <a:avLst/>
              </a:prstGeom>
            </p:spPr>
            <p:txBody>
              <a:bodyPr wrap="square">
                <a:spAutoFit/>
              </a:bodyPr>
              <a:lstStyle/>
              <a:p>
                <a:pPr marL="2686050" indent="-2686050">
                  <a:buNone/>
                </a:pPr>
                <a:r>
                  <a:rPr lang="en-US" sz="2400" b="1"/>
                  <a:t>Worse-case analysis</a:t>
                </a:r>
                <a:r>
                  <a:rPr lang="en-US" sz="2400"/>
                  <a:t>: if current </a:t>
                </a:r>
                <a14:m>
                  <m:oMath xmlns:m="http://schemas.openxmlformats.org/officeDocument/2006/math">
                    <m:r>
                      <a:rPr lang="en-US" sz="2400" b="1" i="1">
                        <a:latin typeface="Cambria Math" panose="02040503050406030204" pitchFamily="18" charset="0"/>
                      </a:rPr>
                      <m:t>𝑰𝒏𝒕𝒆𝒓𝒇𝒆𝒓𝒆𝒏𝒄𝒆</m:t>
                    </m:r>
                    <m:r>
                      <a:rPr lang="en-US" sz="2400" b="1" i="1">
                        <a:latin typeface="Cambria Math" panose="02040503050406030204" pitchFamily="18" charset="0"/>
                      </a:rPr>
                      <m:t> </m:t>
                    </m:r>
                    <m:r>
                      <a:rPr lang="en-US" sz="2400" b="1" i="1">
                        <a:latin typeface="Cambria Math" panose="02040503050406030204" pitchFamily="18" charset="0"/>
                      </a:rPr>
                      <m:t>𝒍𝒆𝒗𝒆𝒍</m:t>
                    </m:r>
                  </m:oMath>
                </a14:m>
                <a:r>
                  <a:rPr lang="en-US" sz="2400"/>
                  <a:t> is larger than isolation goal, it’s time to take action </a:t>
                </a:r>
                <a:endParaRPr lang="en-US" sz="1800"/>
              </a:p>
            </p:txBody>
          </p:sp>
        </mc:Choice>
        <mc:Fallback xmlns="">
          <p:sp>
            <p:nvSpPr>
              <p:cNvPr id="45" name="Content Placeholder 3">
                <a:extLst>
                  <a:ext uri="{FF2B5EF4-FFF2-40B4-BE49-F238E27FC236}">
                    <a16:creationId xmlns:a16="http://schemas.microsoft.com/office/drawing/2014/main" id="{0BE3BE79-D8F2-A9FB-5229-19B7458B15DB}"/>
                  </a:ext>
                </a:extLst>
              </p:cNvPr>
              <p:cNvSpPr>
                <a:spLocks noGrp="1" noRot="1" noChangeAspect="1" noMove="1" noResize="1" noEditPoints="1" noAdjustHandles="1" noChangeArrowheads="1" noChangeShapeType="1" noTextEdit="1"/>
              </p:cNvSpPr>
              <p:nvPr>
                <p:ph idx="1"/>
              </p:nvPr>
            </p:nvSpPr>
            <p:spPr>
              <a:xfrm>
                <a:off x="2574023" y="4961722"/>
                <a:ext cx="8362403" cy="757130"/>
              </a:xfrm>
              <a:prstGeom prst="rect">
                <a:avLst/>
              </a:prstGeom>
              <a:blipFill>
                <a:blip r:embed="rId10"/>
                <a:stretch>
                  <a:fillRect l="-1093" t="-11290" b="-17742"/>
                </a:stretch>
              </a:blipFill>
            </p:spPr>
            <p:txBody>
              <a:bodyPr/>
              <a:lstStyle/>
              <a:p>
                <a:r>
                  <a:rPr lang="en-US">
                    <a:noFill/>
                  </a:rPr>
                  <a:t> </a:t>
                </a:r>
              </a:p>
            </p:txBody>
          </p:sp>
        </mc:Fallback>
      </mc:AlternateContent>
    </p:spTree>
    <p:extLst>
      <p:ext uri="{BB962C8B-B14F-4D97-AF65-F5344CB8AC3E}">
        <p14:creationId xmlns:p14="http://schemas.microsoft.com/office/powerpoint/2010/main" val="2624041953"/>
      </p:ext>
    </p:extLst>
  </p:cSld>
  <p:clrMapOvr>
    <a:masterClrMapping/>
  </p:clrMapOvr>
  <mc:AlternateContent xmlns:mc="http://schemas.openxmlformats.org/markup-compatibility/2006" xmlns:p14="http://schemas.microsoft.com/office/powerpoint/2010/main">
    <mc:Choice Requires="p14">
      <p:transition spd="slow" p14:dur="2000" advTm="41781"/>
    </mc:Choice>
    <mc:Fallback xmlns="">
      <p:transition spd="slow" advTm="417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dissolve">
                                      <p:cBhvr>
                                        <p:cTn id="10" dur="500"/>
                                        <p:tgtEl>
                                          <p:spTgt spid="2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dissolve">
                                      <p:cBhvr>
                                        <p:cTn id="13" dur="500"/>
                                        <p:tgtEl>
                                          <p:spTgt spid="2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dissolve">
                                      <p:cBhvr>
                                        <p:cTn id="16" dur="500"/>
                                        <p:tgtEl>
                                          <p:spTgt spid="2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dissolve">
                                      <p:cBhvr>
                                        <p:cTn id="19" dur="500"/>
                                        <p:tgtEl>
                                          <p:spTgt spid="3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dissolve">
                                      <p:cBhvr>
                                        <p:cTn id="22" dur="500"/>
                                        <p:tgtEl>
                                          <p:spTgt spid="3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dissolve">
                                      <p:cBhvr>
                                        <p:cTn id="25" dur="500"/>
                                        <p:tgtEl>
                                          <p:spTgt spid="4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dissolve">
                                      <p:cBhvr>
                                        <p:cTn id="28" dur="500"/>
                                        <p:tgtEl>
                                          <p:spTgt spid="45"/>
                                        </p:tgtEl>
                                      </p:cBhvr>
                                    </p:animEffect>
                                  </p:childTnLst>
                                </p:cTn>
                              </p:par>
                              <p:par>
                                <p:cTn id="29" presetID="9"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dissolve">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8" grpId="0"/>
      <p:bldP spid="29" grpId="0"/>
      <p:bldP spid="30" grpId="0"/>
      <p:bldP spid="31" grpId="0"/>
      <p:bldP spid="40" grpId="0"/>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5"/>
            <a:ext cx="12191999" cy="1188720"/>
          </a:xfrm>
        </p:spPr>
        <p:txBody>
          <a:bodyPr/>
          <a:lstStyle/>
          <a:p>
            <a:pPr algn="ctr"/>
            <a:r>
              <a:rPr lang="en-US" b="1">
                <a:latin typeface="helvetica" panose="020B0604020202020204" pitchFamily="34" charset="0"/>
                <a:cs typeface="helvetica" panose="020B0604020202020204" pitchFamily="34" charset="0"/>
              </a:rPr>
              <a:t>Competitor Map + Holder Map</a:t>
            </a:r>
          </a:p>
        </p:txBody>
      </p:sp>
      <p:sp>
        <p:nvSpPr>
          <p:cNvPr id="5" name="灯片编号占位符 4">
            <a:extLst>
              <a:ext uri="{FF2B5EF4-FFF2-40B4-BE49-F238E27FC236}">
                <a16:creationId xmlns:a16="http://schemas.microsoft.com/office/drawing/2014/main" id="{798EFFA5-D5A7-ADAC-614A-E2C5347CBD2D}"/>
              </a:ext>
            </a:extLst>
          </p:cNvPr>
          <p:cNvSpPr>
            <a:spLocks noGrp="1"/>
          </p:cNvSpPr>
          <p:nvPr>
            <p:ph type="sldNum" sz="quarter" idx="12"/>
          </p:nvPr>
        </p:nvSpPr>
        <p:spPr/>
        <p:txBody>
          <a:bodyPr/>
          <a:lstStyle/>
          <a:p>
            <a:fld id="{330EA680-D336-4FF7-8B7A-9848BB0A1C32}" type="slidenum">
              <a:rPr lang="en-US" smtClean="0"/>
              <a:t>24</a:t>
            </a:fld>
            <a:endParaRPr lang="en-US"/>
          </a:p>
        </p:txBody>
      </p:sp>
      <p:sp>
        <p:nvSpPr>
          <p:cNvPr id="6" name="任意多边形: 形状 54">
            <a:extLst>
              <a:ext uri="{FF2B5EF4-FFF2-40B4-BE49-F238E27FC236}">
                <a16:creationId xmlns:a16="http://schemas.microsoft.com/office/drawing/2014/main" id="{1A72DA88-4891-2A37-A362-D30B4FD49C65}"/>
              </a:ext>
            </a:extLst>
          </p:cNvPr>
          <p:cNvSpPr/>
          <p:nvPr/>
        </p:nvSpPr>
        <p:spPr>
          <a:xfrm rot="10800000">
            <a:off x="526877" y="1914848"/>
            <a:ext cx="4686219" cy="27434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Oval 8">
            <a:extLst>
              <a:ext uri="{FF2B5EF4-FFF2-40B4-BE49-F238E27FC236}">
                <a16:creationId xmlns:a16="http://schemas.microsoft.com/office/drawing/2014/main" id="{BD5DE8A4-2E36-104E-264E-A447195A1269}"/>
              </a:ext>
            </a:extLst>
          </p:cNvPr>
          <p:cNvSpPr/>
          <p:nvPr/>
        </p:nvSpPr>
        <p:spPr>
          <a:xfrm rot="16200000">
            <a:off x="787268" y="1852250"/>
            <a:ext cx="182880" cy="182880"/>
          </a:xfrm>
          <a:prstGeom prst="ellipse">
            <a:avLst/>
          </a:prstGeom>
          <a:solidFill>
            <a:srgbClr val="2E75B6"/>
          </a:solidFill>
          <a:ln>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83F3747-552E-5FA2-406E-533A670F20D4}"/>
              </a:ext>
            </a:extLst>
          </p:cNvPr>
          <p:cNvSpPr/>
          <p:nvPr/>
        </p:nvSpPr>
        <p:spPr>
          <a:xfrm rot="16200000">
            <a:off x="4114448" y="1863484"/>
            <a:ext cx="182880" cy="182880"/>
          </a:xfrm>
          <a:prstGeom prst="ellipse">
            <a:avLst/>
          </a:prstGeom>
          <a:solidFill>
            <a:srgbClr val="C55A11"/>
          </a:solidFill>
          <a:ln>
            <a:solidFill>
              <a:srgbClr val="C55A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27FFE0F-2B8D-E943-649A-C53AA3C9B9EA}"/>
              </a:ext>
            </a:extLst>
          </p:cNvPr>
          <p:cNvSpPr txBox="1"/>
          <p:nvPr/>
        </p:nvSpPr>
        <p:spPr>
          <a:xfrm>
            <a:off x="2371110" y="990764"/>
            <a:ext cx="1743338" cy="461665"/>
          </a:xfrm>
          <a:prstGeom prst="rect">
            <a:avLst/>
          </a:prstGeom>
          <a:noFill/>
        </p:spPr>
        <p:txBody>
          <a:bodyPr wrap="square" rtlCol="0">
            <a:spAutoFit/>
          </a:bodyPr>
          <a:lstStyle/>
          <a:p>
            <a:r>
              <a:rPr lang="en-US" sz="2400" err="1">
                <a:solidFill>
                  <a:srgbClr val="7030A0"/>
                </a:solidFill>
              </a:rPr>
              <a:t>pBox</a:t>
            </a:r>
            <a:r>
              <a:rPr lang="en-US" sz="2400">
                <a:solidFill>
                  <a:srgbClr val="7030A0"/>
                </a:solidFill>
              </a:rPr>
              <a:t> A </a:t>
            </a:r>
          </a:p>
        </p:txBody>
      </p:sp>
      <p:sp>
        <p:nvSpPr>
          <p:cNvPr id="18" name="Rectangle 17">
            <a:extLst>
              <a:ext uri="{FF2B5EF4-FFF2-40B4-BE49-F238E27FC236}">
                <a16:creationId xmlns:a16="http://schemas.microsoft.com/office/drawing/2014/main" id="{DC16BFE6-AAE8-945D-F8F3-DDF2A16D63F6}"/>
              </a:ext>
            </a:extLst>
          </p:cNvPr>
          <p:cNvSpPr/>
          <p:nvPr/>
        </p:nvSpPr>
        <p:spPr>
          <a:xfrm rot="16200000">
            <a:off x="2446245" y="-594691"/>
            <a:ext cx="907483" cy="5049128"/>
          </a:xfrm>
          <a:prstGeom prst="rect">
            <a:avLst/>
          </a:prstGeom>
          <a:noFill/>
          <a:ln w="38100">
            <a:solidFill>
              <a:srgbClr val="7030A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19" name="Group 18">
            <a:extLst>
              <a:ext uri="{FF2B5EF4-FFF2-40B4-BE49-F238E27FC236}">
                <a16:creationId xmlns:a16="http://schemas.microsoft.com/office/drawing/2014/main" id="{8364AA98-2565-F2ED-F578-DF77EE92F951}"/>
              </a:ext>
            </a:extLst>
          </p:cNvPr>
          <p:cNvGrpSpPr/>
          <p:nvPr/>
        </p:nvGrpSpPr>
        <p:grpSpPr>
          <a:xfrm>
            <a:off x="275377" y="5521146"/>
            <a:ext cx="1936559" cy="1200329"/>
            <a:chOff x="3239168" y="5589627"/>
            <a:chExt cx="1936559" cy="1200329"/>
          </a:xfrm>
        </p:grpSpPr>
        <p:sp>
          <p:nvSpPr>
            <p:cNvPr id="20" name="TextBox 19">
              <a:extLst>
                <a:ext uri="{FF2B5EF4-FFF2-40B4-BE49-F238E27FC236}">
                  <a16:creationId xmlns:a16="http://schemas.microsoft.com/office/drawing/2014/main" id="{DF23B4B1-208F-EE86-36A0-586EB923FF93}"/>
                </a:ext>
              </a:extLst>
            </p:cNvPr>
            <p:cNvSpPr txBox="1"/>
            <p:nvPr/>
          </p:nvSpPr>
          <p:spPr>
            <a:xfrm>
              <a:off x="3239168" y="5589627"/>
              <a:ext cx="1936559" cy="1200329"/>
            </a:xfrm>
            <a:prstGeom prst="rect">
              <a:avLst/>
            </a:prstGeom>
            <a:noFill/>
            <a:ln w="19050">
              <a:solidFill>
                <a:schemeClr val="tx1"/>
              </a:solidFill>
            </a:ln>
          </p:spPr>
          <p:txBody>
            <a:bodyPr wrap="square" rtlCol="0">
              <a:spAutoFit/>
            </a:bodyPr>
            <a:lstStyle/>
            <a:p>
              <a:pPr marL="571500"/>
              <a:r>
                <a:rPr lang="en-US"/>
                <a:t>PREPARE</a:t>
              </a:r>
            </a:p>
            <a:p>
              <a:pPr marL="571500"/>
              <a:r>
                <a:rPr lang="en-US"/>
                <a:t>ENTER</a:t>
              </a:r>
            </a:p>
            <a:p>
              <a:pPr marL="571500"/>
              <a:r>
                <a:rPr lang="en-US"/>
                <a:t>HOLD</a:t>
              </a:r>
            </a:p>
            <a:p>
              <a:pPr marL="571500"/>
              <a:r>
                <a:rPr lang="en-US"/>
                <a:t>UNHOLD</a:t>
              </a:r>
            </a:p>
          </p:txBody>
        </p:sp>
        <p:sp>
          <p:nvSpPr>
            <p:cNvPr id="21" name="Rectangle 20">
              <a:extLst>
                <a:ext uri="{FF2B5EF4-FFF2-40B4-BE49-F238E27FC236}">
                  <a16:creationId xmlns:a16="http://schemas.microsoft.com/office/drawing/2014/main" id="{C122455D-6730-E100-B08E-9EA08F8DD012}"/>
                </a:ext>
              </a:extLst>
            </p:cNvPr>
            <p:cNvSpPr/>
            <p:nvPr/>
          </p:nvSpPr>
          <p:spPr>
            <a:xfrm>
              <a:off x="3385299" y="5703229"/>
              <a:ext cx="457200" cy="182880"/>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lumMod val="75000"/>
                  </a:schemeClr>
                </a:solidFill>
              </a:endParaRPr>
            </a:p>
          </p:txBody>
        </p:sp>
        <p:sp>
          <p:nvSpPr>
            <p:cNvPr id="22" name="Rectangle 21">
              <a:extLst>
                <a:ext uri="{FF2B5EF4-FFF2-40B4-BE49-F238E27FC236}">
                  <a16:creationId xmlns:a16="http://schemas.microsoft.com/office/drawing/2014/main" id="{274A4120-C7C5-890B-406E-90B87E3CE943}"/>
                </a:ext>
              </a:extLst>
            </p:cNvPr>
            <p:cNvSpPr/>
            <p:nvPr/>
          </p:nvSpPr>
          <p:spPr>
            <a:xfrm>
              <a:off x="3377880" y="6245901"/>
              <a:ext cx="457200" cy="182880"/>
            </a:xfrm>
            <a:prstGeom prst="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Rectangle 22">
              <a:extLst>
                <a:ext uri="{FF2B5EF4-FFF2-40B4-BE49-F238E27FC236}">
                  <a16:creationId xmlns:a16="http://schemas.microsoft.com/office/drawing/2014/main" id="{94825294-E919-A743-9986-882AE5E9030D}"/>
                </a:ext>
              </a:extLst>
            </p:cNvPr>
            <p:cNvSpPr/>
            <p:nvPr/>
          </p:nvSpPr>
          <p:spPr>
            <a:xfrm>
              <a:off x="3377880" y="5984076"/>
              <a:ext cx="457200" cy="182880"/>
            </a:xfrm>
            <a:prstGeom prst="rect">
              <a:avLst/>
            </a:prstGeom>
            <a:solidFill>
              <a:schemeClr val="bg1">
                <a:lumMod val="6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4" name="Rectangle 23">
              <a:extLst>
                <a:ext uri="{FF2B5EF4-FFF2-40B4-BE49-F238E27FC236}">
                  <a16:creationId xmlns:a16="http://schemas.microsoft.com/office/drawing/2014/main" id="{91E4F86F-288C-09DC-2817-8BD0B39EE0F5}"/>
                </a:ext>
              </a:extLst>
            </p:cNvPr>
            <p:cNvSpPr/>
            <p:nvPr/>
          </p:nvSpPr>
          <p:spPr>
            <a:xfrm>
              <a:off x="3385299" y="6519378"/>
              <a:ext cx="457200" cy="182880"/>
            </a:xfrm>
            <a:prstGeom prst="rect">
              <a:avLst/>
            </a:prstGeom>
            <a:solidFill>
              <a:srgbClr val="C55A1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7" name="任意多边形: 形状 54">
            <a:extLst>
              <a:ext uri="{FF2B5EF4-FFF2-40B4-BE49-F238E27FC236}">
                <a16:creationId xmlns:a16="http://schemas.microsoft.com/office/drawing/2014/main" id="{1DC3AFA2-BDE7-FFC9-CEA6-8C93843DF7C2}"/>
              </a:ext>
            </a:extLst>
          </p:cNvPr>
          <p:cNvSpPr/>
          <p:nvPr/>
        </p:nvSpPr>
        <p:spPr>
          <a:xfrm rot="10800000">
            <a:off x="5962480" y="1918879"/>
            <a:ext cx="2055799" cy="27434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Oval 27">
            <a:extLst>
              <a:ext uri="{FF2B5EF4-FFF2-40B4-BE49-F238E27FC236}">
                <a16:creationId xmlns:a16="http://schemas.microsoft.com/office/drawing/2014/main" id="{FD33F81E-1BFE-B785-B5E7-F68C0B2862BC}"/>
              </a:ext>
            </a:extLst>
          </p:cNvPr>
          <p:cNvSpPr/>
          <p:nvPr/>
        </p:nvSpPr>
        <p:spPr>
          <a:xfrm rot="16200000">
            <a:off x="5979893" y="1839891"/>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F82B190-2F9D-4916-F523-323127618BB0}"/>
              </a:ext>
            </a:extLst>
          </p:cNvPr>
          <p:cNvSpPr txBox="1"/>
          <p:nvPr/>
        </p:nvSpPr>
        <p:spPr>
          <a:xfrm>
            <a:off x="6468899" y="977600"/>
            <a:ext cx="1207859" cy="461665"/>
          </a:xfrm>
          <a:prstGeom prst="rect">
            <a:avLst/>
          </a:prstGeom>
          <a:noFill/>
        </p:spPr>
        <p:txBody>
          <a:bodyPr wrap="square" rtlCol="0">
            <a:spAutoFit/>
          </a:bodyPr>
          <a:lstStyle/>
          <a:p>
            <a:r>
              <a:rPr lang="en-US" sz="2400" err="1">
                <a:solidFill>
                  <a:srgbClr val="C55A11"/>
                </a:solidFill>
              </a:rPr>
              <a:t>pBox</a:t>
            </a:r>
            <a:r>
              <a:rPr lang="en-US" sz="2400">
                <a:solidFill>
                  <a:srgbClr val="C55A11"/>
                </a:solidFill>
              </a:rPr>
              <a:t> B </a:t>
            </a:r>
          </a:p>
        </p:txBody>
      </p:sp>
      <p:sp>
        <p:nvSpPr>
          <p:cNvPr id="33" name="Rectangle 32">
            <a:extLst>
              <a:ext uri="{FF2B5EF4-FFF2-40B4-BE49-F238E27FC236}">
                <a16:creationId xmlns:a16="http://schemas.microsoft.com/office/drawing/2014/main" id="{6482C4F2-3B77-39D6-6BB0-97F567066571}"/>
              </a:ext>
            </a:extLst>
          </p:cNvPr>
          <p:cNvSpPr/>
          <p:nvPr/>
        </p:nvSpPr>
        <p:spPr>
          <a:xfrm rot="16200000">
            <a:off x="6537999" y="753191"/>
            <a:ext cx="907483" cy="2361426"/>
          </a:xfrm>
          <a:prstGeom prst="rect">
            <a:avLst/>
          </a:prstGeom>
          <a:noFill/>
          <a:ln w="38100">
            <a:solidFill>
              <a:srgbClr val="C55A11"/>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060940D8-FD73-CB9D-A521-DE4BB93EB603}"/>
              </a:ext>
            </a:extLst>
          </p:cNvPr>
          <p:cNvSpPr/>
          <p:nvPr/>
        </p:nvSpPr>
        <p:spPr>
          <a:xfrm>
            <a:off x="4059509" y="2642514"/>
            <a:ext cx="1229369" cy="610377"/>
          </a:xfrm>
          <a:prstGeom prst="roundRect">
            <a:avLst>
              <a:gd name="adj" fmla="val 7527"/>
            </a:avLst>
          </a:prstGeom>
          <a:noFill/>
          <a:ln w="57150">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err="1">
                <a:solidFill>
                  <a:srgbClr val="C55A11"/>
                </a:solidFill>
              </a:rPr>
              <a:t>pBox</a:t>
            </a:r>
            <a:r>
              <a:rPr lang="en-US" sz="2400" b="1">
                <a:solidFill>
                  <a:srgbClr val="C55A11"/>
                </a:solidFill>
              </a:rPr>
              <a:t> B</a:t>
            </a:r>
            <a:endParaRPr lang="en-US" sz="2400" b="1">
              <a:solidFill>
                <a:schemeClr val="tx1"/>
              </a:solidFill>
            </a:endParaRPr>
          </a:p>
        </p:txBody>
      </p:sp>
      <p:cxnSp>
        <p:nvCxnSpPr>
          <p:cNvPr id="36" name="Straight Arrow Connector 35">
            <a:extLst>
              <a:ext uri="{FF2B5EF4-FFF2-40B4-BE49-F238E27FC236}">
                <a16:creationId xmlns:a16="http://schemas.microsoft.com/office/drawing/2014/main" id="{EADB4C90-4D45-6CF6-570C-B13E43A536C1}"/>
              </a:ext>
            </a:extLst>
          </p:cNvPr>
          <p:cNvCxnSpPr>
            <a:cxnSpLocks/>
          </p:cNvCxnSpPr>
          <p:nvPr/>
        </p:nvCxnSpPr>
        <p:spPr>
          <a:xfrm>
            <a:off x="3715079" y="2934343"/>
            <a:ext cx="344430" cy="0"/>
          </a:xfrm>
          <a:prstGeom prst="straightConnector1">
            <a:avLst/>
          </a:prstGeom>
          <a:ln w="28575">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E7EF598-1167-0897-FEE4-0131D99BE66F}"/>
              </a:ext>
            </a:extLst>
          </p:cNvPr>
          <p:cNvSpPr txBox="1"/>
          <p:nvPr/>
        </p:nvSpPr>
        <p:spPr>
          <a:xfrm>
            <a:off x="221162" y="3712364"/>
            <a:ext cx="2149948" cy="400110"/>
          </a:xfrm>
          <a:prstGeom prst="rect">
            <a:avLst/>
          </a:prstGeom>
          <a:noFill/>
        </p:spPr>
        <p:txBody>
          <a:bodyPr wrap="none" rtlCol="0">
            <a:spAutoFit/>
          </a:bodyPr>
          <a:lstStyle/>
          <a:p>
            <a:r>
              <a:rPr lang="en-US" sz="2000" b="1">
                <a:latin typeface="helvetica" panose="020B0604020202020204" pitchFamily="34" charset="0"/>
                <a:cs typeface="helvetica" panose="020B0604020202020204" pitchFamily="34" charset="0"/>
              </a:rPr>
              <a:t>Competitor map</a:t>
            </a:r>
          </a:p>
        </p:txBody>
      </p:sp>
      <p:sp>
        <p:nvSpPr>
          <p:cNvPr id="38" name="TextBox 37">
            <a:extLst>
              <a:ext uri="{FF2B5EF4-FFF2-40B4-BE49-F238E27FC236}">
                <a16:creationId xmlns:a16="http://schemas.microsoft.com/office/drawing/2014/main" id="{B5080200-F84E-2033-4A42-3E8D8F308ACE}"/>
              </a:ext>
            </a:extLst>
          </p:cNvPr>
          <p:cNvSpPr txBox="1"/>
          <p:nvPr/>
        </p:nvSpPr>
        <p:spPr>
          <a:xfrm>
            <a:off x="6947520" y="3719994"/>
            <a:ext cx="1595309" cy="400110"/>
          </a:xfrm>
          <a:prstGeom prst="rect">
            <a:avLst/>
          </a:prstGeom>
          <a:noFill/>
        </p:spPr>
        <p:txBody>
          <a:bodyPr wrap="none" rtlCol="0">
            <a:spAutoFit/>
          </a:bodyPr>
          <a:lstStyle/>
          <a:p>
            <a:r>
              <a:rPr lang="en-US" sz="2000" b="1">
                <a:latin typeface="helvetica" panose="020B0604020202020204" pitchFamily="34" charset="0"/>
                <a:cs typeface="helvetica" panose="020B0604020202020204" pitchFamily="34" charset="0"/>
              </a:rPr>
              <a:t>Holder map</a:t>
            </a:r>
          </a:p>
        </p:txBody>
      </p:sp>
      <p:sp>
        <p:nvSpPr>
          <p:cNvPr id="41" name="任意多边形: 形状 54">
            <a:extLst>
              <a:ext uri="{FF2B5EF4-FFF2-40B4-BE49-F238E27FC236}">
                <a16:creationId xmlns:a16="http://schemas.microsoft.com/office/drawing/2014/main" id="{F30353C4-7002-91C5-337C-26322DBE72F4}"/>
              </a:ext>
            </a:extLst>
          </p:cNvPr>
          <p:cNvSpPr/>
          <p:nvPr/>
        </p:nvSpPr>
        <p:spPr>
          <a:xfrm rot="10800000">
            <a:off x="8791629" y="1914849"/>
            <a:ext cx="2055799" cy="274346"/>
          </a:xfrm>
          <a:custGeom>
            <a:avLst/>
            <a:gdLst>
              <a:gd name="connsiteX0" fmla="*/ 69685 w 11262618"/>
              <a:gd name="connsiteY0" fmla="*/ 914693 h 1846088"/>
              <a:gd name="connsiteX1" fmla="*/ 95085 w 11262618"/>
              <a:gd name="connsiteY1" fmla="*/ 855426 h 1846088"/>
              <a:gd name="connsiteX2" fmla="*/ 992552 w 11262618"/>
              <a:gd name="connsiteY2" fmla="*/ 293 h 1846088"/>
              <a:gd name="connsiteX3" fmla="*/ 1906952 w 11262618"/>
              <a:gd name="connsiteY3" fmla="*/ 957026 h 1846088"/>
              <a:gd name="connsiteX4" fmla="*/ 2812885 w 11262618"/>
              <a:gd name="connsiteY4" fmla="*/ 1846026 h 1846088"/>
              <a:gd name="connsiteX5" fmla="*/ 3727285 w 11262618"/>
              <a:gd name="connsiteY5" fmla="*/ 914693 h 1846088"/>
              <a:gd name="connsiteX6" fmla="*/ 4616285 w 11262618"/>
              <a:gd name="connsiteY6" fmla="*/ 17226 h 1846088"/>
              <a:gd name="connsiteX7" fmla="*/ 5547618 w 11262618"/>
              <a:gd name="connsiteY7" fmla="*/ 931626 h 1846088"/>
              <a:gd name="connsiteX8" fmla="*/ 6462018 w 11262618"/>
              <a:gd name="connsiteY8" fmla="*/ 1846026 h 1846088"/>
              <a:gd name="connsiteX9" fmla="*/ 7393352 w 11262618"/>
              <a:gd name="connsiteY9" fmla="*/ 923160 h 1846088"/>
              <a:gd name="connsiteX10" fmla="*/ 8282352 w 11262618"/>
              <a:gd name="connsiteY10" fmla="*/ 293 h 1846088"/>
              <a:gd name="connsiteX11" fmla="*/ 9196752 w 11262618"/>
              <a:gd name="connsiteY11" fmla="*/ 931626 h 1846088"/>
              <a:gd name="connsiteX12" fmla="*/ 10136552 w 11262618"/>
              <a:gd name="connsiteY12" fmla="*/ 1829093 h 1846088"/>
              <a:gd name="connsiteX13" fmla="*/ 11017085 w 11262618"/>
              <a:gd name="connsiteY13" fmla="*/ 1151760 h 1846088"/>
              <a:gd name="connsiteX14" fmla="*/ 11262618 w 11262618"/>
              <a:gd name="connsiteY14" fmla="*/ 923160 h 184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2618" h="1846088">
                <a:moveTo>
                  <a:pt x="69685" y="914693"/>
                </a:moveTo>
                <a:cubicBezTo>
                  <a:pt x="5479" y="961259"/>
                  <a:pt x="-58726" y="1007826"/>
                  <a:pt x="95085" y="855426"/>
                </a:cubicBezTo>
                <a:cubicBezTo>
                  <a:pt x="248896" y="703026"/>
                  <a:pt x="690574" y="-16640"/>
                  <a:pt x="992552" y="293"/>
                </a:cubicBezTo>
                <a:cubicBezTo>
                  <a:pt x="1294530" y="17226"/>
                  <a:pt x="1603563" y="649404"/>
                  <a:pt x="1906952" y="957026"/>
                </a:cubicBezTo>
                <a:cubicBezTo>
                  <a:pt x="2210341" y="1264648"/>
                  <a:pt x="2509496" y="1853081"/>
                  <a:pt x="2812885" y="1846026"/>
                </a:cubicBezTo>
                <a:cubicBezTo>
                  <a:pt x="3116274" y="1838971"/>
                  <a:pt x="3727285" y="914693"/>
                  <a:pt x="3727285" y="914693"/>
                </a:cubicBezTo>
                <a:cubicBezTo>
                  <a:pt x="4027852" y="609893"/>
                  <a:pt x="4312896" y="14404"/>
                  <a:pt x="4616285" y="17226"/>
                </a:cubicBezTo>
                <a:cubicBezTo>
                  <a:pt x="4919674" y="20048"/>
                  <a:pt x="5547618" y="931626"/>
                  <a:pt x="5547618" y="931626"/>
                </a:cubicBezTo>
                <a:cubicBezTo>
                  <a:pt x="5855240" y="1236426"/>
                  <a:pt x="6154396" y="1847437"/>
                  <a:pt x="6462018" y="1846026"/>
                </a:cubicBezTo>
                <a:cubicBezTo>
                  <a:pt x="6769640" y="1844615"/>
                  <a:pt x="7089963" y="1230782"/>
                  <a:pt x="7393352" y="923160"/>
                </a:cubicBezTo>
                <a:cubicBezTo>
                  <a:pt x="7696741" y="615538"/>
                  <a:pt x="7981785" y="-1118"/>
                  <a:pt x="8282352" y="293"/>
                </a:cubicBezTo>
                <a:cubicBezTo>
                  <a:pt x="8582919" y="1704"/>
                  <a:pt x="8887719" y="626826"/>
                  <a:pt x="9196752" y="931626"/>
                </a:cubicBezTo>
                <a:cubicBezTo>
                  <a:pt x="9505785" y="1236426"/>
                  <a:pt x="9833163" y="1792404"/>
                  <a:pt x="10136552" y="1829093"/>
                </a:cubicBezTo>
                <a:cubicBezTo>
                  <a:pt x="10439941" y="1865782"/>
                  <a:pt x="10829407" y="1302749"/>
                  <a:pt x="11017085" y="1151760"/>
                </a:cubicBezTo>
                <a:cubicBezTo>
                  <a:pt x="11204763" y="1000771"/>
                  <a:pt x="11233690" y="961965"/>
                  <a:pt x="11262618" y="92316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val 41">
            <a:extLst>
              <a:ext uri="{FF2B5EF4-FFF2-40B4-BE49-F238E27FC236}">
                <a16:creationId xmlns:a16="http://schemas.microsoft.com/office/drawing/2014/main" id="{2A9AD0CA-23CD-FB9C-76AA-95DDD374DB83}"/>
              </a:ext>
            </a:extLst>
          </p:cNvPr>
          <p:cNvSpPr/>
          <p:nvPr/>
        </p:nvSpPr>
        <p:spPr>
          <a:xfrm rot="16200000">
            <a:off x="9539444" y="1849628"/>
            <a:ext cx="182880" cy="182880"/>
          </a:xfrm>
          <a:prstGeom prst="ellipse">
            <a:avLst/>
          </a:prstGeom>
          <a:solidFill>
            <a:srgbClr val="548235"/>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53E2D0A-C382-F929-7B2D-A8C083F9D0CC}"/>
              </a:ext>
            </a:extLst>
          </p:cNvPr>
          <p:cNvSpPr txBox="1"/>
          <p:nvPr/>
        </p:nvSpPr>
        <p:spPr>
          <a:xfrm>
            <a:off x="9298048" y="973570"/>
            <a:ext cx="1207859" cy="461665"/>
          </a:xfrm>
          <a:prstGeom prst="rect">
            <a:avLst/>
          </a:prstGeom>
          <a:noFill/>
        </p:spPr>
        <p:txBody>
          <a:bodyPr wrap="square" rtlCol="0">
            <a:spAutoFit/>
          </a:bodyPr>
          <a:lstStyle/>
          <a:p>
            <a:r>
              <a:rPr lang="en-US" sz="2400" err="1">
                <a:solidFill>
                  <a:srgbClr val="2E75B6"/>
                </a:solidFill>
              </a:rPr>
              <a:t>pBox</a:t>
            </a:r>
            <a:r>
              <a:rPr lang="en-US" sz="2400">
                <a:solidFill>
                  <a:schemeClr val="accent1">
                    <a:lumMod val="75000"/>
                  </a:schemeClr>
                </a:solidFill>
              </a:rPr>
              <a:t> C </a:t>
            </a:r>
          </a:p>
        </p:txBody>
      </p:sp>
      <p:sp>
        <p:nvSpPr>
          <p:cNvPr id="45" name="Rectangle 44">
            <a:extLst>
              <a:ext uri="{FF2B5EF4-FFF2-40B4-BE49-F238E27FC236}">
                <a16:creationId xmlns:a16="http://schemas.microsoft.com/office/drawing/2014/main" id="{48CECFBF-CB54-FF5B-EB61-D403F5FAF5CD}"/>
              </a:ext>
            </a:extLst>
          </p:cNvPr>
          <p:cNvSpPr/>
          <p:nvPr/>
        </p:nvSpPr>
        <p:spPr>
          <a:xfrm rot="16200000">
            <a:off x="9367148" y="749161"/>
            <a:ext cx="907483" cy="2361426"/>
          </a:xfrm>
          <a:prstGeom prst="rect">
            <a:avLst/>
          </a:prstGeom>
          <a:noFill/>
          <a:ln w="38100">
            <a:solidFill>
              <a:srgbClr val="2E75B6"/>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592D52F6-3923-A0E5-3139-C390DB1FDC57}"/>
              </a:ext>
            </a:extLst>
          </p:cNvPr>
          <p:cNvSpPr txBox="1"/>
          <p:nvPr/>
        </p:nvSpPr>
        <p:spPr>
          <a:xfrm>
            <a:off x="1918028" y="1494152"/>
            <a:ext cx="1458476"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Resource A</a:t>
            </a:r>
          </a:p>
        </p:txBody>
      </p:sp>
      <p:sp>
        <p:nvSpPr>
          <p:cNvPr id="48" name="TextBox 47">
            <a:extLst>
              <a:ext uri="{FF2B5EF4-FFF2-40B4-BE49-F238E27FC236}">
                <a16:creationId xmlns:a16="http://schemas.microsoft.com/office/drawing/2014/main" id="{679D6490-577C-1E84-0A15-8B6F7D9B3095}"/>
              </a:ext>
            </a:extLst>
          </p:cNvPr>
          <p:cNvSpPr txBox="1"/>
          <p:nvPr/>
        </p:nvSpPr>
        <p:spPr>
          <a:xfrm>
            <a:off x="6218282" y="1506076"/>
            <a:ext cx="1458476"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Resource A</a:t>
            </a:r>
          </a:p>
        </p:txBody>
      </p:sp>
      <p:sp>
        <p:nvSpPr>
          <p:cNvPr id="49" name="TextBox 48">
            <a:extLst>
              <a:ext uri="{FF2B5EF4-FFF2-40B4-BE49-F238E27FC236}">
                <a16:creationId xmlns:a16="http://schemas.microsoft.com/office/drawing/2014/main" id="{9D78E97A-B685-E009-AF25-8780012BE897}"/>
              </a:ext>
            </a:extLst>
          </p:cNvPr>
          <p:cNvSpPr txBox="1"/>
          <p:nvPr/>
        </p:nvSpPr>
        <p:spPr>
          <a:xfrm>
            <a:off x="9252962" y="1502046"/>
            <a:ext cx="1458476" cy="369332"/>
          </a:xfrm>
          <a:prstGeom prst="rect">
            <a:avLst/>
          </a:prstGeom>
          <a:noFill/>
        </p:spPr>
        <p:txBody>
          <a:bodyPr wrap="none" rtlCol="0">
            <a:spAutoFit/>
          </a:bodyPr>
          <a:lstStyle/>
          <a:p>
            <a:r>
              <a:rPr lang="en-US" b="1">
                <a:latin typeface="helvetica" panose="020B0604020202020204" pitchFamily="34" charset="0"/>
                <a:cs typeface="helvetica" panose="020B0604020202020204" pitchFamily="34" charset="0"/>
              </a:rPr>
              <a:t>Resource A</a:t>
            </a:r>
          </a:p>
        </p:txBody>
      </p:sp>
      <p:sp>
        <p:nvSpPr>
          <p:cNvPr id="53" name="Rectangle: Rounded Corners 52">
            <a:extLst>
              <a:ext uri="{FF2B5EF4-FFF2-40B4-BE49-F238E27FC236}">
                <a16:creationId xmlns:a16="http://schemas.microsoft.com/office/drawing/2014/main" id="{6B93B9E4-5459-5152-5C8E-B20407272B75}"/>
              </a:ext>
            </a:extLst>
          </p:cNvPr>
          <p:cNvSpPr/>
          <p:nvPr/>
        </p:nvSpPr>
        <p:spPr>
          <a:xfrm>
            <a:off x="2485710" y="2631792"/>
            <a:ext cx="1229369" cy="610377"/>
          </a:xfrm>
          <a:prstGeom prst="roundRect">
            <a:avLst>
              <a:gd name="adj" fmla="val 7527"/>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 A</a:t>
            </a:r>
          </a:p>
        </p:txBody>
      </p:sp>
      <p:sp>
        <p:nvSpPr>
          <p:cNvPr id="54" name="Rectangle: Rounded Corners 53">
            <a:extLst>
              <a:ext uri="{FF2B5EF4-FFF2-40B4-BE49-F238E27FC236}">
                <a16:creationId xmlns:a16="http://schemas.microsoft.com/office/drawing/2014/main" id="{7D2A20A6-2ABE-8215-9E2F-B0344FC03D7E}"/>
              </a:ext>
            </a:extLst>
          </p:cNvPr>
          <p:cNvSpPr/>
          <p:nvPr/>
        </p:nvSpPr>
        <p:spPr>
          <a:xfrm>
            <a:off x="2485710" y="3639461"/>
            <a:ext cx="1229369" cy="610377"/>
          </a:xfrm>
          <a:prstGeom prst="roundRect">
            <a:avLst>
              <a:gd name="adj" fmla="val 7527"/>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 B</a:t>
            </a:r>
          </a:p>
        </p:txBody>
      </p:sp>
      <p:cxnSp>
        <p:nvCxnSpPr>
          <p:cNvPr id="56" name="Straight Connector 55">
            <a:extLst>
              <a:ext uri="{FF2B5EF4-FFF2-40B4-BE49-F238E27FC236}">
                <a16:creationId xmlns:a16="http://schemas.microsoft.com/office/drawing/2014/main" id="{4F2694CE-4996-EF3A-3775-4E55FB9B33FD}"/>
              </a:ext>
            </a:extLst>
          </p:cNvPr>
          <p:cNvCxnSpPr>
            <a:stCxn id="53" idx="2"/>
            <a:endCxn id="54" idx="0"/>
          </p:cNvCxnSpPr>
          <p:nvPr/>
        </p:nvCxnSpPr>
        <p:spPr>
          <a:xfrm>
            <a:off x="3100395" y="3242169"/>
            <a:ext cx="0" cy="397292"/>
          </a:xfrm>
          <a:prstGeom prst="line">
            <a:avLst/>
          </a:prstGeom>
          <a:ln w="57150"/>
        </p:spPr>
        <p:style>
          <a:lnRef idx="1">
            <a:schemeClr val="dk1"/>
          </a:lnRef>
          <a:fillRef idx="0">
            <a:schemeClr val="dk1"/>
          </a:fillRef>
          <a:effectRef idx="0">
            <a:schemeClr val="dk1"/>
          </a:effectRef>
          <a:fontRef idx="minor">
            <a:schemeClr val="tx1"/>
          </a:fontRef>
        </p:style>
      </p:cxnSp>
      <p:sp>
        <p:nvSpPr>
          <p:cNvPr id="57" name="Rectangle: Rounded Corners 56">
            <a:extLst>
              <a:ext uri="{FF2B5EF4-FFF2-40B4-BE49-F238E27FC236}">
                <a16:creationId xmlns:a16="http://schemas.microsoft.com/office/drawing/2014/main" id="{1EB5C32C-CCE9-4698-39E3-CBA016EC1D76}"/>
              </a:ext>
            </a:extLst>
          </p:cNvPr>
          <p:cNvSpPr/>
          <p:nvPr/>
        </p:nvSpPr>
        <p:spPr>
          <a:xfrm>
            <a:off x="2485710" y="4647130"/>
            <a:ext cx="1229369" cy="610377"/>
          </a:xfrm>
          <a:prstGeom prst="roundRect">
            <a:avLst>
              <a:gd name="adj" fmla="val 7527"/>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 C</a:t>
            </a:r>
          </a:p>
        </p:txBody>
      </p:sp>
      <p:cxnSp>
        <p:nvCxnSpPr>
          <p:cNvPr id="58" name="Straight Connector 57">
            <a:extLst>
              <a:ext uri="{FF2B5EF4-FFF2-40B4-BE49-F238E27FC236}">
                <a16:creationId xmlns:a16="http://schemas.microsoft.com/office/drawing/2014/main" id="{C23BCCAF-91D9-0F92-0A65-E2944E72CDD3}"/>
              </a:ext>
            </a:extLst>
          </p:cNvPr>
          <p:cNvCxnSpPr>
            <a:cxnSpLocks/>
            <a:stCxn id="54" idx="2"/>
            <a:endCxn id="57" idx="0"/>
          </p:cNvCxnSpPr>
          <p:nvPr/>
        </p:nvCxnSpPr>
        <p:spPr>
          <a:xfrm>
            <a:off x="3100395" y="4249838"/>
            <a:ext cx="0" cy="397292"/>
          </a:xfrm>
          <a:prstGeom prst="line">
            <a:avLst/>
          </a:prstGeom>
          <a:ln w="57150"/>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FBFB7A9E-DC89-4010-CD11-EB14C478F6F6}"/>
              </a:ext>
            </a:extLst>
          </p:cNvPr>
          <p:cNvSpPr txBox="1"/>
          <p:nvPr/>
        </p:nvSpPr>
        <p:spPr>
          <a:xfrm rot="5400000">
            <a:off x="2956617" y="5454744"/>
            <a:ext cx="441146" cy="400110"/>
          </a:xfrm>
          <a:prstGeom prst="rect">
            <a:avLst/>
          </a:prstGeom>
          <a:noFill/>
        </p:spPr>
        <p:txBody>
          <a:bodyPr wrap="none" rtlCol="0">
            <a:spAutoFit/>
          </a:bodyPr>
          <a:lstStyle/>
          <a:p>
            <a:r>
              <a:rPr lang="en-US" sz="2000" b="1">
                <a:latin typeface="helvetica" panose="020B0604020202020204" pitchFamily="34" charset="0"/>
                <a:cs typeface="helvetica" panose="020B0604020202020204" pitchFamily="34" charset="0"/>
              </a:rPr>
              <a:t>…</a:t>
            </a:r>
          </a:p>
        </p:txBody>
      </p:sp>
      <p:sp>
        <p:nvSpPr>
          <p:cNvPr id="74" name="Rectangle: Rounded Corners 73">
            <a:extLst>
              <a:ext uri="{FF2B5EF4-FFF2-40B4-BE49-F238E27FC236}">
                <a16:creationId xmlns:a16="http://schemas.microsoft.com/office/drawing/2014/main" id="{D34F3CF8-B124-17A0-089C-0CEDD7CDD981}"/>
              </a:ext>
            </a:extLst>
          </p:cNvPr>
          <p:cNvSpPr/>
          <p:nvPr/>
        </p:nvSpPr>
        <p:spPr>
          <a:xfrm>
            <a:off x="8634665" y="2672015"/>
            <a:ext cx="1229369" cy="610377"/>
          </a:xfrm>
          <a:prstGeom prst="roundRect">
            <a:avLst>
              <a:gd name="adj" fmla="val 7527"/>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 A</a:t>
            </a:r>
          </a:p>
        </p:txBody>
      </p:sp>
      <p:sp>
        <p:nvSpPr>
          <p:cNvPr id="75" name="Rectangle: Rounded Corners 74">
            <a:extLst>
              <a:ext uri="{FF2B5EF4-FFF2-40B4-BE49-F238E27FC236}">
                <a16:creationId xmlns:a16="http://schemas.microsoft.com/office/drawing/2014/main" id="{02D31DD7-EE00-50B5-38F2-49C2DDC40AB5}"/>
              </a:ext>
            </a:extLst>
          </p:cNvPr>
          <p:cNvSpPr/>
          <p:nvPr/>
        </p:nvSpPr>
        <p:spPr>
          <a:xfrm>
            <a:off x="8634665" y="3679684"/>
            <a:ext cx="1229369" cy="610377"/>
          </a:xfrm>
          <a:prstGeom prst="roundRect">
            <a:avLst>
              <a:gd name="adj" fmla="val 7527"/>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 B</a:t>
            </a:r>
          </a:p>
        </p:txBody>
      </p:sp>
      <p:cxnSp>
        <p:nvCxnSpPr>
          <p:cNvPr id="76" name="Straight Connector 75">
            <a:extLst>
              <a:ext uri="{FF2B5EF4-FFF2-40B4-BE49-F238E27FC236}">
                <a16:creationId xmlns:a16="http://schemas.microsoft.com/office/drawing/2014/main" id="{65BA1978-7C3D-310C-055D-B56788E92502}"/>
              </a:ext>
            </a:extLst>
          </p:cNvPr>
          <p:cNvCxnSpPr>
            <a:stCxn id="74" idx="2"/>
            <a:endCxn id="75" idx="0"/>
          </p:cNvCxnSpPr>
          <p:nvPr/>
        </p:nvCxnSpPr>
        <p:spPr>
          <a:xfrm>
            <a:off x="9249350" y="3282392"/>
            <a:ext cx="0" cy="397292"/>
          </a:xfrm>
          <a:prstGeom prst="line">
            <a:avLst/>
          </a:prstGeom>
          <a:ln w="57150"/>
        </p:spPr>
        <p:style>
          <a:lnRef idx="1">
            <a:schemeClr val="dk1"/>
          </a:lnRef>
          <a:fillRef idx="0">
            <a:schemeClr val="dk1"/>
          </a:fillRef>
          <a:effectRef idx="0">
            <a:schemeClr val="dk1"/>
          </a:effectRef>
          <a:fontRef idx="minor">
            <a:schemeClr val="tx1"/>
          </a:fontRef>
        </p:style>
      </p:cxnSp>
      <p:sp>
        <p:nvSpPr>
          <p:cNvPr id="77" name="Rectangle: Rounded Corners 76">
            <a:extLst>
              <a:ext uri="{FF2B5EF4-FFF2-40B4-BE49-F238E27FC236}">
                <a16:creationId xmlns:a16="http://schemas.microsoft.com/office/drawing/2014/main" id="{1F96543B-A08C-A4C8-2AF2-DC636669BD95}"/>
              </a:ext>
            </a:extLst>
          </p:cNvPr>
          <p:cNvSpPr/>
          <p:nvPr/>
        </p:nvSpPr>
        <p:spPr>
          <a:xfrm>
            <a:off x="8634665" y="4687353"/>
            <a:ext cx="1229369" cy="610377"/>
          </a:xfrm>
          <a:prstGeom prst="roundRect">
            <a:avLst>
              <a:gd name="adj" fmla="val 7527"/>
            </a:avLst>
          </a:prstGeom>
          <a:noFill/>
          <a:ln w="381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Resource C</a:t>
            </a:r>
          </a:p>
        </p:txBody>
      </p:sp>
      <p:cxnSp>
        <p:nvCxnSpPr>
          <p:cNvPr id="78" name="Straight Connector 77">
            <a:extLst>
              <a:ext uri="{FF2B5EF4-FFF2-40B4-BE49-F238E27FC236}">
                <a16:creationId xmlns:a16="http://schemas.microsoft.com/office/drawing/2014/main" id="{3246F542-60F5-5128-C42C-33DBFDDE51B5}"/>
              </a:ext>
            </a:extLst>
          </p:cNvPr>
          <p:cNvCxnSpPr>
            <a:cxnSpLocks/>
            <a:stCxn id="75" idx="2"/>
            <a:endCxn id="77" idx="0"/>
          </p:cNvCxnSpPr>
          <p:nvPr/>
        </p:nvCxnSpPr>
        <p:spPr>
          <a:xfrm>
            <a:off x="9249350" y="4290061"/>
            <a:ext cx="0" cy="397292"/>
          </a:xfrm>
          <a:prstGeom prst="line">
            <a:avLst/>
          </a:prstGeom>
          <a:ln w="57150"/>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814CEC9C-0FF4-7980-2EEC-6BC6332FBE4D}"/>
              </a:ext>
            </a:extLst>
          </p:cNvPr>
          <p:cNvSpPr txBox="1"/>
          <p:nvPr/>
        </p:nvSpPr>
        <p:spPr>
          <a:xfrm rot="5400000">
            <a:off x="9105572" y="5494967"/>
            <a:ext cx="441146" cy="400110"/>
          </a:xfrm>
          <a:prstGeom prst="rect">
            <a:avLst/>
          </a:prstGeom>
          <a:noFill/>
        </p:spPr>
        <p:txBody>
          <a:bodyPr wrap="none" rtlCol="0">
            <a:spAutoFit/>
          </a:bodyPr>
          <a:lstStyle/>
          <a:p>
            <a:r>
              <a:rPr lang="en-US" sz="2000" b="1">
                <a:latin typeface="helvetica" panose="020B0604020202020204" pitchFamily="34" charset="0"/>
                <a:cs typeface="helvetica" panose="020B0604020202020204" pitchFamily="34" charset="0"/>
              </a:rPr>
              <a:t>…</a:t>
            </a:r>
          </a:p>
        </p:txBody>
      </p:sp>
      <p:sp>
        <p:nvSpPr>
          <p:cNvPr id="82" name="Rectangle: Rounded Corners 81">
            <a:extLst>
              <a:ext uri="{FF2B5EF4-FFF2-40B4-BE49-F238E27FC236}">
                <a16:creationId xmlns:a16="http://schemas.microsoft.com/office/drawing/2014/main" id="{938A0D65-5E42-CC4F-BF74-DABA849ECF83}"/>
              </a:ext>
            </a:extLst>
          </p:cNvPr>
          <p:cNvSpPr/>
          <p:nvPr/>
        </p:nvSpPr>
        <p:spPr>
          <a:xfrm>
            <a:off x="5652342" y="2653403"/>
            <a:ext cx="1229369" cy="610377"/>
          </a:xfrm>
          <a:prstGeom prst="roundRect">
            <a:avLst>
              <a:gd name="adj" fmla="val 7527"/>
            </a:avLst>
          </a:prstGeom>
          <a:noFill/>
          <a:ln w="57150">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err="1">
                <a:solidFill>
                  <a:srgbClr val="2E75B6"/>
                </a:solidFill>
              </a:rPr>
              <a:t>pBox</a:t>
            </a:r>
            <a:r>
              <a:rPr lang="en-US" sz="2400" b="1">
                <a:solidFill>
                  <a:srgbClr val="2E75B6"/>
                </a:solidFill>
              </a:rPr>
              <a:t> C</a:t>
            </a:r>
          </a:p>
        </p:txBody>
      </p:sp>
      <p:cxnSp>
        <p:nvCxnSpPr>
          <p:cNvPr id="83" name="Straight Arrow Connector 82">
            <a:extLst>
              <a:ext uri="{FF2B5EF4-FFF2-40B4-BE49-F238E27FC236}">
                <a16:creationId xmlns:a16="http://schemas.microsoft.com/office/drawing/2014/main" id="{372C27D5-5641-50BD-38C4-2BC9EDD6B90B}"/>
              </a:ext>
            </a:extLst>
          </p:cNvPr>
          <p:cNvCxnSpPr>
            <a:cxnSpLocks/>
          </p:cNvCxnSpPr>
          <p:nvPr/>
        </p:nvCxnSpPr>
        <p:spPr>
          <a:xfrm>
            <a:off x="5307912" y="2945232"/>
            <a:ext cx="344430" cy="0"/>
          </a:xfrm>
          <a:prstGeom prst="straightConnector1">
            <a:avLst/>
          </a:prstGeom>
          <a:ln w="28575">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70212354-7411-2087-C0E2-0611903C352F}"/>
              </a:ext>
            </a:extLst>
          </p:cNvPr>
          <p:cNvSpPr/>
          <p:nvPr/>
        </p:nvSpPr>
        <p:spPr>
          <a:xfrm>
            <a:off x="10232743" y="2677196"/>
            <a:ext cx="1229369" cy="610377"/>
          </a:xfrm>
          <a:prstGeom prst="roundRect">
            <a:avLst>
              <a:gd name="adj" fmla="val 7527"/>
            </a:avLst>
          </a:prstGeom>
          <a:noFill/>
          <a:ln w="57150">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err="1">
                <a:solidFill>
                  <a:srgbClr val="7030A0"/>
                </a:solidFill>
              </a:rPr>
              <a:t>pBox</a:t>
            </a:r>
            <a:r>
              <a:rPr lang="en-US" sz="2400" b="1">
                <a:solidFill>
                  <a:srgbClr val="7030A0"/>
                </a:solidFill>
              </a:rPr>
              <a:t> A</a:t>
            </a:r>
          </a:p>
        </p:txBody>
      </p:sp>
      <p:cxnSp>
        <p:nvCxnSpPr>
          <p:cNvPr id="85" name="Straight Arrow Connector 84">
            <a:extLst>
              <a:ext uri="{FF2B5EF4-FFF2-40B4-BE49-F238E27FC236}">
                <a16:creationId xmlns:a16="http://schemas.microsoft.com/office/drawing/2014/main" id="{6D729080-9C40-E5C8-0ADF-BDDD9E90D844}"/>
              </a:ext>
            </a:extLst>
          </p:cNvPr>
          <p:cNvCxnSpPr>
            <a:cxnSpLocks/>
          </p:cNvCxnSpPr>
          <p:nvPr/>
        </p:nvCxnSpPr>
        <p:spPr>
          <a:xfrm>
            <a:off x="9888313" y="2969025"/>
            <a:ext cx="344430" cy="0"/>
          </a:xfrm>
          <a:prstGeom prst="straightConnector1">
            <a:avLst/>
          </a:prstGeom>
          <a:ln w="28575">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81C7359-FE8A-A28F-F9F5-C3B165E716EF}"/>
              </a:ext>
            </a:extLst>
          </p:cNvPr>
          <p:cNvCxnSpPr>
            <a:cxnSpLocks/>
          </p:cNvCxnSpPr>
          <p:nvPr/>
        </p:nvCxnSpPr>
        <p:spPr>
          <a:xfrm flipV="1">
            <a:off x="4586324" y="3242169"/>
            <a:ext cx="0" cy="1564313"/>
          </a:xfrm>
          <a:prstGeom prst="straightConnector1">
            <a:avLst/>
          </a:prstGeom>
          <a:ln w="57150">
            <a:solidFill>
              <a:schemeClr val="tx1">
                <a:lumMod val="95000"/>
                <a:lumOff val="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2DF42640-CD59-6C0E-C72F-68AD26DD598F}"/>
              </a:ext>
            </a:extLst>
          </p:cNvPr>
          <p:cNvCxnSpPr>
            <a:cxnSpLocks/>
          </p:cNvCxnSpPr>
          <p:nvPr/>
        </p:nvCxnSpPr>
        <p:spPr>
          <a:xfrm flipV="1">
            <a:off x="6303574" y="3242169"/>
            <a:ext cx="0" cy="1564313"/>
          </a:xfrm>
          <a:prstGeom prst="straightConnector1">
            <a:avLst/>
          </a:prstGeom>
          <a:ln w="57150">
            <a:solidFill>
              <a:schemeClr val="tx1">
                <a:lumMod val="95000"/>
                <a:lumOff val="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5C01893E-4DC7-0C7E-4618-C9FC227C5C54}"/>
                  </a:ext>
                </a:extLst>
              </p:cNvPr>
              <p:cNvSpPr txBox="1"/>
              <p:nvPr/>
            </p:nvSpPr>
            <p:spPr>
              <a:xfrm>
                <a:off x="3722635" y="4806482"/>
                <a:ext cx="45205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𝑰𝒏𝒕𝒆𝒓𝒇𝒆𝒓𝒆𝒏𝒄𝒆</m:t>
                      </m:r>
                      <m:r>
                        <a:rPr lang="en-US" b="1" i="1" smtClean="0">
                          <a:latin typeface="Cambria Math" panose="02040503050406030204" pitchFamily="18" charset="0"/>
                        </a:rPr>
                        <m:t> </m:t>
                      </m:r>
                      <m:r>
                        <a:rPr lang="en-US" b="1" i="1" smtClean="0">
                          <a:latin typeface="Cambria Math" panose="02040503050406030204" pitchFamily="18" charset="0"/>
                        </a:rPr>
                        <m:t>𝒍𝒆𝒗𝒆𝒍</m:t>
                      </m:r>
                      <m:r>
                        <a:rPr lang="en-US" b="1" i="1" smtClean="0">
                          <a:latin typeface="Cambria Math" panose="02040503050406030204" pitchFamily="18" charset="0"/>
                        </a:rPr>
                        <m:t>&gt;</m:t>
                      </m:r>
                      <m:r>
                        <a:rPr lang="en-US" b="1" i="1" smtClean="0">
                          <a:latin typeface="Cambria Math" panose="02040503050406030204" pitchFamily="18" charset="0"/>
                        </a:rPr>
                        <m:t>𝒊𝒔𝒐𝒍𝒂𝒕𝒊𝒐𝒏</m:t>
                      </m:r>
                      <m:r>
                        <a:rPr lang="en-US" b="1" i="1" smtClean="0">
                          <a:latin typeface="Cambria Math" panose="02040503050406030204" pitchFamily="18" charset="0"/>
                        </a:rPr>
                        <m:t> </m:t>
                      </m:r>
                      <m:r>
                        <a:rPr lang="en-US" b="1" i="1" smtClean="0">
                          <a:latin typeface="Cambria Math" panose="02040503050406030204" pitchFamily="18" charset="0"/>
                        </a:rPr>
                        <m:t>𝒈𝒐𝒂𝒍</m:t>
                      </m:r>
                      <m:r>
                        <a:rPr lang="en-US" b="1" i="1" smtClean="0">
                          <a:latin typeface="Cambria Math" panose="02040503050406030204" pitchFamily="18" charset="0"/>
                        </a:rPr>
                        <m:t> ?</m:t>
                      </m:r>
                    </m:oMath>
                  </m:oMathPara>
                </a14:m>
                <a:endParaRPr lang="en-US"/>
              </a:p>
            </p:txBody>
          </p:sp>
        </mc:Choice>
        <mc:Fallback xmlns="">
          <p:sp>
            <p:nvSpPr>
              <p:cNvPr id="91" name="TextBox 90">
                <a:extLst>
                  <a:ext uri="{FF2B5EF4-FFF2-40B4-BE49-F238E27FC236}">
                    <a16:creationId xmlns:a16="http://schemas.microsoft.com/office/drawing/2014/main" id="{5C01893E-4DC7-0C7E-4618-C9FC227C5C54}"/>
                  </a:ext>
                </a:extLst>
              </p:cNvPr>
              <p:cNvSpPr txBox="1">
                <a:spLocks noRot="1" noChangeAspect="1" noMove="1" noResize="1" noEditPoints="1" noAdjustHandles="1" noChangeArrowheads="1" noChangeShapeType="1" noTextEdit="1"/>
              </p:cNvSpPr>
              <p:nvPr/>
            </p:nvSpPr>
            <p:spPr>
              <a:xfrm>
                <a:off x="3722635" y="4806482"/>
                <a:ext cx="4520550" cy="369332"/>
              </a:xfrm>
              <a:prstGeom prst="rect">
                <a:avLst/>
              </a:prstGeom>
              <a:blipFill>
                <a:blip r:embed="rId5"/>
                <a:stretch>
                  <a:fillRect b="-13115"/>
                </a:stretch>
              </a:blipFill>
            </p:spPr>
            <p:txBody>
              <a:bodyPr/>
              <a:lstStyle/>
              <a:p>
                <a:r>
                  <a:rPr lang="en-US">
                    <a:noFill/>
                  </a:rPr>
                  <a:t> </a:t>
                </a:r>
              </a:p>
            </p:txBody>
          </p:sp>
        </mc:Fallback>
      </mc:AlternateContent>
      <p:cxnSp>
        <p:nvCxnSpPr>
          <p:cNvPr id="94" name="Straight Arrow Connector 93">
            <a:extLst>
              <a:ext uri="{FF2B5EF4-FFF2-40B4-BE49-F238E27FC236}">
                <a16:creationId xmlns:a16="http://schemas.microsoft.com/office/drawing/2014/main" id="{F6AADA25-DE5F-3458-FAEE-A8766FAF31DC}"/>
              </a:ext>
            </a:extLst>
          </p:cNvPr>
          <p:cNvCxnSpPr>
            <a:cxnSpLocks/>
          </p:cNvCxnSpPr>
          <p:nvPr/>
        </p:nvCxnSpPr>
        <p:spPr>
          <a:xfrm flipV="1">
            <a:off x="5012101" y="3310593"/>
            <a:ext cx="0" cy="1564313"/>
          </a:xfrm>
          <a:prstGeom prst="straightConnector1">
            <a:avLst/>
          </a:prstGeom>
          <a:ln w="57150">
            <a:solidFill>
              <a:srgbClr val="C0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5" name="Arc 94">
            <a:extLst>
              <a:ext uri="{FF2B5EF4-FFF2-40B4-BE49-F238E27FC236}">
                <a16:creationId xmlns:a16="http://schemas.microsoft.com/office/drawing/2014/main" id="{838D02A5-2B55-AD56-55EA-FA82300675D2}"/>
              </a:ext>
            </a:extLst>
          </p:cNvPr>
          <p:cNvSpPr/>
          <p:nvPr/>
        </p:nvSpPr>
        <p:spPr>
          <a:xfrm rot="14490156" flipH="1">
            <a:off x="8069559" y="2467672"/>
            <a:ext cx="3033074" cy="4386936"/>
          </a:xfrm>
          <a:prstGeom prst="arc">
            <a:avLst>
              <a:gd name="adj1" fmla="val 15447902"/>
              <a:gd name="adj2" fmla="val 5943643"/>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34813410"/>
      </p:ext>
    </p:extLst>
  </p:cSld>
  <p:clrMapOvr>
    <a:masterClrMapping/>
  </p:clrMapOvr>
  <mc:AlternateContent xmlns:mc="http://schemas.openxmlformats.org/markup-compatibility/2006" xmlns:p14="http://schemas.microsoft.com/office/powerpoint/2010/main">
    <mc:Choice Requires="p14">
      <p:transition spd="slow" p14:dur="2000" advTm="63428"/>
    </mc:Choice>
    <mc:Fallback xmlns="">
      <p:transition spd="slow" advTm="634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dissolve">
                                      <p:cBhvr>
                                        <p:cTn id="10" dur="500"/>
                                        <p:tgtEl>
                                          <p:spTgt spid="84"/>
                                        </p:tgtEl>
                                      </p:cBhvr>
                                    </p:animEffect>
                                  </p:childTnLst>
                                </p:cTn>
                              </p:par>
                              <p:par>
                                <p:cTn id="11" presetID="9" presetClass="entr" presetSubtype="0" fill="hold" nodeType="withEffect">
                                  <p:stCondLst>
                                    <p:cond delay="0"/>
                                  </p:stCondLst>
                                  <p:childTnLst>
                                    <p:set>
                                      <p:cBhvr>
                                        <p:cTn id="12" dur="1" fill="hold">
                                          <p:stCondLst>
                                            <p:cond delay="0"/>
                                          </p:stCondLst>
                                        </p:cTn>
                                        <p:tgtEl>
                                          <p:spTgt spid="85"/>
                                        </p:tgtEl>
                                        <p:attrNameLst>
                                          <p:attrName>style.visibility</p:attrName>
                                        </p:attrNameLst>
                                      </p:cBhvr>
                                      <p:to>
                                        <p:strVal val="visible"/>
                                      </p:to>
                                    </p:set>
                                    <p:animEffect transition="in" filter="dissolve">
                                      <p:cBhvr>
                                        <p:cTn id="13" dur="500"/>
                                        <p:tgtEl>
                                          <p:spTgt spid="8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dissolve">
                                      <p:cBhvr>
                                        <p:cTn id="18" dur="500"/>
                                        <p:tgtEl>
                                          <p:spTgt spid="2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dissolve">
                                      <p:cBhvr>
                                        <p:cTn id="21" dur="500"/>
                                        <p:tgtEl>
                                          <p:spTgt spid="35"/>
                                        </p:tgtEl>
                                      </p:cBhvr>
                                    </p:animEffect>
                                  </p:childTnLst>
                                </p:cTn>
                              </p:par>
                              <p:par>
                                <p:cTn id="22" presetID="9" presetClass="entr" presetSubtype="0" fill="hold"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dissolve">
                                      <p:cBhvr>
                                        <p:cTn id="24" dur="500"/>
                                        <p:tgtEl>
                                          <p:spTgt spid="36"/>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dissolve">
                                      <p:cBhvr>
                                        <p:cTn id="28" dur="500"/>
                                        <p:tgtEl>
                                          <p:spTgt spid="4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dissolve">
                                      <p:cBhvr>
                                        <p:cTn id="31" dur="500"/>
                                        <p:tgtEl>
                                          <p:spTgt spid="82"/>
                                        </p:tgtEl>
                                      </p:cBhvr>
                                    </p:animEffect>
                                  </p:childTnLst>
                                </p:cTn>
                              </p:par>
                              <p:par>
                                <p:cTn id="32" presetID="9"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dissolve">
                                      <p:cBhvr>
                                        <p:cTn id="34" dur="500"/>
                                        <p:tgtEl>
                                          <p:spTgt spid="8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dissolve">
                                      <p:cBhvr>
                                        <p:cTn id="39" dur="500"/>
                                        <p:tgtEl>
                                          <p:spTgt spid="10"/>
                                        </p:tgtEl>
                                      </p:cBhvr>
                                    </p:animEffect>
                                  </p:childTnLst>
                                </p:cTn>
                              </p:par>
                              <p:par>
                                <p:cTn id="40" presetID="9" presetClass="entr" presetSubtype="0" fill="hold" nodeType="withEffect">
                                  <p:stCondLst>
                                    <p:cond delay="0"/>
                                  </p:stCondLst>
                                  <p:childTnLst>
                                    <p:set>
                                      <p:cBhvr>
                                        <p:cTn id="41" dur="1" fill="hold">
                                          <p:stCondLst>
                                            <p:cond delay="0"/>
                                          </p:stCondLst>
                                        </p:cTn>
                                        <p:tgtEl>
                                          <p:spTgt spid="86"/>
                                        </p:tgtEl>
                                        <p:attrNameLst>
                                          <p:attrName>style.visibility</p:attrName>
                                        </p:attrNameLst>
                                      </p:cBhvr>
                                      <p:to>
                                        <p:strVal val="visible"/>
                                      </p:to>
                                    </p:set>
                                    <p:animEffect transition="in" filter="dissolve">
                                      <p:cBhvr>
                                        <p:cTn id="42" dur="500"/>
                                        <p:tgtEl>
                                          <p:spTgt spid="86"/>
                                        </p:tgtEl>
                                      </p:cBhvr>
                                    </p:animEffect>
                                  </p:childTnLst>
                                </p:cTn>
                              </p:par>
                              <p:par>
                                <p:cTn id="43" presetID="9" presetClass="entr" presetSubtype="0" fill="hold" nodeType="withEffect">
                                  <p:stCondLst>
                                    <p:cond delay="0"/>
                                  </p:stCondLst>
                                  <p:childTnLst>
                                    <p:set>
                                      <p:cBhvr>
                                        <p:cTn id="44" dur="1" fill="hold">
                                          <p:stCondLst>
                                            <p:cond delay="0"/>
                                          </p:stCondLst>
                                        </p:cTn>
                                        <p:tgtEl>
                                          <p:spTgt spid="89"/>
                                        </p:tgtEl>
                                        <p:attrNameLst>
                                          <p:attrName>style.visibility</p:attrName>
                                        </p:attrNameLst>
                                      </p:cBhvr>
                                      <p:to>
                                        <p:strVal val="visible"/>
                                      </p:to>
                                    </p:set>
                                    <p:animEffect transition="in" filter="dissolve">
                                      <p:cBhvr>
                                        <p:cTn id="45" dur="500"/>
                                        <p:tgtEl>
                                          <p:spTgt spid="89"/>
                                        </p:tgtEl>
                                      </p:cBhvr>
                                    </p:animEffect>
                                  </p:childTnLst>
                                </p:cTn>
                              </p:par>
                              <p:par>
                                <p:cTn id="46" presetID="9" presetClass="entr" presetSubtype="0" fill="hold" nodeType="withEffect">
                                  <p:stCondLst>
                                    <p:cond delay="0"/>
                                  </p:stCondLst>
                                  <p:childTnLst>
                                    <p:set>
                                      <p:cBhvr>
                                        <p:cTn id="47" dur="1" fill="hold">
                                          <p:stCondLst>
                                            <p:cond delay="0"/>
                                          </p:stCondLst>
                                        </p:cTn>
                                        <p:tgtEl>
                                          <p:spTgt spid="91">
                                            <p:txEl>
                                              <p:pRg st="0" end="0"/>
                                            </p:txEl>
                                          </p:spTgt>
                                        </p:tgtEl>
                                        <p:attrNameLst>
                                          <p:attrName>style.visibility</p:attrName>
                                        </p:attrNameLst>
                                      </p:cBhvr>
                                      <p:to>
                                        <p:strVal val="visible"/>
                                      </p:to>
                                    </p:set>
                                    <p:animEffect transition="in" filter="dissolve">
                                      <p:cBhvr>
                                        <p:cTn id="48" dur="500"/>
                                        <p:tgtEl>
                                          <p:spTgt spid="91">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94"/>
                                        </p:tgtEl>
                                        <p:attrNameLst>
                                          <p:attrName>style.visibility</p:attrName>
                                        </p:attrNameLst>
                                      </p:cBhvr>
                                      <p:to>
                                        <p:strVal val="visible"/>
                                      </p:to>
                                    </p:set>
                                    <p:animEffect transition="in" filter="dissolve">
                                      <p:cBhvr>
                                        <p:cTn id="53" dur="500"/>
                                        <p:tgtEl>
                                          <p:spTgt spid="94"/>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95"/>
                                        </p:tgtEl>
                                        <p:attrNameLst>
                                          <p:attrName>style.visibility</p:attrName>
                                        </p:attrNameLst>
                                      </p:cBhvr>
                                      <p:to>
                                        <p:strVal val="visible"/>
                                      </p:to>
                                    </p:set>
                                    <p:animEffect transition="in" filter="dissolve">
                                      <p:cBhvr>
                                        <p:cTn id="56"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8" grpId="0" animBg="1"/>
      <p:bldP spid="35" grpId="0" animBg="1"/>
      <p:bldP spid="42" grpId="0" animBg="1"/>
      <p:bldP spid="82" grpId="0" animBg="1"/>
      <p:bldP spid="84" grpId="0" animBg="1"/>
      <p:bldP spid="9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Interference Mitigation</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25</a:t>
            </a:fld>
            <a:endParaRPr lang="en-US"/>
          </a:p>
        </p:txBody>
      </p:sp>
      <p:sp>
        <p:nvSpPr>
          <p:cNvPr id="4" name="Rectangle 3">
            <a:extLst>
              <a:ext uri="{FF2B5EF4-FFF2-40B4-BE49-F238E27FC236}">
                <a16:creationId xmlns:a16="http://schemas.microsoft.com/office/drawing/2014/main" id="{B8F3D626-C026-2E74-FC9C-8ABBD99B3210}"/>
              </a:ext>
            </a:extLst>
          </p:cNvPr>
          <p:cNvSpPr/>
          <p:nvPr/>
        </p:nvSpPr>
        <p:spPr>
          <a:xfrm>
            <a:off x="0" y="1188721"/>
            <a:ext cx="12192000" cy="5632311"/>
          </a:xfrm>
          <a:prstGeom prst="rect">
            <a:avLst/>
          </a:prstGeom>
        </p:spPr>
        <p:txBody>
          <a:bodyPr wrap="square">
            <a:spAutoFit/>
          </a:bodyPr>
          <a:lstStyle/>
          <a:p>
            <a:pPr marL="457200" indent="-457200">
              <a:buFont typeface="Arial" panose="020B0604020202020204" pitchFamily="34" charset="0"/>
              <a:buChar char="•"/>
            </a:pPr>
            <a:r>
              <a:rPr lang="en-US" sz="3200" b="1"/>
              <a:t>Reallocating application resource can introduce dangerous side effects to application</a:t>
            </a:r>
          </a:p>
          <a:p>
            <a:pPr marL="457200" indent="-457200">
              <a:buFont typeface="Arial" panose="020B0604020202020204" pitchFamily="34" charset="0"/>
              <a:buChar char="•"/>
            </a:pPr>
            <a:endParaRPr lang="en-US" sz="3200" b="1"/>
          </a:p>
          <a:p>
            <a:pPr marL="457200" indent="-457200">
              <a:buFont typeface="Arial" panose="020B0604020202020204" pitchFamily="34" charset="0"/>
              <a:buChar char="•"/>
            </a:pPr>
            <a:r>
              <a:rPr lang="en-US" sz="3200" b="1"/>
              <a:t>Mitigating interference without breaking application logic</a:t>
            </a:r>
            <a:endParaRPr lang="en-US" sz="3200" b="1" i="1"/>
          </a:p>
          <a:p>
            <a:pPr marL="804863" lvl="1" indent="-347663">
              <a:buFont typeface="Courier New" panose="02070309020205020404" pitchFamily="49" charset="0"/>
              <a:buChar char="o"/>
            </a:pPr>
            <a:r>
              <a:rPr lang="en-US" sz="2800"/>
              <a:t>Adding a delay to noisy activity</a:t>
            </a:r>
          </a:p>
          <a:p>
            <a:pPr marL="804863" lvl="1" indent="-347663">
              <a:buFont typeface="Courier New" panose="02070309020205020404" pitchFamily="49" charset="0"/>
              <a:buChar char="o"/>
            </a:pPr>
            <a:r>
              <a:rPr lang="en-US" sz="2800"/>
              <a:t>Only penalize the noisy </a:t>
            </a:r>
            <a:r>
              <a:rPr lang="en-US" sz="2800" err="1"/>
              <a:t>pBox</a:t>
            </a:r>
            <a:r>
              <a:rPr lang="en-US" sz="2800"/>
              <a:t> when a UNHOLD event is received</a:t>
            </a:r>
          </a:p>
          <a:p>
            <a:pPr lvl="1"/>
            <a:endParaRPr lang="en-US" sz="2800"/>
          </a:p>
          <a:p>
            <a:pPr marL="457200" indent="-457200">
              <a:buFont typeface="Arial" panose="020B0604020202020204" pitchFamily="34" charset="0"/>
              <a:buChar char="•"/>
            </a:pPr>
            <a:r>
              <a:rPr lang="en-US" sz="3200" b="1"/>
              <a:t>Handle nest state events</a:t>
            </a:r>
          </a:p>
          <a:p>
            <a:pPr marL="804863" lvl="1" indent="-347663">
              <a:buFont typeface="Courier New" panose="02070309020205020404" pitchFamily="49" charset="0"/>
              <a:buChar char="o"/>
            </a:pPr>
            <a:r>
              <a:rPr lang="en-US" sz="2800"/>
              <a:t>A noisy </a:t>
            </a:r>
            <a:r>
              <a:rPr lang="en-US" sz="2800" err="1"/>
              <a:t>pBox</a:t>
            </a:r>
            <a:r>
              <a:rPr lang="en-US" sz="2800"/>
              <a:t> can hold multiple resources</a:t>
            </a:r>
          </a:p>
          <a:p>
            <a:pPr marL="804863" lvl="1" indent="-347663">
              <a:buFont typeface="Courier New" panose="02070309020205020404" pitchFamily="49" charset="0"/>
              <a:buChar char="o"/>
            </a:pPr>
            <a:r>
              <a:rPr lang="en-US" sz="2800"/>
              <a:t>Only penalize when </a:t>
            </a:r>
            <a:r>
              <a:rPr lang="en-US" sz="2800" err="1"/>
              <a:t>pBox</a:t>
            </a:r>
            <a:r>
              <a:rPr lang="en-US" sz="2800"/>
              <a:t> no longer holds any application resource</a:t>
            </a:r>
            <a:br>
              <a:rPr lang="en-US" sz="2800"/>
            </a:br>
            <a:endParaRPr lang="en-US" sz="2800"/>
          </a:p>
          <a:p>
            <a:pPr marL="801688" lvl="1" indent="-344488">
              <a:buFont typeface="Courier New" panose="02070309020205020404" pitchFamily="49" charset="0"/>
              <a:buChar char="o"/>
            </a:pPr>
            <a:endParaRPr lang="en-US" sz="2800"/>
          </a:p>
        </p:txBody>
      </p:sp>
    </p:spTree>
    <p:extLst>
      <p:ext uri="{BB962C8B-B14F-4D97-AF65-F5344CB8AC3E}">
        <p14:creationId xmlns:p14="http://schemas.microsoft.com/office/powerpoint/2010/main" val="3406855348"/>
      </p:ext>
    </p:extLst>
  </p:cSld>
  <p:clrMapOvr>
    <a:masterClrMapping/>
  </p:clrMapOvr>
  <mc:AlternateContent xmlns:mc="http://schemas.openxmlformats.org/markup-compatibility/2006" xmlns:p14="http://schemas.microsoft.com/office/powerpoint/2010/main">
    <mc:Choice Requires="p14">
      <p:transition spd="slow" p14:dur="2000" advTm="33959"/>
    </mc:Choice>
    <mc:Fallback xmlns="">
      <p:transition spd="slow" advTm="339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Score-based Penalty Length Adjustment</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26</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D50E706A-C7AB-D911-6B02-696F08A7AF3C}"/>
                  </a:ext>
                </a:extLst>
              </p:cNvPr>
              <p:cNvSpPr/>
              <p:nvPr/>
            </p:nvSpPr>
            <p:spPr>
              <a:xfrm>
                <a:off x="0" y="1188721"/>
                <a:ext cx="12192000" cy="4723729"/>
              </a:xfrm>
              <a:prstGeom prst="rect">
                <a:avLst/>
              </a:prstGeom>
            </p:spPr>
            <p:txBody>
              <a:bodyPr wrap="square">
                <a:spAutoFit/>
              </a:bodyPr>
              <a:lstStyle/>
              <a:p>
                <a:pPr marL="457200" indent="-457200">
                  <a:buFont typeface="Arial" panose="020B0604020202020204" pitchFamily="34" charset="0"/>
                  <a:buChar char="•"/>
                </a:pPr>
                <a:r>
                  <a:rPr lang="en-US" sz="3200" b="1"/>
                  <a:t>For </a:t>
                </a:r>
                <a:r>
                  <a:rPr lang="en-US" sz="3200" b="1" i="1" err="1"/>
                  <a:t>i</a:t>
                </a:r>
                <a:r>
                  <a:rPr lang="en-US" sz="3200" b="1"/>
                  <a:t> rounds of penalty, we calculate victim </a:t>
                </a:r>
                <a:r>
                  <a:rPr lang="en-US" sz="3200" b="1" err="1"/>
                  <a:t>pbox</a:t>
                </a:r>
                <a:endParaRPr lang="en-US" sz="3200" b="1"/>
              </a:p>
              <a:p>
                <a:pPr marL="857250" lvl="1" indent="-400050">
                  <a:lnSpc>
                    <a:spcPct val="200000"/>
                  </a:lnSpc>
                  <a:buFont typeface="Courier New" panose="02070309020205020404" pitchFamily="49" charset="0"/>
                  <a:buChar char="o"/>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𝑖</m:t>
                        </m:r>
                      </m:sub>
                    </m:sSub>
                    <m:r>
                      <a:rPr lang="en-US" sz="2400" i="1">
                        <a:latin typeface="Cambria Math" panose="02040503050406030204" pitchFamily="18" charset="0"/>
                      </a:rPr>
                      <m:t>=</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𝑎𝑣𝑒𝑟𝑎𝑔𝑒</m:t>
                        </m:r>
                        <m:r>
                          <a:rPr lang="en-US" sz="2400" b="0" i="1" smtClean="0">
                            <a:latin typeface="Cambria Math" panose="02040503050406030204" pitchFamily="18" charset="0"/>
                          </a:rPr>
                          <m:t> </m:t>
                        </m:r>
                        <m:r>
                          <a:rPr lang="en-US" sz="2400" b="0" i="1" smtClean="0">
                            <a:latin typeface="Cambria Math" panose="02040503050406030204" pitchFamily="18" charset="0"/>
                          </a:rPr>
                          <m:t>𝑑𝑒𝑓𝑒𝑟𝑟𝑖𝑛𝑔</m:t>
                        </m:r>
                        <m:r>
                          <a:rPr lang="en-US" sz="2400" b="0" i="1" smtClean="0">
                            <a:latin typeface="Cambria Math" panose="02040503050406030204" pitchFamily="18" charset="0"/>
                          </a:rPr>
                          <m:t> </m:t>
                        </m:r>
                        <m:r>
                          <a:rPr lang="en-US" sz="2400" b="0" i="1" smtClean="0">
                            <a:latin typeface="Cambria Math" panose="02040503050406030204" pitchFamily="18" charset="0"/>
                          </a:rPr>
                          <m:t>𝑡𝑖𝑚𝑒</m:t>
                        </m:r>
                      </m:num>
                      <m:den>
                        <m:r>
                          <a:rPr lang="en-US" sz="2400" b="0" i="1" smtClean="0">
                            <a:latin typeface="Cambria Math" panose="02040503050406030204" pitchFamily="18" charset="0"/>
                          </a:rPr>
                          <m:t>𝑎𝑣𝑒𝑟𝑎𝑔𝑒</m:t>
                        </m:r>
                        <m:r>
                          <a:rPr lang="en-US" sz="2400" b="0" i="1" smtClean="0">
                            <a:latin typeface="Cambria Math" panose="02040503050406030204" pitchFamily="18" charset="0"/>
                          </a:rPr>
                          <m:t> </m:t>
                        </m:r>
                        <m:r>
                          <a:rPr lang="en-US" sz="2400" b="0" i="1" smtClean="0">
                            <a:latin typeface="Cambria Math" panose="02040503050406030204" pitchFamily="18" charset="0"/>
                          </a:rPr>
                          <m:t>𝑒𝑥𝑒𝑢𝑡𝑖𝑜𝑛</m:t>
                        </m:r>
                        <m:r>
                          <a:rPr lang="en-US" sz="2400" b="0" i="1" smtClean="0">
                            <a:latin typeface="Cambria Math" panose="02040503050406030204" pitchFamily="18" charset="0"/>
                          </a:rPr>
                          <m:t> </m:t>
                        </m:r>
                        <m:r>
                          <a:rPr lang="en-US" sz="2400" b="0" i="1" smtClean="0">
                            <a:latin typeface="Cambria Math" panose="02040503050406030204" pitchFamily="18" charset="0"/>
                          </a:rPr>
                          <m:t>𝑡𝑖𝑚𝑒</m:t>
                        </m:r>
                      </m:den>
                    </m:f>
                  </m:oMath>
                </a14:m>
                <a:endParaRPr lang="en-US" sz="3600" b="1"/>
              </a:p>
              <a:p>
                <a:pPr marL="857250" lvl="1" indent="-400050">
                  <a:buFont typeface="Courier New" panose="02070309020205020404" pitchFamily="49" charset="0"/>
                  <a:buChar char="o"/>
                </a:pPr>
                <a14:m>
                  <m:oMath xmlns:m="http://schemas.openxmlformats.org/officeDocument/2006/math">
                    <m:r>
                      <a:rPr lang="en-US" b="1" i="1" smtClean="0">
                        <a:latin typeface="Cambria Math" panose="02040503050406030204" pitchFamily="18" charset="0"/>
                      </a:rPr>
                      <m:t>𝑷𝒆𝒏𝒂𝒍𝒕𝒚</m:t>
                    </m:r>
                    <m:r>
                      <a:rPr lang="en-US" b="1" i="1" smtClean="0">
                        <a:latin typeface="Cambria Math" panose="02040503050406030204" pitchFamily="18" charset="0"/>
                      </a:rPr>
                      <m:t> </m:t>
                    </m:r>
                    <m:r>
                      <a:rPr lang="en-US" b="1" i="1" smtClean="0">
                        <a:latin typeface="Cambria Math" panose="02040503050406030204" pitchFamily="18" charset="0"/>
                      </a:rPr>
                      <m:t>𝒆𝒇𝒇𝒆𝒄𝒕𝒊𝒗𝒆𝒏𝒆𝒔𝒔</m:t>
                    </m:r>
                    <m:r>
                      <a:rPr lang="en-US" b="1" i="1" smtClean="0">
                        <a:latin typeface="Cambria Math" panose="02040503050406030204" pitchFamily="18" charset="0"/>
                      </a:rPr>
                      <m:t> </m:t>
                    </m:r>
                    <m:r>
                      <a:rPr lang="en-US" b="1" i="1" smtClean="0">
                        <a:latin typeface="Cambria Math" panose="02040503050406030204" pitchFamily="18" charset="0"/>
                      </a:rPr>
                      <m:t>𝑺𝒄𝒐𝒓𝒆</m:t>
                    </m:r>
                    <m:r>
                      <a:rPr lang="en-US" i="1">
                        <a:latin typeface="Cambria Math" panose="02040503050406030204" pitchFamily="18" charset="0"/>
                      </a:rPr>
                      <m:t>=</m:t>
                    </m:r>
                    <m:d>
                      <m:dPr>
                        <m:begChr m:val="{"/>
                        <m:endChr m:val=""/>
                        <m:ctrlPr>
                          <a:rPr lang="en-US" i="1" dirty="0">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𝑠𝑐𝑜𝑟𝑒</m:t>
                            </m:r>
                            <m:r>
                              <a:rPr lang="en-US" i="1">
                                <a:latin typeface="Cambria Math" panose="02040503050406030204" pitchFamily="18" charset="0"/>
                              </a:rPr>
                              <m:t>+1; </m:t>
                            </m:r>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+1</m:t>
                                </m:r>
                              </m:e>
                            </m:d>
                            <m:r>
                              <a:rPr lang="en-US" i="1">
                                <a:latin typeface="Cambria Math" panose="02040503050406030204" pitchFamily="18" charset="0"/>
                              </a:rPr>
                              <m:t>&gt;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e>
                          <m:e>
                            <m:r>
                              <a:rPr lang="en-US" i="1">
                                <a:latin typeface="Cambria Math" panose="02040503050406030204" pitchFamily="18" charset="0"/>
                              </a:rPr>
                              <m:t>𝑠𝑐𝑜𝑟𝑒</m:t>
                            </m:r>
                            <m:r>
                              <a:rPr lang="en-US" i="1">
                                <a:latin typeface="Cambria Math" panose="02040503050406030204" pitchFamily="18" charset="0"/>
                              </a:rPr>
                              <m:t> −1; </m:t>
                            </m:r>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+1</m:t>
                                </m:r>
                              </m:e>
                            </m:d>
                            <m:r>
                              <a:rPr lang="en-US" i="1">
                                <a:latin typeface="Cambria Math" panose="02040503050406030204" pitchFamily="18" charset="0"/>
                              </a:rPr>
                              <m:t>&lt;</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r>
                              <a:rPr lang="en-US" i="1">
                                <a:latin typeface="Cambria Math" panose="02040503050406030204" pitchFamily="18" charset="0"/>
                              </a:rPr>
                              <m:t> </m:t>
                            </m:r>
                            <m:r>
                              <a:rPr lang="en-US" i="1">
                                <a:latin typeface="Cambria Math" panose="02040503050406030204" pitchFamily="18" charset="0"/>
                              </a:rPr>
                              <m:t>𝑎𝑛𝑑</m:t>
                            </m:r>
                            <m:r>
                              <a:rPr lang="en-US" i="1">
                                <a:latin typeface="Cambria Math" panose="02040503050406030204" pitchFamily="18" charset="0"/>
                              </a:rPr>
                              <m:t> </m:t>
                            </m:r>
                            <m:r>
                              <a:rPr lang="en-US" i="1">
                                <a:latin typeface="Cambria Math" panose="02040503050406030204" pitchFamily="18" charset="0"/>
                              </a:rPr>
                              <m:t>𝑠𝑐𝑜𝑟𝑒</m:t>
                            </m:r>
                            <m:r>
                              <a:rPr lang="en-US" i="1">
                                <a:latin typeface="Cambria Math" panose="02040503050406030204" pitchFamily="18" charset="0"/>
                              </a:rPr>
                              <m:t>&gt;1</m:t>
                            </m:r>
                          </m:e>
                          <m:e>
                            <m:r>
                              <a:rPr lang="en-US" b="0" i="1" smtClean="0">
                                <a:latin typeface="Cambria Math" panose="02040503050406030204" pitchFamily="18" charset="0"/>
                                <a:ea typeface="Cambria Math" panose="02040503050406030204" pitchFamily="18" charset="0"/>
                              </a:rPr>
                              <m:t>1 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+1</m:t>
                                </m:r>
                              </m:e>
                            </m:d>
                            <m:r>
                              <a:rPr lang="en-US" i="1">
                                <a:latin typeface="Cambria Math" panose="02040503050406030204" pitchFamily="18" charset="0"/>
                              </a:rPr>
                              <m:t>&lt;</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r>
                              <a:rPr lang="en-US" i="1">
                                <a:latin typeface="Cambria Math" panose="02040503050406030204" pitchFamily="18" charset="0"/>
                              </a:rPr>
                              <m:t> </m:t>
                            </m:r>
                            <m:r>
                              <a:rPr lang="en-US" i="1">
                                <a:latin typeface="Cambria Math" panose="02040503050406030204" pitchFamily="18" charset="0"/>
                              </a:rPr>
                              <m:t>𝑎𝑛𝑑</m:t>
                            </m:r>
                            <m:r>
                              <a:rPr lang="en-US" i="1">
                                <a:latin typeface="Cambria Math" panose="02040503050406030204" pitchFamily="18" charset="0"/>
                              </a:rPr>
                              <m:t> </m:t>
                            </m:r>
                            <m:r>
                              <a:rPr lang="en-US" i="1">
                                <a:latin typeface="Cambria Math" panose="02040503050406030204" pitchFamily="18" charset="0"/>
                              </a:rPr>
                              <m:t>𝑠𝑐𝑜𝑟𝑒</m:t>
                            </m:r>
                            <m:r>
                              <a:rPr lang="en-US" b="0" i="1" smtClean="0">
                                <a:latin typeface="Cambria Math" panose="02040503050406030204" pitchFamily="18" charset="0"/>
                              </a:rPr>
                              <m:t>=1</m:t>
                            </m:r>
                          </m:e>
                        </m:eqArr>
                      </m:e>
                    </m:d>
                  </m:oMath>
                </a14:m>
                <a:endParaRPr lang="en-US">
                  <a:ea typeface="Cambria Math" panose="02040503050406030204" pitchFamily="18" charset="0"/>
                </a:endParaRPr>
              </a:p>
              <a:p>
                <a:pPr marL="857250" lvl="1" indent="-400050">
                  <a:lnSpc>
                    <a:spcPct val="250000"/>
                  </a:lnSpc>
                  <a:buFont typeface="Courier New" panose="02070309020205020404" pitchFamily="49" charset="0"/>
                  <a:buChar char="o"/>
                </a:pPr>
                <a14:m>
                  <m:oMath xmlns:m="http://schemas.openxmlformats.org/officeDocument/2006/math">
                    <m:r>
                      <m:rPr>
                        <m:nor/>
                      </m:rPr>
                      <a:rPr lang="en-US" b="1" i="1" dirty="0">
                        <a:latin typeface="Cambria Math" panose="02040503050406030204" pitchFamily="18" charset="0"/>
                      </a:rPr>
                      <m:t>Next</m:t>
                    </m:r>
                    <m:r>
                      <m:rPr>
                        <m:nor/>
                      </m:rPr>
                      <a:rPr lang="en-US" b="1" i="1" dirty="0">
                        <a:latin typeface="Cambria Math" panose="02040503050406030204" pitchFamily="18" charset="0"/>
                      </a:rPr>
                      <m:t> </m:t>
                    </m:r>
                    <m:r>
                      <m:rPr>
                        <m:nor/>
                      </m:rPr>
                      <a:rPr lang="en-US" b="1" i="1" dirty="0">
                        <a:latin typeface="Cambria Math" panose="02040503050406030204" pitchFamily="18" charset="0"/>
                      </a:rPr>
                      <m:t>penalty</m:t>
                    </m:r>
                    <m:r>
                      <m:rPr>
                        <m:nor/>
                      </m:rPr>
                      <a:rPr lang="en-US" b="1" i="1" dirty="0">
                        <a:latin typeface="Cambria Math" panose="02040503050406030204" pitchFamily="18" charset="0"/>
                      </a:rPr>
                      <m:t> </m:t>
                    </m:r>
                    <m:r>
                      <m:rPr>
                        <m:nor/>
                      </m:rPr>
                      <a:rPr lang="en-US" b="1" i="1" dirty="0">
                        <a:latin typeface="Cambria Math" panose="02040503050406030204" pitchFamily="18" charset="0"/>
                      </a:rPr>
                      <m:t>length</m:t>
                    </m:r>
                    <m:r>
                      <a:rPr lang="en-US" b="0" i="1" dirty="0" smtClean="0">
                        <a:latin typeface="Cambria Math" panose="02040503050406030204" pitchFamily="18" charset="0"/>
                      </a:rPr>
                      <m:t>= </m:t>
                    </m:r>
                    <m:r>
                      <a:rPr lang="en-US" b="0" i="1" smtClean="0">
                        <a:latin typeface="Cambria Math" panose="02040503050406030204" pitchFamily="18" charset="0"/>
                      </a:rPr>
                      <m:t>𝑐𝑢𝑟𝑟𝑒𝑛𝑡</m:t>
                    </m:r>
                    <m:r>
                      <a:rPr lang="en-US" b="0" i="1" smtClean="0">
                        <a:latin typeface="Cambria Math" panose="02040503050406030204" pitchFamily="18" charset="0"/>
                      </a:rPr>
                      <m:t> </m:t>
                    </m:r>
                    <m:r>
                      <a:rPr lang="en-US" b="0" i="1" smtClean="0">
                        <a:latin typeface="Cambria Math" panose="02040503050406030204" pitchFamily="18" charset="0"/>
                      </a:rPr>
                      <m:t>𝑙𝑒𝑛𝑔𝑡h</m:t>
                    </m:r>
                    <m:r>
                      <a:rPr lang="en-US" b="0" i="1" smtClean="0">
                        <a:latin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𝑠𝑐𝑜𝑟𝑒</m:t>
                    </m:r>
                    <m:r>
                      <a:rPr lang="en-US" b="0" i="1" smtClean="0">
                        <a:latin typeface="Cambria Math" panose="02040503050406030204" pitchFamily="18" charset="0"/>
                        <a:ea typeface="Cambria Math" panose="02040503050406030204" pitchFamily="18" charset="0"/>
                      </a:rPr>
                      <m:t>)</m:t>
                    </m:r>
                  </m:oMath>
                </a14:m>
                <a:endParaRPr lang="en-US"/>
              </a:p>
              <a:p>
                <a:pPr marL="857250" lvl="1" indent="-400050">
                  <a:buFont typeface="Courier New" panose="02070309020205020404" pitchFamily="49" charset="0"/>
                  <a:buChar char="o"/>
                </a:pPr>
                <a:endParaRPr lang="en-US">
                  <a:ea typeface="Cambria Math" panose="02040503050406030204" pitchFamily="18" charset="0"/>
                </a:endParaRPr>
              </a:p>
              <a:p>
                <a:pPr marL="857250" lvl="1" indent="-400050">
                  <a:buFont typeface="Courier New" panose="02070309020205020404" pitchFamily="49" charset="0"/>
                  <a:buChar char="o"/>
                </a:pPr>
                <a:endParaRPr lang="en-US" sz="2400"/>
              </a:p>
              <a:p>
                <a:pPr marL="857250" lvl="1" indent="-400050">
                  <a:buFont typeface="Courier New" panose="02070309020205020404" pitchFamily="49" charset="0"/>
                  <a:buChar char="o"/>
                </a:pPr>
                <a:endParaRPr lang="en-US" sz="3600" b="1"/>
              </a:p>
            </p:txBody>
          </p:sp>
        </mc:Choice>
        <mc:Fallback xmlns="">
          <p:sp>
            <p:nvSpPr>
              <p:cNvPr id="6" name="Rectangle 5">
                <a:extLst>
                  <a:ext uri="{FF2B5EF4-FFF2-40B4-BE49-F238E27FC236}">
                    <a16:creationId xmlns:a16="http://schemas.microsoft.com/office/drawing/2014/main" id="{D50E706A-C7AB-D911-6B02-696F08A7AF3C}"/>
                  </a:ext>
                </a:extLst>
              </p:cNvPr>
              <p:cNvSpPr>
                <a:spLocks noRot="1" noChangeAspect="1" noMove="1" noResize="1" noEditPoints="1" noAdjustHandles="1" noChangeArrowheads="1" noChangeShapeType="1" noTextEdit="1"/>
              </p:cNvSpPr>
              <p:nvPr/>
            </p:nvSpPr>
            <p:spPr>
              <a:xfrm>
                <a:off x="0" y="1188721"/>
                <a:ext cx="12192000" cy="4723729"/>
              </a:xfrm>
              <a:prstGeom prst="rect">
                <a:avLst/>
              </a:prstGeom>
              <a:blipFill>
                <a:blip r:embed="rId5"/>
                <a:stretch>
                  <a:fillRect l="-1150" t="-1677"/>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9C563C35-A285-5636-C5E3-8B3526FA19FF}"/>
              </a:ext>
            </a:extLst>
          </p:cNvPr>
          <p:cNvSpPr/>
          <p:nvPr/>
        </p:nvSpPr>
        <p:spPr>
          <a:xfrm>
            <a:off x="6768446" y="5808755"/>
            <a:ext cx="2733774" cy="4223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a:t>Check paper for details</a:t>
            </a:r>
          </a:p>
        </p:txBody>
      </p:sp>
    </p:spTree>
    <p:extLst>
      <p:ext uri="{BB962C8B-B14F-4D97-AF65-F5344CB8AC3E}">
        <p14:creationId xmlns:p14="http://schemas.microsoft.com/office/powerpoint/2010/main" val="1373600292"/>
      </p:ext>
    </p:extLst>
  </p:cSld>
  <p:clrMapOvr>
    <a:masterClrMapping/>
  </p:clrMapOvr>
  <mc:AlternateContent xmlns:mc="http://schemas.openxmlformats.org/markup-compatibility/2006" xmlns:p14="http://schemas.microsoft.com/office/powerpoint/2010/main">
    <mc:Choice Requires="p14">
      <p:transition spd="slow" p14:dur="2000" advTm="26412"/>
    </mc:Choice>
    <mc:Fallback xmlns="">
      <p:transition spd="slow" advTm="26412"/>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Other Optimization</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27</a:t>
            </a:fld>
            <a:endParaRPr lang="en-US"/>
          </a:p>
        </p:txBody>
      </p:sp>
      <p:sp>
        <p:nvSpPr>
          <p:cNvPr id="4" name="Rectangle 3">
            <a:extLst>
              <a:ext uri="{FF2B5EF4-FFF2-40B4-BE49-F238E27FC236}">
                <a16:creationId xmlns:a16="http://schemas.microsoft.com/office/drawing/2014/main" id="{5F516F77-4430-DD46-1AFD-D4659E3795CA}"/>
              </a:ext>
            </a:extLst>
          </p:cNvPr>
          <p:cNvSpPr/>
          <p:nvPr/>
        </p:nvSpPr>
        <p:spPr>
          <a:xfrm>
            <a:off x="0" y="1188721"/>
            <a:ext cx="12192000" cy="6001643"/>
          </a:xfrm>
          <a:prstGeom prst="rect">
            <a:avLst/>
          </a:prstGeom>
        </p:spPr>
        <p:txBody>
          <a:bodyPr wrap="square">
            <a:spAutoFit/>
          </a:bodyPr>
          <a:lstStyle/>
          <a:p>
            <a:pPr marL="457200" indent="-457200">
              <a:buFont typeface="Arial" panose="020B0604020202020204" pitchFamily="34" charset="0"/>
              <a:buChar char="•"/>
            </a:pPr>
            <a:r>
              <a:rPr lang="en-US" sz="3200" b="1"/>
              <a:t>Lightweight Tracing</a:t>
            </a:r>
          </a:p>
          <a:p>
            <a:pPr marL="857250" lvl="1" indent="-400050">
              <a:buFont typeface="Courier New" panose="02070309020205020404" pitchFamily="49" charset="0"/>
              <a:buChar char="o"/>
            </a:pPr>
            <a:r>
              <a:rPr lang="en-US" sz="2800"/>
              <a:t>Pre-allocation for frequently used data struct to reduce the need for additional memory calls</a:t>
            </a:r>
          </a:p>
          <a:p>
            <a:pPr marL="857250" lvl="1" indent="-400050">
              <a:buFont typeface="Courier New" panose="02070309020205020404" pitchFamily="49" charset="0"/>
              <a:buChar char="o"/>
            </a:pPr>
            <a:r>
              <a:rPr lang="en-US" sz="2800"/>
              <a:t>Reduce the number of </a:t>
            </a:r>
            <a:r>
              <a:rPr lang="en-US" sz="2800" err="1"/>
              <a:t>syscalls</a:t>
            </a:r>
            <a:r>
              <a:rPr lang="en-US" sz="2800"/>
              <a:t> like </a:t>
            </a:r>
            <a:r>
              <a:rPr lang="en-US" sz="2800" i="1" err="1"/>
              <a:t>update_pbox</a:t>
            </a:r>
            <a:endParaRPr lang="en-US" sz="2800" i="1"/>
          </a:p>
          <a:p>
            <a:pPr marL="857250" lvl="1" indent="-400050">
              <a:buFont typeface="Courier New" panose="02070309020205020404" pitchFamily="49" charset="0"/>
              <a:buChar char="o"/>
            </a:pPr>
            <a:r>
              <a:rPr lang="en-US" sz="2800"/>
              <a:t>Optimizing the </a:t>
            </a:r>
            <a:r>
              <a:rPr lang="en-US" sz="2800" err="1"/>
              <a:t>datastruct</a:t>
            </a:r>
            <a:endParaRPr lang="en-US" sz="2800"/>
          </a:p>
          <a:p>
            <a:pPr marL="857250" lvl="1" indent="-400050">
              <a:buFont typeface="Courier New" panose="02070309020205020404" pitchFamily="49" charset="0"/>
              <a:buChar char="o"/>
            </a:pPr>
            <a:endParaRPr lang="en-US" sz="2800"/>
          </a:p>
          <a:p>
            <a:pPr marL="457200" indent="-457200">
              <a:buFont typeface="Arial" panose="020B0604020202020204" pitchFamily="34" charset="0"/>
              <a:buChar char="•"/>
            </a:pPr>
            <a:r>
              <a:rPr lang="en-US" sz="3200" b="1"/>
              <a:t>Lazy unbind</a:t>
            </a:r>
          </a:p>
          <a:p>
            <a:pPr marL="914400" lvl="1" indent="-457200">
              <a:buFont typeface="Courier New" panose="02070309020205020404" pitchFamily="49" charset="0"/>
              <a:buChar char="o"/>
            </a:pPr>
            <a:r>
              <a:rPr lang="en-US" sz="2800" err="1"/>
              <a:t>unbind_pbox</a:t>
            </a:r>
            <a:r>
              <a:rPr lang="en-US" sz="2800"/>
              <a:t> only marks a </a:t>
            </a:r>
            <a:r>
              <a:rPr lang="en-US" sz="2800" err="1"/>
              <a:t>pbox</a:t>
            </a:r>
            <a:r>
              <a:rPr lang="en-US" sz="2800"/>
              <a:t> as detached from thread</a:t>
            </a:r>
          </a:p>
          <a:p>
            <a:pPr marL="914400" lvl="1" indent="-457200">
              <a:buFont typeface="Courier New" panose="02070309020205020404" pitchFamily="49" charset="0"/>
              <a:buChar char="o"/>
            </a:pPr>
            <a:r>
              <a:rPr lang="en-US" sz="2800"/>
              <a:t>only detach when </a:t>
            </a:r>
            <a:r>
              <a:rPr lang="en-US" sz="2800" err="1"/>
              <a:t>bind_pbox</a:t>
            </a:r>
            <a:r>
              <a:rPr lang="en-US" sz="2800"/>
              <a:t> bind the </a:t>
            </a:r>
            <a:r>
              <a:rPr lang="en-US" sz="2800" err="1"/>
              <a:t>pbox</a:t>
            </a:r>
            <a:r>
              <a:rPr lang="en-US" sz="2800"/>
              <a:t> to a different thread</a:t>
            </a:r>
          </a:p>
          <a:p>
            <a:pPr marL="857250" lvl="1" indent="-400050">
              <a:buFont typeface="Courier New" panose="02070309020205020404" pitchFamily="49" charset="0"/>
              <a:buChar char="o"/>
            </a:pPr>
            <a:endParaRPr lang="en-US" sz="2800"/>
          </a:p>
          <a:p>
            <a:pPr marL="857250" lvl="1" indent="-400050">
              <a:lnSpc>
                <a:spcPct val="200000"/>
              </a:lnSpc>
              <a:buFont typeface="Courier New" panose="02070309020205020404" pitchFamily="49" charset="0"/>
              <a:buChar char="o"/>
            </a:pPr>
            <a:endParaRPr lang="en-US">
              <a:ea typeface="Cambria Math" panose="02040503050406030204" pitchFamily="18" charset="0"/>
            </a:endParaRPr>
          </a:p>
          <a:p>
            <a:pPr marL="857250" lvl="1" indent="-400050">
              <a:buFont typeface="Courier New" panose="02070309020205020404" pitchFamily="49" charset="0"/>
              <a:buChar char="o"/>
            </a:pPr>
            <a:endParaRPr lang="en-US" sz="2400"/>
          </a:p>
          <a:p>
            <a:pPr marL="857250" lvl="1" indent="-400050">
              <a:buFont typeface="Courier New" panose="02070309020205020404" pitchFamily="49" charset="0"/>
              <a:buChar char="o"/>
            </a:pPr>
            <a:endParaRPr lang="en-US" sz="3600" b="1"/>
          </a:p>
        </p:txBody>
      </p:sp>
    </p:spTree>
    <p:extLst>
      <p:ext uri="{BB962C8B-B14F-4D97-AF65-F5344CB8AC3E}">
        <p14:creationId xmlns:p14="http://schemas.microsoft.com/office/powerpoint/2010/main" val="3405458311"/>
      </p:ext>
    </p:extLst>
  </p:cSld>
  <p:clrMapOvr>
    <a:masterClrMapping/>
  </p:clrMapOvr>
  <mc:AlternateContent xmlns:mc="http://schemas.openxmlformats.org/markup-compatibility/2006" xmlns:p14="http://schemas.microsoft.com/office/powerpoint/2010/main">
    <mc:Choice Requires="p14">
      <p:transition spd="slow" p14:dur="2000" advTm="22324"/>
    </mc:Choice>
    <mc:Fallback xmlns="">
      <p:transition spd="slow" advTm="2232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Evaluation </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28</a:t>
            </a:fld>
            <a:endParaRPr lang="en-US"/>
          </a:p>
        </p:txBody>
      </p:sp>
      <p:sp>
        <p:nvSpPr>
          <p:cNvPr id="3" name="Rectangle 2">
            <a:extLst>
              <a:ext uri="{FF2B5EF4-FFF2-40B4-BE49-F238E27FC236}">
                <a16:creationId xmlns:a16="http://schemas.microsoft.com/office/drawing/2014/main" id="{073FE97E-66D3-3EFE-8B74-249980A1ACCE}"/>
              </a:ext>
            </a:extLst>
          </p:cNvPr>
          <p:cNvSpPr/>
          <p:nvPr/>
        </p:nvSpPr>
        <p:spPr>
          <a:xfrm>
            <a:off x="0" y="1509355"/>
            <a:ext cx="12192000" cy="2985433"/>
          </a:xfrm>
          <a:prstGeom prst="rect">
            <a:avLst/>
          </a:prstGeom>
        </p:spPr>
        <p:txBody>
          <a:bodyPr wrap="square">
            <a:spAutoFit/>
          </a:bodyPr>
          <a:lstStyle/>
          <a:p>
            <a:pPr marL="457200" indent="-457200">
              <a:buFont typeface="Arial" panose="020B0604020202020204" pitchFamily="34" charset="0"/>
              <a:buChar char="•"/>
            </a:pPr>
            <a:r>
              <a:rPr lang="en-US" sz="3200" b="1"/>
              <a:t>Can </a:t>
            </a:r>
            <a:r>
              <a:rPr lang="en-US" sz="3200" b="1" err="1"/>
              <a:t>pBox</a:t>
            </a:r>
            <a:r>
              <a:rPr lang="en-US" sz="3200" b="1"/>
              <a:t> reduce intra-application interference?</a:t>
            </a:r>
          </a:p>
          <a:p>
            <a:pPr marL="857250" lvl="1" indent="-400050">
              <a:buFont typeface="Courier New" panose="02070309020205020404" pitchFamily="49" charset="0"/>
              <a:buChar char="o"/>
            </a:pPr>
            <a:endParaRPr lang="en-US" sz="2800"/>
          </a:p>
          <a:p>
            <a:pPr marL="457200" indent="-457200">
              <a:buFont typeface="Arial" panose="020B0604020202020204" pitchFamily="34" charset="0"/>
              <a:buChar char="•"/>
            </a:pPr>
            <a:r>
              <a:rPr lang="en-US" sz="3200" b="1"/>
              <a:t>How does </a:t>
            </a:r>
            <a:r>
              <a:rPr lang="en-US" sz="3200" b="1" err="1"/>
              <a:t>pBox</a:t>
            </a:r>
            <a:r>
              <a:rPr lang="en-US" sz="3200" b="1"/>
              <a:t> compare to state-of-art solutions?</a:t>
            </a:r>
          </a:p>
          <a:p>
            <a:endParaRPr lang="en-US" sz="3200" b="1"/>
          </a:p>
          <a:p>
            <a:pPr marL="457200" indent="-457200">
              <a:buFont typeface="Arial" panose="020B0604020202020204" pitchFamily="34" charset="0"/>
              <a:buChar char="•"/>
            </a:pPr>
            <a:r>
              <a:rPr lang="en-US" sz="3200" b="1"/>
              <a:t>What is the overhead?</a:t>
            </a:r>
          </a:p>
          <a:p>
            <a:endParaRPr lang="en-US" sz="3200" b="1"/>
          </a:p>
        </p:txBody>
      </p:sp>
    </p:spTree>
    <p:extLst>
      <p:ext uri="{BB962C8B-B14F-4D97-AF65-F5344CB8AC3E}">
        <p14:creationId xmlns:p14="http://schemas.microsoft.com/office/powerpoint/2010/main" val="311753676"/>
      </p:ext>
    </p:extLst>
  </p:cSld>
  <p:clrMapOvr>
    <a:masterClrMapping/>
  </p:clrMapOvr>
  <mc:AlternateContent xmlns:mc="http://schemas.openxmlformats.org/markup-compatibility/2006" xmlns:p14="http://schemas.microsoft.com/office/powerpoint/2010/main">
    <mc:Choice Requires="p14">
      <p:transition spd="slow" p14:dur="2000" advTm="14506"/>
    </mc:Choice>
    <mc:Fallback xmlns="">
      <p:transition spd="slow" advTm="1450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2000" cy="1188720"/>
          </a:xfrm>
        </p:spPr>
        <p:txBody>
          <a:bodyPr/>
          <a:lstStyle/>
          <a:p>
            <a:pPr algn="ctr"/>
            <a:r>
              <a:rPr lang="en-US" b="1">
                <a:latin typeface="helvetica" panose="020B0604020202020204" pitchFamily="34" charset="0"/>
                <a:cs typeface="helvetica" panose="020B0604020202020204" pitchFamily="34" charset="0"/>
              </a:rPr>
              <a:t>Experiment Setup</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29</a:t>
            </a:fld>
            <a:endParaRPr lang="en-US"/>
          </a:p>
        </p:txBody>
      </p:sp>
      <p:sp>
        <p:nvSpPr>
          <p:cNvPr id="7" name="Rectangle 6">
            <a:extLst>
              <a:ext uri="{FF2B5EF4-FFF2-40B4-BE49-F238E27FC236}">
                <a16:creationId xmlns:a16="http://schemas.microsoft.com/office/drawing/2014/main" id="{8BD3DFDD-B1E9-1738-C14D-7F93CF373A99}"/>
              </a:ext>
            </a:extLst>
          </p:cNvPr>
          <p:cNvSpPr/>
          <p:nvPr/>
        </p:nvSpPr>
        <p:spPr>
          <a:xfrm>
            <a:off x="0" y="931923"/>
            <a:ext cx="12192000" cy="4585871"/>
          </a:xfrm>
          <a:prstGeom prst="rect">
            <a:avLst/>
          </a:prstGeom>
        </p:spPr>
        <p:txBody>
          <a:bodyPr wrap="square">
            <a:spAutoFit/>
          </a:bodyPr>
          <a:lstStyle/>
          <a:p>
            <a:pPr marL="457200" indent="-457200">
              <a:buFont typeface="Arial" panose="020B0604020202020204" pitchFamily="34" charset="0"/>
              <a:buChar char="•"/>
            </a:pPr>
            <a:r>
              <a:rPr lang="en-US" sz="3200" b="1"/>
              <a:t>Implemented in Linux kernel 5.4.1 with a user-level library</a:t>
            </a:r>
          </a:p>
          <a:p>
            <a:pPr marL="457200" indent="-457200">
              <a:buFont typeface="Arial" panose="020B0604020202020204" pitchFamily="34" charset="0"/>
              <a:buChar char="•"/>
            </a:pPr>
            <a:endParaRPr lang="en-US" sz="2400" b="1"/>
          </a:p>
          <a:p>
            <a:pPr marL="457200" indent="-457200">
              <a:buFont typeface="Arial" panose="020B0604020202020204" pitchFamily="34" charset="0"/>
              <a:buChar char="•"/>
            </a:pPr>
            <a:r>
              <a:rPr lang="en-US" sz="3200" b="1"/>
              <a:t>A Static analyzer to find the state event</a:t>
            </a:r>
          </a:p>
          <a:p>
            <a:pPr marL="457200" indent="-457200">
              <a:buFont typeface="Arial" panose="020B0604020202020204" pitchFamily="34" charset="0"/>
              <a:buChar char="•"/>
            </a:pPr>
            <a:endParaRPr lang="en-US" sz="2000"/>
          </a:p>
          <a:p>
            <a:pPr marL="457200" indent="-457200">
              <a:buFont typeface="Arial" panose="020B0604020202020204" pitchFamily="34" charset="0"/>
              <a:buChar char="•"/>
            </a:pPr>
            <a:r>
              <a:rPr lang="en-US" sz="3200" b="1"/>
              <a:t>Ported to five systems</a:t>
            </a:r>
          </a:p>
          <a:p>
            <a:pPr marL="914400" lvl="1" indent="-457200">
              <a:buFont typeface="Courier New" panose="02070309020205020404" pitchFamily="49" charset="0"/>
              <a:buChar char="o"/>
            </a:pPr>
            <a:r>
              <a:rPr lang="en-US" sz="2800"/>
              <a:t>MySQL, PostgreSQL, Apache, Varnish, Memcached</a:t>
            </a:r>
          </a:p>
          <a:p>
            <a:pPr marL="857250" lvl="1" indent="-400050">
              <a:buFont typeface="Courier New" panose="02070309020205020404" pitchFamily="49" charset="0"/>
              <a:buChar char="o"/>
            </a:pPr>
            <a:endParaRPr lang="en-US" sz="2800"/>
          </a:p>
          <a:p>
            <a:pPr marL="857250" lvl="1" indent="-400050">
              <a:lnSpc>
                <a:spcPct val="200000"/>
              </a:lnSpc>
              <a:buFont typeface="Courier New" panose="02070309020205020404" pitchFamily="49" charset="0"/>
              <a:buChar char="o"/>
            </a:pPr>
            <a:endParaRPr lang="en-US">
              <a:ea typeface="Cambria Math" panose="02040503050406030204" pitchFamily="18" charset="0"/>
            </a:endParaRPr>
          </a:p>
          <a:p>
            <a:pPr marL="857250" lvl="1" indent="-400050">
              <a:buFont typeface="Courier New" panose="02070309020205020404" pitchFamily="49" charset="0"/>
              <a:buChar char="o"/>
            </a:pPr>
            <a:endParaRPr lang="en-US" sz="2400"/>
          </a:p>
          <a:p>
            <a:pPr marL="857250" lvl="1" indent="-400050">
              <a:buFont typeface="Courier New" panose="02070309020205020404" pitchFamily="49" charset="0"/>
              <a:buChar char="o"/>
            </a:pPr>
            <a:endParaRPr lang="en-US" sz="3600" b="1"/>
          </a:p>
        </p:txBody>
      </p:sp>
      <p:graphicFrame>
        <p:nvGraphicFramePr>
          <p:cNvPr id="8" name="Table 5">
            <a:extLst>
              <a:ext uri="{FF2B5EF4-FFF2-40B4-BE49-F238E27FC236}">
                <a16:creationId xmlns:a16="http://schemas.microsoft.com/office/drawing/2014/main" id="{A5CA9E15-000A-62FF-F926-088A3A091F94}"/>
              </a:ext>
            </a:extLst>
          </p:cNvPr>
          <p:cNvGraphicFramePr>
            <a:graphicFrameLocks noGrp="1"/>
          </p:cNvGraphicFramePr>
          <p:nvPr>
            <p:extLst>
              <p:ext uri="{D42A27DB-BD31-4B8C-83A1-F6EECF244321}">
                <p14:modId xmlns:p14="http://schemas.microsoft.com/office/powerpoint/2010/main" val="1449647276"/>
              </p:ext>
            </p:extLst>
          </p:nvPr>
        </p:nvGraphicFramePr>
        <p:xfrm>
          <a:off x="1115065" y="3633141"/>
          <a:ext cx="8961120" cy="3088334"/>
        </p:xfrm>
        <a:graphic>
          <a:graphicData uri="http://schemas.openxmlformats.org/drawingml/2006/table">
            <a:tbl>
              <a:tblPr firstRow="1" bandRow="1">
                <a:tableStyleId>{7DF18680-E054-41AD-8BC1-D1AEF772440D}</a:tableStyleId>
              </a:tblPr>
              <a:tblGrid>
                <a:gridCol w="2286000">
                  <a:extLst>
                    <a:ext uri="{9D8B030D-6E8A-4147-A177-3AD203B41FA5}">
                      <a16:colId xmlns:a16="http://schemas.microsoft.com/office/drawing/2014/main" val="823275828"/>
                    </a:ext>
                  </a:extLst>
                </a:gridCol>
                <a:gridCol w="1828800">
                  <a:extLst>
                    <a:ext uri="{9D8B030D-6E8A-4147-A177-3AD203B41FA5}">
                      <a16:colId xmlns:a16="http://schemas.microsoft.com/office/drawing/2014/main" val="397713648"/>
                    </a:ext>
                  </a:extLst>
                </a:gridCol>
                <a:gridCol w="1828800">
                  <a:extLst>
                    <a:ext uri="{9D8B030D-6E8A-4147-A177-3AD203B41FA5}">
                      <a16:colId xmlns:a16="http://schemas.microsoft.com/office/drawing/2014/main" val="1672112557"/>
                    </a:ext>
                  </a:extLst>
                </a:gridCol>
                <a:gridCol w="3017520">
                  <a:extLst>
                    <a:ext uri="{9D8B030D-6E8A-4147-A177-3AD203B41FA5}">
                      <a16:colId xmlns:a16="http://schemas.microsoft.com/office/drawing/2014/main" val="322568992"/>
                    </a:ext>
                  </a:extLst>
                </a:gridCol>
              </a:tblGrid>
              <a:tr h="483078">
                <a:tc>
                  <a:txBody>
                    <a:bodyPr/>
                    <a:lstStyle/>
                    <a:p>
                      <a:pPr algn="ctr"/>
                      <a:r>
                        <a:rPr lang="en-US" sz="2400"/>
                        <a:t>Software</a:t>
                      </a:r>
                    </a:p>
                  </a:txBody>
                  <a:tcPr/>
                </a:tc>
                <a:tc>
                  <a:txBody>
                    <a:bodyPr/>
                    <a:lstStyle/>
                    <a:p>
                      <a:pPr algn="ctr"/>
                      <a:r>
                        <a:rPr lang="en-US" sz="2400"/>
                        <a:t>SLOC</a:t>
                      </a:r>
                    </a:p>
                  </a:txBody>
                  <a:tcPr/>
                </a:tc>
                <a:tc>
                  <a:txBody>
                    <a:bodyPr/>
                    <a:lstStyle/>
                    <a:p>
                      <a:pPr algn="ctr"/>
                      <a:r>
                        <a:rPr lang="en-US" sz="2400"/>
                        <a:t>SLOC Added</a:t>
                      </a:r>
                    </a:p>
                  </a:txBody>
                  <a:tcPr/>
                </a:tc>
                <a:tc>
                  <a:txBody>
                    <a:bodyPr/>
                    <a:lstStyle/>
                    <a:p>
                      <a:pPr algn="ctr"/>
                      <a:r>
                        <a:rPr lang="en-US" sz="2400"/>
                        <a:t>Inspected Functions</a:t>
                      </a:r>
                    </a:p>
                  </a:txBody>
                  <a:tcPr/>
                </a:tc>
                <a:extLst>
                  <a:ext uri="{0D108BD9-81ED-4DB2-BD59-A6C34878D82A}">
                    <a16:rowId xmlns:a16="http://schemas.microsoft.com/office/drawing/2014/main" val="4137325115"/>
                  </a:ext>
                </a:extLst>
              </a:tr>
              <a:tr h="537014">
                <a:tc>
                  <a:txBody>
                    <a:bodyPr/>
                    <a:lstStyle/>
                    <a:p>
                      <a:pPr algn="ctr"/>
                      <a:r>
                        <a:rPr lang="en-US" sz="2400"/>
                        <a:t>MySQL</a:t>
                      </a:r>
                    </a:p>
                  </a:txBody>
                  <a:tcPr/>
                </a:tc>
                <a:tc>
                  <a:txBody>
                    <a:bodyPr/>
                    <a:lstStyle/>
                    <a:p>
                      <a:pPr algn="ctr"/>
                      <a:r>
                        <a:rPr lang="en-US" sz="2400"/>
                        <a:t>1.74M</a:t>
                      </a:r>
                    </a:p>
                  </a:txBody>
                  <a:tcPr/>
                </a:tc>
                <a:tc>
                  <a:txBody>
                    <a:bodyPr/>
                    <a:lstStyle/>
                    <a:p>
                      <a:pPr algn="ctr"/>
                      <a:r>
                        <a:rPr lang="en-US" sz="2400"/>
                        <a:t>192</a:t>
                      </a:r>
                    </a:p>
                  </a:txBody>
                  <a:tcPr/>
                </a:tc>
                <a:tc>
                  <a:txBody>
                    <a:bodyPr/>
                    <a:lstStyle/>
                    <a:p>
                      <a:pPr algn="ctr"/>
                      <a:r>
                        <a:rPr lang="en-US" sz="2400"/>
                        <a:t>83</a:t>
                      </a:r>
                    </a:p>
                  </a:txBody>
                  <a:tcPr/>
                </a:tc>
                <a:extLst>
                  <a:ext uri="{0D108BD9-81ED-4DB2-BD59-A6C34878D82A}">
                    <a16:rowId xmlns:a16="http://schemas.microsoft.com/office/drawing/2014/main" val="2583725489"/>
                  </a:ext>
                </a:extLst>
              </a:tr>
              <a:tr h="372910">
                <a:tc>
                  <a:txBody>
                    <a:bodyPr/>
                    <a:lstStyle/>
                    <a:p>
                      <a:pPr algn="ctr"/>
                      <a:r>
                        <a:rPr lang="en-US" sz="2400"/>
                        <a:t>PostgreSQL</a:t>
                      </a:r>
                    </a:p>
                  </a:txBody>
                  <a:tcPr/>
                </a:tc>
                <a:tc>
                  <a:txBody>
                    <a:bodyPr/>
                    <a:lstStyle/>
                    <a:p>
                      <a:pPr algn="ctr"/>
                      <a:r>
                        <a:rPr lang="en-US" sz="2400"/>
                        <a:t>629K</a:t>
                      </a:r>
                    </a:p>
                  </a:txBody>
                  <a:tcPr/>
                </a:tc>
                <a:tc>
                  <a:txBody>
                    <a:bodyPr/>
                    <a:lstStyle/>
                    <a:p>
                      <a:pPr algn="ctr"/>
                      <a:r>
                        <a:rPr lang="en-US" sz="2400"/>
                        <a:t>127</a:t>
                      </a:r>
                    </a:p>
                  </a:txBody>
                  <a:tcPr/>
                </a:tc>
                <a:tc>
                  <a:txBody>
                    <a:bodyPr/>
                    <a:lstStyle/>
                    <a:p>
                      <a:pPr algn="ctr"/>
                      <a:r>
                        <a:rPr lang="en-US" sz="2400"/>
                        <a:t>71</a:t>
                      </a:r>
                    </a:p>
                  </a:txBody>
                  <a:tcPr/>
                </a:tc>
                <a:extLst>
                  <a:ext uri="{0D108BD9-81ED-4DB2-BD59-A6C34878D82A}">
                    <a16:rowId xmlns:a16="http://schemas.microsoft.com/office/drawing/2014/main" val="404947117"/>
                  </a:ext>
                </a:extLst>
              </a:tr>
              <a:tr h="537014">
                <a:tc>
                  <a:txBody>
                    <a:bodyPr/>
                    <a:lstStyle/>
                    <a:p>
                      <a:pPr algn="ctr"/>
                      <a:r>
                        <a:rPr lang="en-US" sz="2400"/>
                        <a:t>Apache</a:t>
                      </a:r>
                    </a:p>
                  </a:txBody>
                  <a:tcPr/>
                </a:tc>
                <a:tc>
                  <a:txBody>
                    <a:bodyPr/>
                    <a:lstStyle/>
                    <a:p>
                      <a:pPr algn="ctr"/>
                      <a:r>
                        <a:rPr lang="en-US" sz="2400"/>
                        <a:t>198K</a:t>
                      </a:r>
                    </a:p>
                  </a:txBody>
                  <a:tcPr/>
                </a:tc>
                <a:tc>
                  <a:txBody>
                    <a:bodyPr/>
                    <a:lstStyle/>
                    <a:p>
                      <a:pPr algn="ctr"/>
                      <a:r>
                        <a:rPr lang="en-US" sz="2400"/>
                        <a:t>71</a:t>
                      </a:r>
                    </a:p>
                  </a:txBody>
                  <a:tcPr/>
                </a:tc>
                <a:tc>
                  <a:txBody>
                    <a:bodyPr/>
                    <a:lstStyle/>
                    <a:p>
                      <a:pPr algn="ctr"/>
                      <a:r>
                        <a:rPr lang="en-US" sz="2400"/>
                        <a:t>43</a:t>
                      </a:r>
                    </a:p>
                  </a:txBody>
                  <a:tcPr/>
                </a:tc>
                <a:extLst>
                  <a:ext uri="{0D108BD9-81ED-4DB2-BD59-A6C34878D82A}">
                    <a16:rowId xmlns:a16="http://schemas.microsoft.com/office/drawing/2014/main" val="458925624"/>
                  </a:ext>
                </a:extLst>
              </a:tr>
              <a:tr h="537014">
                <a:tc>
                  <a:txBody>
                    <a:bodyPr/>
                    <a:lstStyle/>
                    <a:p>
                      <a:pPr algn="ctr"/>
                      <a:r>
                        <a:rPr lang="en-US" sz="2400"/>
                        <a:t>Varnish</a:t>
                      </a:r>
                    </a:p>
                  </a:txBody>
                  <a:tcPr/>
                </a:tc>
                <a:tc>
                  <a:txBody>
                    <a:bodyPr/>
                    <a:lstStyle/>
                    <a:p>
                      <a:pPr algn="ctr"/>
                      <a:r>
                        <a:rPr lang="en-US" sz="2400"/>
                        <a:t>59K</a:t>
                      </a:r>
                    </a:p>
                  </a:txBody>
                  <a:tcPr/>
                </a:tc>
                <a:tc>
                  <a:txBody>
                    <a:bodyPr/>
                    <a:lstStyle/>
                    <a:p>
                      <a:pPr algn="ctr"/>
                      <a:r>
                        <a:rPr lang="en-US" sz="2400"/>
                        <a:t>77</a:t>
                      </a:r>
                    </a:p>
                  </a:txBody>
                  <a:tcPr/>
                </a:tc>
                <a:tc>
                  <a:txBody>
                    <a:bodyPr/>
                    <a:lstStyle/>
                    <a:p>
                      <a:pPr algn="ctr"/>
                      <a:r>
                        <a:rPr lang="en-US" sz="2400"/>
                        <a:t>53</a:t>
                      </a:r>
                    </a:p>
                  </a:txBody>
                  <a:tcPr/>
                </a:tc>
                <a:extLst>
                  <a:ext uri="{0D108BD9-81ED-4DB2-BD59-A6C34878D82A}">
                    <a16:rowId xmlns:a16="http://schemas.microsoft.com/office/drawing/2014/main" val="3442972422"/>
                  </a:ext>
                </a:extLst>
              </a:tr>
              <a:tr h="537014">
                <a:tc>
                  <a:txBody>
                    <a:bodyPr/>
                    <a:lstStyle/>
                    <a:p>
                      <a:pPr algn="ctr"/>
                      <a:r>
                        <a:rPr lang="en-US" sz="2400"/>
                        <a:t>Memcached</a:t>
                      </a:r>
                    </a:p>
                  </a:txBody>
                  <a:tcPr/>
                </a:tc>
                <a:tc>
                  <a:txBody>
                    <a:bodyPr/>
                    <a:lstStyle/>
                    <a:p>
                      <a:pPr algn="ctr"/>
                      <a:r>
                        <a:rPr lang="en-US" sz="2400"/>
                        <a:t>19K</a:t>
                      </a:r>
                    </a:p>
                  </a:txBody>
                  <a:tcPr/>
                </a:tc>
                <a:tc>
                  <a:txBody>
                    <a:bodyPr/>
                    <a:lstStyle/>
                    <a:p>
                      <a:pPr algn="ctr"/>
                      <a:r>
                        <a:rPr lang="en-US" sz="2400"/>
                        <a:t>70</a:t>
                      </a:r>
                    </a:p>
                  </a:txBody>
                  <a:tcPr/>
                </a:tc>
                <a:tc>
                  <a:txBody>
                    <a:bodyPr/>
                    <a:lstStyle/>
                    <a:p>
                      <a:pPr algn="ctr"/>
                      <a:r>
                        <a:rPr lang="en-US" sz="2400"/>
                        <a:t>22</a:t>
                      </a:r>
                    </a:p>
                  </a:txBody>
                  <a:tcPr/>
                </a:tc>
                <a:extLst>
                  <a:ext uri="{0D108BD9-81ED-4DB2-BD59-A6C34878D82A}">
                    <a16:rowId xmlns:a16="http://schemas.microsoft.com/office/drawing/2014/main" val="2330013815"/>
                  </a:ext>
                </a:extLst>
              </a:tr>
            </a:tbl>
          </a:graphicData>
        </a:graphic>
      </p:graphicFrame>
    </p:spTree>
    <p:extLst>
      <p:ext uri="{BB962C8B-B14F-4D97-AF65-F5344CB8AC3E}">
        <p14:creationId xmlns:p14="http://schemas.microsoft.com/office/powerpoint/2010/main" val="2236418460"/>
      </p:ext>
    </p:extLst>
  </p:cSld>
  <p:clrMapOvr>
    <a:masterClrMapping/>
  </p:clrMapOvr>
  <mc:AlternateContent xmlns:mc="http://schemas.openxmlformats.org/markup-compatibility/2006" xmlns:p14="http://schemas.microsoft.com/office/powerpoint/2010/main">
    <mc:Choice Requires="p14">
      <p:transition spd="slow" p14:dur="2000" advTm="40926"/>
    </mc:Choice>
    <mc:Fallback xmlns="">
      <p:transition spd="slow" advTm="4092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Microbenchmark</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30</a:t>
            </a:fld>
            <a:endParaRPr lang="en-US"/>
          </a:p>
        </p:txBody>
      </p:sp>
      <p:sp>
        <p:nvSpPr>
          <p:cNvPr id="4" name="Rectangle 3">
            <a:extLst>
              <a:ext uri="{FF2B5EF4-FFF2-40B4-BE49-F238E27FC236}">
                <a16:creationId xmlns:a16="http://schemas.microsoft.com/office/drawing/2014/main" id="{BE752C7F-5DF5-EFDE-CB19-2AD986EDECAF}"/>
              </a:ext>
            </a:extLst>
          </p:cNvPr>
          <p:cNvSpPr/>
          <p:nvPr/>
        </p:nvSpPr>
        <p:spPr>
          <a:xfrm>
            <a:off x="0" y="1188721"/>
            <a:ext cx="12192000" cy="584775"/>
          </a:xfrm>
          <a:prstGeom prst="rect">
            <a:avLst/>
          </a:prstGeom>
        </p:spPr>
        <p:txBody>
          <a:bodyPr wrap="square">
            <a:spAutoFit/>
          </a:bodyPr>
          <a:lstStyle/>
          <a:p>
            <a:pPr marL="457200" indent="-457200">
              <a:buFont typeface="Arial" panose="020B0604020202020204" pitchFamily="34" charset="0"/>
              <a:buChar char="•"/>
            </a:pPr>
            <a:r>
              <a:rPr lang="en-US" sz="3200"/>
              <a:t>Test latency of </a:t>
            </a:r>
            <a:r>
              <a:rPr lang="en-US" sz="3200" err="1"/>
              <a:t>pbox</a:t>
            </a:r>
            <a:r>
              <a:rPr lang="en-US" sz="3200"/>
              <a:t> APIs compared with </a:t>
            </a:r>
            <a:r>
              <a:rPr lang="en-US" sz="3200" err="1"/>
              <a:t>get_pid</a:t>
            </a:r>
            <a:endParaRPr lang="en-US" sz="3600"/>
          </a:p>
        </p:txBody>
      </p:sp>
      <p:graphicFrame>
        <p:nvGraphicFramePr>
          <p:cNvPr id="9" name="图表 8">
            <a:extLst>
              <a:ext uri="{FF2B5EF4-FFF2-40B4-BE49-F238E27FC236}">
                <a16:creationId xmlns:a16="http://schemas.microsoft.com/office/drawing/2014/main" id="{AEC6C083-3047-8492-E494-E39A5780D890}"/>
              </a:ext>
            </a:extLst>
          </p:cNvPr>
          <p:cNvGraphicFramePr/>
          <p:nvPr>
            <p:extLst>
              <p:ext uri="{D42A27DB-BD31-4B8C-83A1-F6EECF244321}">
                <p14:modId xmlns:p14="http://schemas.microsoft.com/office/powerpoint/2010/main" val="3425784614"/>
              </p:ext>
            </p:extLst>
          </p:nvPr>
        </p:nvGraphicFramePr>
        <p:xfrm>
          <a:off x="1690254" y="2108585"/>
          <a:ext cx="7823201" cy="4125959"/>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a:extLst>
              <a:ext uri="{FF2B5EF4-FFF2-40B4-BE49-F238E27FC236}">
                <a16:creationId xmlns:a16="http://schemas.microsoft.com/office/drawing/2014/main" id="{77BBC357-EF63-7A34-7DD5-ED509724FCDD}"/>
              </a:ext>
            </a:extLst>
          </p:cNvPr>
          <p:cNvSpPr txBox="1"/>
          <p:nvPr/>
        </p:nvSpPr>
        <p:spPr>
          <a:xfrm>
            <a:off x="97342" y="6063791"/>
            <a:ext cx="3039102" cy="461665"/>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200"/>
              <a:t>update1* </a:t>
            </a:r>
            <a:r>
              <a:rPr lang="en-US" sz="1200" err="1"/>
              <a:t>update_pbox</a:t>
            </a:r>
            <a:r>
              <a:rPr lang="en-US" sz="1200"/>
              <a:t> under no interference</a:t>
            </a:r>
          </a:p>
          <a:p>
            <a:r>
              <a:rPr lang="en-US" altLang="zh-CN" sz="1200"/>
              <a:t>update2* </a:t>
            </a:r>
            <a:r>
              <a:rPr lang="en-US" altLang="zh-CN" sz="1200" err="1"/>
              <a:t>update_pbox</a:t>
            </a:r>
            <a:r>
              <a:rPr lang="en-US" altLang="zh-CN" sz="1200"/>
              <a:t> under  interference</a:t>
            </a:r>
            <a:endParaRPr lang="en-US" sz="1200"/>
          </a:p>
        </p:txBody>
      </p:sp>
    </p:spTree>
    <p:extLst>
      <p:ext uri="{BB962C8B-B14F-4D97-AF65-F5344CB8AC3E}">
        <p14:creationId xmlns:p14="http://schemas.microsoft.com/office/powerpoint/2010/main" val="4151240843"/>
      </p:ext>
    </p:extLst>
  </p:cSld>
  <p:clrMapOvr>
    <a:masterClrMapping/>
  </p:clrMapOvr>
  <mc:AlternateContent xmlns:mc="http://schemas.openxmlformats.org/markup-compatibility/2006" xmlns:p14="http://schemas.microsoft.com/office/powerpoint/2010/main">
    <mc:Choice Requires="p14">
      <p:transition spd="slow" p14:dur="2000" advTm="22114"/>
    </mc:Choice>
    <mc:Fallback xmlns="">
      <p:transition spd="slow" advTm="2211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Real-world intra-app interference cases</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31</a:t>
            </a:fld>
            <a:endParaRPr lang="en-US"/>
          </a:p>
        </p:txBody>
      </p:sp>
      <p:graphicFrame>
        <p:nvGraphicFramePr>
          <p:cNvPr id="4" name="Table 3">
            <a:extLst>
              <a:ext uri="{FF2B5EF4-FFF2-40B4-BE49-F238E27FC236}">
                <a16:creationId xmlns:a16="http://schemas.microsoft.com/office/drawing/2014/main" id="{86A2B8C3-6BA2-F747-04D2-E953213029AA}"/>
              </a:ext>
            </a:extLst>
          </p:cNvPr>
          <p:cNvGraphicFramePr>
            <a:graphicFrameLocks noGrp="1"/>
          </p:cNvGraphicFramePr>
          <p:nvPr>
            <p:extLst>
              <p:ext uri="{D42A27DB-BD31-4B8C-83A1-F6EECF244321}">
                <p14:modId xmlns:p14="http://schemas.microsoft.com/office/powerpoint/2010/main" val="2944547877"/>
              </p:ext>
            </p:extLst>
          </p:nvPr>
        </p:nvGraphicFramePr>
        <p:xfrm>
          <a:off x="744070" y="930854"/>
          <a:ext cx="10784542" cy="5730240"/>
        </p:xfrm>
        <a:graphic>
          <a:graphicData uri="http://schemas.openxmlformats.org/drawingml/2006/table">
            <a:tbl>
              <a:tblPr firstRow="1" bandRow="1">
                <a:tableStyleId>{5C22544A-7EE6-4342-B048-85BDC9FD1C3A}</a:tableStyleId>
              </a:tblPr>
              <a:tblGrid>
                <a:gridCol w="1208865">
                  <a:extLst>
                    <a:ext uri="{9D8B030D-6E8A-4147-A177-3AD203B41FA5}">
                      <a16:colId xmlns:a16="http://schemas.microsoft.com/office/drawing/2014/main" val="473607550"/>
                    </a:ext>
                  </a:extLst>
                </a:gridCol>
                <a:gridCol w="1444689">
                  <a:extLst>
                    <a:ext uri="{9D8B030D-6E8A-4147-A177-3AD203B41FA5}">
                      <a16:colId xmlns:a16="http://schemas.microsoft.com/office/drawing/2014/main" val="3361702693"/>
                    </a:ext>
                  </a:extLst>
                </a:gridCol>
                <a:gridCol w="2898673">
                  <a:extLst>
                    <a:ext uri="{9D8B030D-6E8A-4147-A177-3AD203B41FA5}">
                      <a16:colId xmlns:a16="http://schemas.microsoft.com/office/drawing/2014/main" val="867022486"/>
                    </a:ext>
                  </a:extLst>
                </a:gridCol>
                <a:gridCol w="5232315">
                  <a:extLst>
                    <a:ext uri="{9D8B030D-6E8A-4147-A177-3AD203B41FA5}">
                      <a16:colId xmlns:a16="http://schemas.microsoft.com/office/drawing/2014/main" val="1778624754"/>
                    </a:ext>
                  </a:extLst>
                </a:gridCol>
              </a:tblGrid>
              <a:tr h="363351">
                <a:tc>
                  <a:txBody>
                    <a:bodyPr/>
                    <a:lstStyle/>
                    <a:p>
                      <a:pPr algn="ctr"/>
                      <a:r>
                        <a:rPr lang="en-US" sz="1800">
                          <a:solidFill>
                            <a:schemeClr val="tx1"/>
                          </a:solidFill>
                        </a:rPr>
                        <a:t>ID</a:t>
                      </a:r>
                    </a:p>
                  </a:txBody>
                  <a:tcPr>
                    <a:lnB w="12700" cap="flat" cmpd="sng" algn="ctr">
                      <a:solidFill>
                        <a:schemeClr val="tx1"/>
                      </a:solidFill>
                      <a:prstDash val="solid"/>
                      <a:round/>
                      <a:headEnd type="none" w="med" len="med"/>
                      <a:tailEnd type="none" w="med" len="med"/>
                    </a:lnB>
                    <a:solidFill>
                      <a:srgbClr val="2E75B6"/>
                    </a:solidFill>
                  </a:tcPr>
                </a:tc>
                <a:tc>
                  <a:txBody>
                    <a:bodyPr/>
                    <a:lstStyle/>
                    <a:p>
                      <a:pPr algn="ctr"/>
                      <a:r>
                        <a:rPr lang="en-US" sz="1800">
                          <a:solidFill>
                            <a:schemeClr val="tx1"/>
                          </a:solidFill>
                        </a:rPr>
                        <a:t>Application</a:t>
                      </a:r>
                    </a:p>
                  </a:txBody>
                  <a:tcPr>
                    <a:lnB w="12700" cap="flat" cmpd="sng" algn="ctr">
                      <a:solidFill>
                        <a:schemeClr val="tx1"/>
                      </a:solidFill>
                      <a:prstDash val="solid"/>
                      <a:round/>
                      <a:headEnd type="none" w="med" len="med"/>
                      <a:tailEnd type="none" w="med" len="med"/>
                    </a:lnB>
                    <a:solidFill>
                      <a:srgbClr val="2E75B6"/>
                    </a:solidFill>
                  </a:tcPr>
                </a:tc>
                <a:tc>
                  <a:txBody>
                    <a:bodyPr/>
                    <a:lstStyle/>
                    <a:p>
                      <a:pPr algn="ctr"/>
                      <a:r>
                        <a:rPr lang="en-US" altLang="zh-CN">
                          <a:solidFill>
                            <a:schemeClr val="tx1"/>
                          </a:solidFill>
                        </a:rPr>
                        <a:t>Contending Resource</a:t>
                      </a:r>
                      <a:endParaRPr lang="en-US" sz="1800">
                        <a:solidFill>
                          <a:schemeClr val="tx1"/>
                        </a:solidFill>
                      </a:endParaRPr>
                    </a:p>
                  </a:txBody>
                  <a:tcPr>
                    <a:lnB w="12700" cap="flat" cmpd="sng" algn="ctr">
                      <a:solidFill>
                        <a:schemeClr val="tx1"/>
                      </a:solidFill>
                      <a:prstDash val="solid"/>
                      <a:round/>
                      <a:headEnd type="none" w="med" len="med"/>
                      <a:tailEnd type="none" w="med" len="med"/>
                    </a:lnB>
                    <a:solidFill>
                      <a:srgbClr val="2E75B6"/>
                    </a:solidFill>
                  </a:tcPr>
                </a:tc>
                <a:tc>
                  <a:txBody>
                    <a:bodyPr/>
                    <a:lstStyle/>
                    <a:p>
                      <a:pPr algn="ctr"/>
                      <a:r>
                        <a:rPr lang="en-US" sz="1800">
                          <a:solidFill>
                            <a:schemeClr val="tx1"/>
                          </a:solidFill>
                        </a:rPr>
                        <a:t>Description</a:t>
                      </a:r>
                    </a:p>
                  </a:txBody>
                  <a:tcPr>
                    <a:lnB w="12700" cap="flat" cmpd="sng" algn="ctr">
                      <a:solidFill>
                        <a:schemeClr val="tx1"/>
                      </a:solidFill>
                      <a:prstDash val="solid"/>
                      <a:round/>
                      <a:headEnd type="none" w="med" len="med"/>
                      <a:tailEnd type="none" w="med" len="med"/>
                    </a:lnB>
                    <a:solidFill>
                      <a:srgbClr val="2E75B6"/>
                    </a:solidFill>
                  </a:tcPr>
                </a:tc>
                <a:extLst>
                  <a:ext uri="{0D108BD9-81ED-4DB2-BD59-A6C34878D82A}">
                    <a16:rowId xmlns:a16="http://schemas.microsoft.com/office/drawing/2014/main" val="3369378845"/>
                  </a:ext>
                </a:extLst>
              </a:tr>
              <a:tr h="302793">
                <a:tc>
                  <a:txBody>
                    <a:bodyPr/>
                    <a:lstStyle/>
                    <a:p>
                      <a:pPr algn="ctr"/>
                      <a:r>
                        <a:rPr lang="en-US" sz="1600"/>
                        <a:t>C1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a:endParaRPr lang="en-US" sz="1600"/>
                    </a:p>
                    <a:p>
                      <a:pPr algn="ctr"/>
                      <a:endParaRPr lang="en-US" sz="1600"/>
                    </a:p>
                    <a:p>
                      <a:pPr algn="ctr"/>
                      <a:endParaRPr lang="en-US" sz="1600"/>
                    </a:p>
                    <a:p>
                      <a:pPr algn="ctr"/>
                      <a:r>
                        <a:rPr lang="en-US" sz="1600"/>
                        <a:t>MySQL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Write query blocked by long update query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4878199"/>
                  </a:ext>
                </a:extLst>
              </a:tr>
              <a:tr h="302793">
                <a:tc>
                  <a:txBody>
                    <a:bodyPr/>
                    <a:lstStyle/>
                    <a:p>
                      <a:pPr algn="ctr"/>
                      <a:r>
                        <a:rPr lang="en-US" sz="1600"/>
                        <a:t>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MySQL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global mutex</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Inserting query on table without primary key has contention</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7116997"/>
                  </a:ext>
                </a:extLst>
              </a:tr>
              <a:tr h="302793">
                <a:tc>
                  <a:txBody>
                    <a:bodyPr/>
                    <a:lstStyle/>
                    <a:p>
                      <a:pPr algn="ctr"/>
                      <a:r>
                        <a:rPr lang="en-US" sz="1600"/>
                        <a:t>C3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MySQL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tickets</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1200">
                          <a:solidFill>
                            <a:schemeClr val="dk1"/>
                          </a:solidFill>
                          <a:latin typeface="+mn-lt"/>
                          <a:ea typeface="+mn-ea"/>
                          <a:cs typeface="+mn-cs"/>
                        </a:rPr>
                        <a:t>Query blocked on </a:t>
                      </a:r>
                      <a:r>
                        <a:rPr lang="en-US" altLang="zh-CN" sz="1600" kern="1200" err="1">
                          <a:solidFill>
                            <a:schemeClr val="dk1"/>
                          </a:solidFill>
                          <a:latin typeface="+mn-lt"/>
                          <a:ea typeface="+mn-ea"/>
                          <a:cs typeface="+mn-cs"/>
                        </a:rPr>
                        <a:t>innodb</a:t>
                      </a:r>
                      <a:r>
                        <a:rPr lang="en-US" altLang="zh-CN" sz="1600" kern="1200">
                          <a:solidFill>
                            <a:schemeClr val="dk1"/>
                          </a:solidFill>
                          <a:latin typeface="+mn-lt"/>
                          <a:ea typeface="+mn-ea"/>
                          <a:cs typeface="+mn-cs"/>
                        </a:rPr>
                        <a:t> thread concurrency</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5873459"/>
                  </a:ext>
                </a:extLst>
              </a:tr>
              <a:tr h="274320">
                <a:tc>
                  <a:txBody>
                    <a:bodyPr/>
                    <a:lstStyle/>
                    <a:p>
                      <a:pPr algn="ctr"/>
                      <a:r>
                        <a:rPr lang="en-US" sz="1600"/>
                        <a:t>C4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MySQL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transaction history 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SERIALIZABLE </a:t>
                      </a:r>
                      <a:r>
                        <a:rPr lang="en-US" altLang="zh-CN" sz="1600" kern="1200">
                          <a:solidFill>
                            <a:schemeClr val="dk1"/>
                          </a:solidFill>
                          <a:latin typeface="+mn-lt"/>
                          <a:ea typeface="+mn-ea"/>
                          <a:cs typeface="+mn-cs"/>
                        </a:rPr>
                        <a:t>isolation</a:t>
                      </a:r>
                      <a:r>
                        <a:rPr lang="en-US" altLang="zh-CN" sz="1600"/>
                        <a:t> causes overhead to read query</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03774780"/>
                  </a:ext>
                </a:extLst>
              </a:tr>
              <a:tr h="302793">
                <a:tc>
                  <a:txBody>
                    <a:bodyPr/>
                    <a:lstStyle/>
                    <a:p>
                      <a:pPr algn="ctr"/>
                      <a:r>
                        <a:rPr lang="en-US" sz="1600"/>
                        <a:t>C5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MySQL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UNDO log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Background purge task blocks client request</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34357544"/>
                  </a:ext>
                </a:extLst>
              </a:tr>
              <a:tr h="302793">
                <a:tc>
                  <a:txBody>
                    <a:bodyPr/>
                    <a:lstStyle/>
                    <a:p>
                      <a:pPr algn="ctr"/>
                      <a:r>
                        <a:rPr lang="en-US" sz="1600"/>
                        <a:t>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a:endParaRPr lang="en-US" sz="1600"/>
                    </a:p>
                    <a:p>
                      <a:pPr algn="ctr"/>
                      <a:endParaRPr lang="en-US" sz="1600"/>
                    </a:p>
                    <a:p>
                      <a:pPr algn="ctr"/>
                      <a:endParaRPr lang="en-US" sz="1600"/>
                    </a:p>
                    <a:p>
                      <a:pPr algn="ctr"/>
                      <a:r>
                        <a:rPr lang="en-US" sz="1600"/>
                        <a:t>PostgreSQL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index search tree</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In-progress INSERT </a:t>
                      </a:r>
                      <a:r>
                        <a:rPr lang="en-US" altLang="zh-CN" sz="1600" err="1"/>
                        <a:t>delayes</a:t>
                      </a:r>
                      <a:r>
                        <a:rPr lang="en-US" altLang="zh-CN" sz="1600"/>
                        <a:t> other queries</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04189572"/>
                  </a:ext>
                </a:extLst>
              </a:tr>
              <a:tr h="302793">
                <a:tc>
                  <a:txBody>
                    <a:bodyPr/>
                    <a:lstStyle/>
                    <a:p>
                      <a:pPr algn="ctr"/>
                      <a:r>
                        <a:rPr lang="en-US" sz="1600"/>
                        <a:t>C7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PostgreSQL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database  table</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kern="1200">
                          <a:solidFill>
                            <a:schemeClr val="dk1"/>
                          </a:solidFill>
                          <a:latin typeface="+mn-lt"/>
                          <a:ea typeface="+mn-ea"/>
                          <a:cs typeface="+mn-cs"/>
                        </a:rPr>
                        <a:t>Long update query blocks other requests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3720342"/>
                  </a:ext>
                </a:extLst>
              </a:tr>
              <a:tr h="302793">
                <a:tc>
                  <a:txBody>
                    <a:bodyPr/>
                    <a:lstStyle/>
                    <a:p>
                      <a:pPr algn="ctr"/>
                      <a:r>
                        <a:rPr lang="en-US" sz="1600"/>
                        <a:t>C8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PostgreSQL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database  table</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kern="1200">
                          <a:solidFill>
                            <a:schemeClr val="dk1"/>
                          </a:solidFill>
                          <a:latin typeface="+mn-lt"/>
                          <a:ea typeface="+mn-ea"/>
                          <a:cs typeface="+mn-cs"/>
                        </a:rPr>
                        <a:t>buffer content lock contention on SHARED lock</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6126979"/>
                  </a:ext>
                </a:extLst>
              </a:tr>
              <a:tr h="302793">
                <a:tc>
                  <a:txBody>
                    <a:bodyPr/>
                    <a:lstStyle/>
                    <a:p>
                      <a:pPr algn="ctr"/>
                      <a:r>
                        <a:rPr lang="en-US" sz="1600"/>
                        <a:t>C9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PostgreSQL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dead table rows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Vacuum full process blocks other requests</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5995441"/>
                  </a:ext>
                </a:extLst>
              </a:tr>
              <a:tr h="274320">
                <a:tc>
                  <a:txBody>
                    <a:bodyPr/>
                    <a:lstStyle/>
                    <a:p>
                      <a:pPr algn="ctr"/>
                      <a:r>
                        <a:rPr lang="en-US" sz="1600"/>
                        <a:t>C10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a:t>PostgreSQL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write-ahead log</a:t>
                      </a:r>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A large WAL blocks requests</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22165084"/>
                  </a:ext>
                </a:extLst>
              </a:tr>
              <a:tr h="302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C11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kern="1200">
                        <a:solidFill>
                          <a:schemeClr val="dk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a:solidFill>
                            <a:schemeClr val="dk1"/>
                          </a:solidFill>
                          <a:latin typeface="+mn-lt"/>
                          <a:ea typeface="+mn-ea"/>
                          <a:cs typeface="+mn-cs"/>
                        </a:rPr>
                        <a:t>Apache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err="1"/>
                        <a:t>fcgid</a:t>
                      </a:r>
                      <a:r>
                        <a:rPr lang="en-US" altLang="zh-CN" sz="1600"/>
                        <a:t> request queue</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slow request in </a:t>
                      </a:r>
                      <a:r>
                        <a:rPr lang="en-US" altLang="zh-CN" sz="1600" err="1"/>
                        <a:t>mod_fcgid</a:t>
                      </a:r>
                      <a:r>
                        <a:rPr lang="en-US" altLang="zh-CN" sz="1600"/>
                        <a:t> blocks other fast connections</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70107449"/>
                  </a:ext>
                </a:extLst>
              </a:tr>
              <a:tr h="302793">
                <a:tc>
                  <a:txBody>
                    <a:bodyPr/>
                    <a:lstStyle/>
                    <a:p>
                      <a:pPr algn="ctr"/>
                      <a:r>
                        <a:rPr lang="en-US" sz="1600" kern="1200">
                          <a:solidFill>
                            <a:schemeClr val="dk1"/>
                          </a:solidFill>
                          <a:latin typeface="+mn-lt"/>
                          <a:ea typeface="+mn-ea"/>
                          <a:cs typeface="+mn-cs"/>
                        </a:rPr>
                        <a:t>C12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r>
                        <a:rPr lang="en-US" sz="1400" kern="1200">
                          <a:solidFill>
                            <a:schemeClr val="dk1"/>
                          </a:solidFill>
                          <a:latin typeface="+mn-lt"/>
                          <a:ea typeface="+mn-ea"/>
                          <a:cs typeface="+mn-cs"/>
                        </a:rPr>
                        <a:t>Apache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err="1"/>
                        <a:t>apache</a:t>
                      </a:r>
                      <a:r>
                        <a:rPr lang="en-US" altLang="zh-CN" sz="1600"/>
                        <a:t> thread pools</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Apache locks server if reaching </a:t>
                      </a:r>
                      <a:r>
                        <a:rPr lang="en-US" altLang="zh-CN" sz="1600" err="1"/>
                        <a:t>maxclient</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80445517"/>
                  </a:ext>
                </a:extLst>
              </a:tr>
              <a:tr h="302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a:solidFill>
                            <a:schemeClr val="dk1"/>
                          </a:solidFill>
                          <a:latin typeface="+mn-lt"/>
                          <a:ea typeface="+mn-ea"/>
                          <a:cs typeface="+mn-cs"/>
                        </a:rPr>
                        <a:t>C13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a:solidFill>
                            <a:schemeClr val="dk1"/>
                          </a:solidFill>
                          <a:latin typeface="+mn-lt"/>
                          <a:ea typeface="+mn-ea"/>
                          <a:cs typeface="+mn-cs"/>
                        </a:rPr>
                        <a:t>Apache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err="1"/>
                        <a:t>php</a:t>
                      </a:r>
                      <a:r>
                        <a:rPr lang="en-US" altLang="zh-CN" sz="1600"/>
                        <a:t> thread pool</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Apache server slows due to contention on </a:t>
                      </a:r>
                      <a:r>
                        <a:rPr lang="en-US" altLang="zh-CN" sz="1600" err="1"/>
                        <a:t>php</a:t>
                      </a:r>
                      <a:r>
                        <a:rPr lang="en-US" altLang="zh-CN" sz="1600"/>
                        <a:t> connection</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5438831"/>
                  </a:ext>
                </a:extLst>
              </a:tr>
              <a:tr h="302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a:solidFill>
                            <a:schemeClr val="dk1"/>
                          </a:solidFill>
                          <a:latin typeface="+mn-lt"/>
                          <a:ea typeface="+mn-ea"/>
                          <a:cs typeface="+mn-cs"/>
                        </a:rPr>
                        <a:t>C14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CN" sz="1600" kern="1200">
                          <a:solidFill>
                            <a:schemeClr val="dk1"/>
                          </a:solidFill>
                          <a:latin typeface="+mn-lt"/>
                          <a:ea typeface="+mn-ea"/>
                          <a:cs typeface="+mn-cs"/>
                        </a:rPr>
                        <a:t>Varnish</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varnish thread pool</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Slow request on visiting big objects block other request</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7841386"/>
                  </a:ext>
                </a:extLst>
              </a:tr>
              <a:tr h="302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a:solidFill>
                            <a:schemeClr val="dk1"/>
                          </a:solidFill>
                          <a:latin typeface="+mn-lt"/>
                          <a:ea typeface="+mn-ea"/>
                          <a:cs typeface="+mn-cs"/>
                        </a:rPr>
                        <a:t>C15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a:solidFill>
                            <a:schemeClr val="dk1"/>
                          </a:solidFill>
                          <a:latin typeface="+mn-lt"/>
                          <a:ea typeface="+mn-ea"/>
                          <a:cs typeface="+mn-cs"/>
                        </a:rPr>
                        <a:t>Varnish</a:t>
                      </a:r>
                      <a:endParaRPr lang="en-US" sz="14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system lock</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lock contention with high number of thread pools</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2483167"/>
                  </a:ext>
                </a:extLst>
              </a:tr>
              <a:tr h="302793">
                <a:tc>
                  <a:txBody>
                    <a:bodyPr/>
                    <a:lstStyle/>
                    <a:p>
                      <a:pPr algn="ctr"/>
                      <a:r>
                        <a:rPr lang="en-US" sz="1600" kern="1200">
                          <a:solidFill>
                            <a:schemeClr val="dk1"/>
                          </a:solidFill>
                          <a:latin typeface="+mn-lt"/>
                          <a:ea typeface="+mn-ea"/>
                          <a:cs typeface="+mn-cs"/>
                        </a:rPr>
                        <a:t>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kern="1200">
                          <a:solidFill>
                            <a:schemeClr val="dk1"/>
                          </a:solidFill>
                          <a:latin typeface="+mn-lt"/>
                          <a:ea typeface="+mn-ea"/>
                          <a:cs typeface="+mn-cs"/>
                        </a:rPr>
                        <a:t>Memcached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system lock</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t>lock contention in the cache replacement</a:t>
                      </a:r>
                      <a:endParaRPr lang="en-US" sz="1600" kern="120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5629111"/>
                  </a:ext>
                </a:extLst>
              </a:tr>
            </a:tbl>
          </a:graphicData>
        </a:graphic>
      </p:graphicFrame>
    </p:spTree>
    <p:extLst>
      <p:ext uri="{BB962C8B-B14F-4D97-AF65-F5344CB8AC3E}">
        <p14:creationId xmlns:p14="http://schemas.microsoft.com/office/powerpoint/2010/main" val="2759802191"/>
      </p:ext>
    </p:extLst>
  </p:cSld>
  <p:clrMapOvr>
    <a:masterClrMapping/>
  </p:clrMapOvr>
  <mc:AlternateContent xmlns:mc="http://schemas.openxmlformats.org/markup-compatibility/2006" xmlns:p14="http://schemas.microsoft.com/office/powerpoint/2010/main">
    <mc:Choice Requires="p14">
      <p:transition spd="slow" p14:dur="2000" advTm="19779"/>
    </mc:Choice>
    <mc:Fallback xmlns="">
      <p:transition spd="slow" advTm="1977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Performance Interference</a:t>
            </a:r>
            <a:r>
              <a:rPr lang="en-US" b="1">
                <a:cs typeface="Calibri Light"/>
              </a:rPr>
              <a:t> </a:t>
            </a:r>
            <a:r>
              <a:rPr lang="en-US" b="1">
                <a:latin typeface="helvetica" panose="020B0604020202020204" pitchFamily="34" charset="0"/>
                <a:cs typeface="helvetica" panose="020B0604020202020204" pitchFamily="34" charset="0"/>
              </a:rPr>
              <a:t>Reduction</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32</a:t>
            </a:fld>
            <a:endParaRPr 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6452100-F042-4163-5218-5A0C4FF4FAFC}"/>
                  </a:ext>
                </a:extLst>
              </p:cNvPr>
              <p:cNvSpPr txBox="1"/>
              <p:nvPr/>
            </p:nvSpPr>
            <p:spPr>
              <a:xfrm>
                <a:off x="698306" y="1176779"/>
                <a:ext cx="5103385" cy="726289"/>
              </a:xfrm>
              <a:prstGeom prst="rect">
                <a:avLst/>
              </a:prstGeom>
              <a:noFill/>
            </p:spPr>
            <p:txBody>
              <a:bodyPr wrap="none" rtlCol="0">
                <a:spAutoFit/>
              </a:bodyPr>
              <a:lstStyle/>
              <a:p>
                <a:r>
                  <a:rPr lang="en-US" altLang="zh-CN" sz="2400"/>
                  <a:t>Reduction Ratio = </a:t>
                </a:r>
                <a14:m>
                  <m:oMath xmlns:m="http://schemas.openxmlformats.org/officeDocument/2006/math">
                    <m:f>
                      <m:fPr>
                        <m:ctrlPr>
                          <a:rPr lang="en-US" altLang="zh-CN" sz="2400" i="1" smtClean="0">
                            <a:latin typeface="Cambria Math" panose="02040503050406030204" pitchFamily="18" charset="0"/>
                          </a:rPr>
                        </m:ctrlPr>
                      </m:fPr>
                      <m:num>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i="1">
                                <a:latin typeface="Cambria Math" panose="02040503050406030204" pitchFamily="18" charset="0"/>
                              </a:rPr>
                              <m:t>𝐼𝑛𝑡𝑒𝑟𝑓𝑒𝑟𝑒𝑛𝑐𝑒</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b="0" i="1" smtClean="0">
                                <a:latin typeface="Cambria Math" panose="02040503050406030204" pitchFamily="18" charset="0"/>
                              </a:rPr>
                              <m:t>𝑆𝑜𝑙𝑢𝑡𝑖𝑜𝑛</m:t>
                            </m:r>
                          </m:sub>
                        </m:sSub>
                      </m:num>
                      <m:den>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𝐼𝑛𝑡𝑒𝑟𝑓𝑒𝑟𝑒𝑛𝑐𝑒</m:t>
                            </m:r>
                          </m:sub>
                        </m:sSub>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b="0" i="1" smtClean="0">
                                <a:latin typeface="Cambria Math" panose="02040503050406030204" pitchFamily="18" charset="0"/>
                              </a:rPr>
                              <m:t>𝑁𝑜𝑟𝑚𝑎𝑙</m:t>
                            </m:r>
                          </m:sub>
                        </m:sSub>
                      </m:den>
                    </m:f>
                  </m:oMath>
                </a14:m>
                <a:endParaRPr lang="zh-CN" altLang="en-US" sz="2400"/>
              </a:p>
            </p:txBody>
          </p:sp>
        </mc:Choice>
        <mc:Fallback xmlns="">
          <p:sp>
            <p:nvSpPr>
              <p:cNvPr id="4" name="文本框 3">
                <a:extLst>
                  <a:ext uri="{FF2B5EF4-FFF2-40B4-BE49-F238E27FC236}">
                    <a16:creationId xmlns:a16="http://schemas.microsoft.com/office/drawing/2014/main" id="{E6452100-F042-4163-5218-5A0C4FF4FAFC}"/>
                  </a:ext>
                </a:extLst>
              </p:cNvPr>
              <p:cNvSpPr txBox="1">
                <a:spLocks noRot="1" noChangeAspect="1" noMove="1" noResize="1" noEditPoints="1" noAdjustHandles="1" noChangeArrowheads="1" noChangeShapeType="1" noTextEdit="1"/>
              </p:cNvSpPr>
              <p:nvPr/>
            </p:nvSpPr>
            <p:spPr>
              <a:xfrm>
                <a:off x="698306" y="1176779"/>
                <a:ext cx="5103385" cy="726289"/>
              </a:xfrm>
              <a:prstGeom prst="rect">
                <a:avLst/>
              </a:prstGeom>
              <a:blipFill>
                <a:blip r:embed="rId5"/>
                <a:stretch>
                  <a:fillRect l="-1912"/>
                </a:stretch>
              </a:blipFill>
            </p:spPr>
            <p:txBody>
              <a:bodyPr/>
              <a:lstStyle/>
              <a:p>
                <a:r>
                  <a:rPr lang="en-US">
                    <a:noFill/>
                  </a:rPr>
                  <a:t> </a:t>
                </a:r>
              </a:p>
            </p:txBody>
          </p:sp>
        </mc:Fallback>
      </mc:AlternateContent>
      <p:graphicFrame>
        <p:nvGraphicFramePr>
          <p:cNvPr id="8" name="图表 7">
            <a:extLst>
              <a:ext uri="{FF2B5EF4-FFF2-40B4-BE49-F238E27FC236}">
                <a16:creationId xmlns:a16="http://schemas.microsoft.com/office/drawing/2014/main" id="{1DF07E41-8B4B-2B5B-77DF-51001516BB16}"/>
              </a:ext>
            </a:extLst>
          </p:cNvPr>
          <p:cNvGraphicFramePr/>
          <p:nvPr>
            <p:extLst>
              <p:ext uri="{D42A27DB-BD31-4B8C-83A1-F6EECF244321}">
                <p14:modId xmlns:p14="http://schemas.microsoft.com/office/powerpoint/2010/main" val="1182011926"/>
              </p:ext>
            </p:extLst>
          </p:nvPr>
        </p:nvGraphicFramePr>
        <p:xfrm>
          <a:off x="645042" y="2001302"/>
          <a:ext cx="10708758" cy="4451301"/>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Box 5">
            <a:extLst>
              <a:ext uri="{FF2B5EF4-FFF2-40B4-BE49-F238E27FC236}">
                <a16:creationId xmlns:a16="http://schemas.microsoft.com/office/drawing/2014/main" id="{B2E63252-E9A5-E8F5-F03F-60F9A14E0AC6}"/>
              </a:ext>
            </a:extLst>
          </p:cNvPr>
          <p:cNvSpPr txBox="1"/>
          <p:nvPr/>
        </p:nvSpPr>
        <p:spPr>
          <a:xfrm>
            <a:off x="6801593" y="1533736"/>
            <a:ext cx="6097978" cy="523220"/>
          </a:xfrm>
          <a:prstGeom prst="rect">
            <a:avLst/>
          </a:prstGeom>
          <a:noFill/>
        </p:spPr>
        <p:txBody>
          <a:bodyPr wrap="square">
            <a:spAutoFit/>
          </a:bodyPr>
          <a:lstStyle/>
          <a:p>
            <a:r>
              <a:rPr lang="en-US" sz="2800" err="1"/>
              <a:t>pBox</a:t>
            </a:r>
            <a:r>
              <a:rPr lang="en-US" sz="2800"/>
              <a:t>: </a:t>
            </a:r>
            <a:r>
              <a:rPr lang="en-US" sz="2800">
                <a:solidFill>
                  <a:srgbClr val="C00000"/>
                </a:solidFill>
              </a:rPr>
              <a:t>86%</a:t>
            </a:r>
          </a:p>
        </p:txBody>
      </p:sp>
    </p:spTree>
    <p:extLst>
      <p:ext uri="{BB962C8B-B14F-4D97-AF65-F5344CB8AC3E}">
        <p14:creationId xmlns:p14="http://schemas.microsoft.com/office/powerpoint/2010/main" val="3517415290"/>
      </p:ext>
    </p:extLst>
  </p:cSld>
  <p:clrMapOvr>
    <a:masterClrMapping/>
  </p:clrMapOvr>
  <mc:AlternateContent xmlns:mc="http://schemas.openxmlformats.org/markup-compatibility/2006" xmlns:p14="http://schemas.microsoft.com/office/powerpoint/2010/main">
    <mc:Choice Requires="p14">
      <p:transition spd="slow" p14:dur="2000" advTm="29606"/>
    </mc:Choice>
    <mc:Fallback xmlns="">
      <p:transition spd="slow" advTm="2960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Performance Interference</a:t>
            </a:r>
            <a:r>
              <a:rPr lang="en-US" b="1">
                <a:cs typeface="Calibri Light"/>
              </a:rPr>
              <a:t> </a:t>
            </a:r>
            <a:r>
              <a:rPr lang="en-US" b="1">
                <a:latin typeface="helvetica" panose="020B0604020202020204" pitchFamily="34" charset="0"/>
                <a:cs typeface="helvetica" panose="020B0604020202020204" pitchFamily="34" charset="0"/>
              </a:rPr>
              <a:t>Reduction</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33</a:t>
            </a:fld>
            <a:endParaRPr lang="en-US"/>
          </a:p>
        </p:txBody>
      </p:sp>
      <p:graphicFrame>
        <p:nvGraphicFramePr>
          <p:cNvPr id="8" name="图表 7">
            <a:extLst>
              <a:ext uri="{FF2B5EF4-FFF2-40B4-BE49-F238E27FC236}">
                <a16:creationId xmlns:a16="http://schemas.microsoft.com/office/drawing/2014/main" id="{1DF07E41-8B4B-2B5B-77DF-51001516BB16}"/>
              </a:ext>
            </a:extLst>
          </p:cNvPr>
          <p:cNvGraphicFramePr/>
          <p:nvPr>
            <p:extLst>
              <p:ext uri="{D42A27DB-BD31-4B8C-83A1-F6EECF244321}">
                <p14:modId xmlns:p14="http://schemas.microsoft.com/office/powerpoint/2010/main" val="1292372134"/>
              </p:ext>
            </p:extLst>
          </p:nvPr>
        </p:nvGraphicFramePr>
        <p:xfrm>
          <a:off x="645042" y="2270174"/>
          <a:ext cx="10708758" cy="445130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89BF4971-9518-8AE5-5ECC-006E3DC88E8A}"/>
              </a:ext>
            </a:extLst>
          </p:cNvPr>
          <p:cNvSpPr txBox="1"/>
          <p:nvPr/>
        </p:nvSpPr>
        <p:spPr>
          <a:xfrm>
            <a:off x="150916" y="1188720"/>
            <a:ext cx="11890168" cy="954107"/>
          </a:xfrm>
          <a:prstGeom prst="rect">
            <a:avLst/>
          </a:prstGeom>
          <a:noFill/>
        </p:spPr>
        <p:txBody>
          <a:bodyPr wrap="square">
            <a:spAutoFit/>
          </a:bodyPr>
          <a:lstStyle/>
          <a:p>
            <a:r>
              <a:rPr lang="en-US" sz="2800"/>
              <a:t>Number of case improved:</a:t>
            </a:r>
          </a:p>
          <a:p>
            <a:r>
              <a:rPr lang="en-US" sz="2800">
                <a:solidFill>
                  <a:srgbClr val="C00000"/>
                </a:solidFill>
              </a:rPr>
              <a:t> </a:t>
            </a:r>
            <a:r>
              <a:rPr lang="en-US" sz="2800" err="1"/>
              <a:t>pBox</a:t>
            </a:r>
            <a:r>
              <a:rPr lang="en-US" sz="2800"/>
              <a:t> (</a:t>
            </a:r>
            <a:r>
              <a:rPr lang="en-US" sz="2800">
                <a:solidFill>
                  <a:srgbClr val="C00000"/>
                </a:solidFill>
              </a:rPr>
              <a:t>15/16</a:t>
            </a:r>
            <a:r>
              <a:rPr lang="en-US" sz="2800"/>
              <a:t>)</a:t>
            </a:r>
            <a:r>
              <a:rPr lang="en-US" sz="2800">
                <a:solidFill>
                  <a:srgbClr val="C00000"/>
                </a:solidFill>
              </a:rPr>
              <a:t> </a:t>
            </a:r>
            <a:r>
              <a:rPr lang="en-US" sz="2800"/>
              <a:t>;  </a:t>
            </a:r>
            <a:r>
              <a:rPr lang="en-US" sz="2800" err="1"/>
              <a:t>cgroup</a:t>
            </a:r>
            <a:r>
              <a:rPr lang="en-US" sz="2800"/>
              <a:t>(3/16); PARTIES(3/16); Retro(5/16); DARC(3/16)</a:t>
            </a:r>
          </a:p>
        </p:txBody>
      </p:sp>
    </p:spTree>
    <p:extLst>
      <p:ext uri="{BB962C8B-B14F-4D97-AF65-F5344CB8AC3E}">
        <p14:creationId xmlns:p14="http://schemas.microsoft.com/office/powerpoint/2010/main" val="324899756"/>
      </p:ext>
    </p:extLst>
  </p:cSld>
  <p:clrMapOvr>
    <a:masterClrMapping/>
  </p:clrMapOvr>
  <mc:AlternateContent xmlns:mc="http://schemas.openxmlformats.org/markup-compatibility/2006" xmlns:p14="http://schemas.microsoft.com/office/powerpoint/2010/main">
    <mc:Choice Requires="p14">
      <p:transition spd="slow" p14:dur="2000" advTm="34277"/>
    </mc:Choice>
    <mc:Fallback xmlns="">
      <p:transition spd="slow" advTm="34277"/>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err="1">
                <a:latin typeface="helvetica" panose="020B0604020202020204" pitchFamily="34" charset="0"/>
                <a:cs typeface="helvetica" panose="020B0604020202020204" pitchFamily="34" charset="0"/>
              </a:rPr>
              <a:t>pBox</a:t>
            </a:r>
            <a:r>
              <a:rPr lang="en-US" b="1">
                <a:latin typeface="helvetica" panose="020B0604020202020204" pitchFamily="34" charset="0"/>
                <a:cs typeface="helvetica" panose="020B0604020202020204" pitchFamily="34" charset="0"/>
              </a:rPr>
              <a:t> Overhead</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34</a:t>
            </a:fld>
            <a:endParaRPr lang="en-US"/>
          </a:p>
        </p:txBody>
      </p:sp>
      <p:graphicFrame>
        <p:nvGraphicFramePr>
          <p:cNvPr id="11" name="图表 10">
            <a:extLst>
              <a:ext uri="{FF2B5EF4-FFF2-40B4-BE49-F238E27FC236}">
                <a16:creationId xmlns:a16="http://schemas.microsoft.com/office/drawing/2014/main" id="{B72FB171-08C0-2E1E-5017-EF05DA446227}"/>
              </a:ext>
            </a:extLst>
          </p:cNvPr>
          <p:cNvGraphicFramePr/>
          <p:nvPr>
            <p:extLst>
              <p:ext uri="{D42A27DB-BD31-4B8C-83A1-F6EECF244321}">
                <p14:modId xmlns:p14="http://schemas.microsoft.com/office/powerpoint/2010/main" val="2429979744"/>
              </p:ext>
            </p:extLst>
          </p:nvPr>
        </p:nvGraphicFramePr>
        <p:xfrm>
          <a:off x="1914358" y="1537813"/>
          <a:ext cx="8171543" cy="231229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图表 11">
            <a:extLst>
              <a:ext uri="{FF2B5EF4-FFF2-40B4-BE49-F238E27FC236}">
                <a16:creationId xmlns:a16="http://schemas.microsoft.com/office/drawing/2014/main" id="{4A71309D-D189-F02A-C7AE-4C89A4B18543}"/>
              </a:ext>
            </a:extLst>
          </p:cNvPr>
          <p:cNvGraphicFramePr/>
          <p:nvPr>
            <p:extLst>
              <p:ext uri="{D42A27DB-BD31-4B8C-83A1-F6EECF244321}">
                <p14:modId xmlns:p14="http://schemas.microsoft.com/office/powerpoint/2010/main" val="157847116"/>
              </p:ext>
            </p:extLst>
          </p:nvPr>
        </p:nvGraphicFramePr>
        <p:xfrm>
          <a:off x="2010228" y="4044059"/>
          <a:ext cx="8317530" cy="2372203"/>
        </p:xfrm>
        <a:graphic>
          <a:graphicData uri="http://schemas.openxmlformats.org/drawingml/2006/chart">
            <c:chart xmlns:c="http://schemas.openxmlformats.org/drawingml/2006/chart" xmlns:r="http://schemas.openxmlformats.org/officeDocument/2006/relationships" r:id="rId4"/>
          </a:graphicData>
        </a:graphic>
      </p:graphicFrame>
      <p:sp>
        <p:nvSpPr>
          <p:cNvPr id="13" name="文本框 12">
            <a:extLst>
              <a:ext uri="{FF2B5EF4-FFF2-40B4-BE49-F238E27FC236}">
                <a16:creationId xmlns:a16="http://schemas.microsoft.com/office/drawing/2014/main" id="{1277EE29-CD92-0ED6-37EA-7C4E30F904B9}"/>
              </a:ext>
            </a:extLst>
          </p:cNvPr>
          <p:cNvSpPr txBox="1"/>
          <p:nvPr/>
        </p:nvSpPr>
        <p:spPr>
          <a:xfrm>
            <a:off x="248093" y="1149550"/>
            <a:ext cx="2775119" cy="369332"/>
          </a:xfrm>
          <a:prstGeom prst="rect">
            <a:avLst/>
          </a:prstGeom>
          <a:noFill/>
        </p:spPr>
        <p:txBody>
          <a:bodyPr wrap="none" rtlCol="0">
            <a:spAutoFit/>
          </a:bodyPr>
          <a:lstStyle/>
          <a:p>
            <a:r>
              <a:rPr lang="en-US" altLang="zh-CN">
                <a:latin typeface="helvetica" panose="020B0604020202020204" pitchFamily="34" charset="0"/>
                <a:cs typeface="helvetica" panose="020B0604020202020204" pitchFamily="34" charset="0"/>
              </a:rPr>
              <a:t>Read-intensive workload:</a:t>
            </a:r>
            <a:endParaRPr lang="zh-CN" altLang="en-US">
              <a:latin typeface="helvetica" panose="020B0604020202020204" pitchFamily="34" charset="0"/>
              <a:cs typeface="helvetica" panose="020B0604020202020204" pitchFamily="34" charset="0"/>
            </a:endParaRPr>
          </a:p>
        </p:txBody>
      </p:sp>
      <p:sp>
        <p:nvSpPr>
          <p:cNvPr id="14" name="文本框 13">
            <a:extLst>
              <a:ext uri="{FF2B5EF4-FFF2-40B4-BE49-F238E27FC236}">
                <a16:creationId xmlns:a16="http://schemas.microsoft.com/office/drawing/2014/main" id="{7696ACE7-B1A0-D661-F3C9-072C9B875A82}"/>
              </a:ext>
            </a:extLst>
          </p:cNvPr>
          <p:cNvSpPr txBox="1"/>
          <p:nvPr/>
        </p:nvSpPr>
        <p:spPr>
          <a:xfrm>
            <a:off x="159489" y="3617825"/>
            <a:ext cx="2758127" cy="369332"/>
          </a:xfrm>
          <a:prstGeom prst="rect">
            <a:avLst/>
          </a:prstGeom>
          <a:noFill/>
        </p:spPr>
        <p:txBody>
          <a:bodyPr wrap="none" rtlCol="0">
            <a:spAutoFit/>
          </a:bodyPr>
          <a:lstStyle/>
          <a:p>
            <a:r>
              <a:rPr lang="en-US" altLang="zh-CN">
                <a:latin typeface="helvetica" panose="020B0604020202020204" pitchFamily="34" charset="0"/>
                <a:cs typeface="helvetica" panose="020B0604020202020204" pitchFamily="34" charset="0"/>
              </a:rPr>
              <a:t>Write-intensive workload:</a:t>
            </a:r>
            <a:endParaRPr lang="zh-CN" altLang="en-US">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633360091"/>
      </p:ext>
    </p:extLst>
  </p:cSld>
  <p:clrMapOvr>
    <a:masterClrMapping/>
  </p:clrMapOvr>
  <mc:AlternateContent xmlns:mc="http://schemas.openxmlformats.org/markup-compatibility/2006" xmlns:p14="http://schemas.microsoft.com/office/powerpoint/2010/main">
    <mc:Choice Requires="p14">
      <p:transition spd="slow" p14:dur="2000" advTm="20869"/>
    </mc:Choice>
    <mc:Fallback xmlns="">
      <p:transition spd="slow" advTm="20869"/>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Conclusion</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35</a:t>
            </a:fld>
            <a:endParaRPr lang="en-US"/>
          </a:p>
        </p:txBody>
      </p:sp>
      <p:sp>
        <p:nvSpPr>
          <p:cNvPr id="6" name="Rectangle 3">
            <a:extLst>
              <a:ext uri="{FF2B5EF4-FFF2-40B4-BE49-F238E27FC236}">
                <a16:creationId xmlns:a16="http://schemas.microsoft.com/office/drawing/2014/main" id="{72C71394-6DE3-E5D3-7252-8934ECF23839}"/>
              </a:ext>
            </a:extLst>
          </p:cNvPr>
          <p:cNvSpPr/>
          <p:nvPr/>
        </p:nvSpPr>
        <p:spPr>
          <a:xfrm>
            <a:off x="0" y="1188721"/>
            <a:ext cx="12192000" cy="4832092"/>
          </a:xfrm>
          <a:prstGeom prst="rect">
            <a:avLst/>
          </a:prstGeom>
        </p:spPr>
        <p:txBody>
          <a:bodyPr wrap="square">
            <a:spAutoFit/>
          </a:bodyPr>
          <a:lstStyle/>
          <a:p>
            <a:pPr marL="514350" indent="-514350">
              <a:buClr>
                <a:schemeClr val="bg1">
                  <a:lumMod val="65000"/>
                </a:schemeClr>
              </a:buClr>
              <a:buFont typeface="+mj-lt"/>
              <a:buAutoNum type="arabicPeriod"/>
            </a:pPr>
            <a:r>
              <a:rPr lang="en-US" sz="3200" dirty="0"/>
              <a:t>Intra-application performance interference is difficult to mitigate</a:t>
            </a:r>
          </a:p>
          <a:p>
            <a:pPr marL="514350" indent="-514350">
              <a:buClr>
                <a:schemeClr val="bg1">
                  <a:lumMod val="65000"/>
                </a:schemeClr>
              </a:buClr>
              <a:buFont typeface="+mj-lt"/>
              <a:buAutoNum type="arabicPeriod"/>
            </a:pPr>
            <a:endParaRPr lang="en-US" sz="3200" dirty="0"/>
          </a:p>
          <a:p>
            <a:pPr marL="514350" indent="-514350">
              <a:buClr>
                <a:schemeClr val="bg1">
                  <a:lumMod val="65000"/>
                </a:schemeClr>
              </a:buClr>
              <a:buFont typeface="+mj-lt"/>
              <a:buAutoNum type="arabicPeriod"/>
            </a:pPr>
            <a:r>
              <a:rPr lang="en-US" sz="3200" dirty="0"/>
              <a:t>Performance isolation needs to be enforced inside application</a:t>
            </a:r>
            <a:endParaRPr lang="en-US" sz="3200" i="1" dirty="0"/>
          </a:p>
          <a:p>
            <a:pPr marL="971550" lvl="1" indent="-514350">
              <a:buClr>
                <a:schemeClr val="bg1">
                  <a:lumMod val="65000"/>
                </a:schemeClr>
              </a:buClr>
              <a:buFont typeface="+mj-lt"/>
              <a:buAutoNum type="arabicPeriod"/>
            </a:pPr>
            <a:endParaRPr lang="en-US" sz="2800" dirty="0"/>
          </a:p>
          <a:p>
            <a:pPr marL="514350" indent="-514350">
              <a:buClr>
                <a:schemeClr val="bg1">
                  <a:lumMod val="65000"/>
                </a:schemeClr>
              </a:buClr>
              <a:buFont typeface="+mj-lt"/>
              <a:buAutoNum type="arabicPeriod"/>
            </a:pPr>
            <a:r>
              <a:rPr lang="en-US" sz="3200" dirty="0" err="1"/>
              <a:t>pBox</a:t>
            </a:r>
            <a:r>
              <a:rPr lang="en-US" sz="3200" dirty="0"/>
              <a:t>, an abstraction to push performance isolation into application</a:t>
            </a:r>
          </a:p>
          <a:p>
            <a:pPr marL="971550" lvl="1" indent="-514350">
              <a:buClr>
                <a:schemeClr val="bg1">
                  <a:lumMod val="65000"/>
                </a:schemeClr>
              </a:buClr>
              <a:buFont typeface="+mj-lt"/>
              <a:buAutoNum type="arabicPeriod"/>
            </a:pPr>
            <a:r>
              <a:rPr lang="en-US" sz="3200" dirty="0"/>
              <a:t>Make OS aware of application resource usage</a:t>
            </a:r>
          </a:p>
          <a:p>
            <a:pPr marL="514350" indent="-514350">
              <a:buClr>
                <a:schemeClr val="bg1">
                  <a:lumMod val="65000"/>
                </a:schemeClr>
              </a:buClr>
              <a:buFont typeface="+mj-lt"/>
              <a:buAutoNum type="arabicPeriod"/>
            </a:pPr>
            <a:endParaRPr lang="en-US" sz="3200" dirty="0"/>
          </a:p>
          <a:p>
            <a:pPr marL="514350" indent="-514350">
              <a:buClr>
                <a:schemeClr val="bg1">
                  <a:lumMod val="65000"/>
                </a:schemeClr>
              </a:buClr>
              <a:buFont typeface="+mj-lt"/>
              <a:buAutoNum type="arabicPeriod"/>
            </a:pPr>
            <a:r>
              <a:rPr lang="en-US" sz="3200" dirty="0" err="1"/>
              <a:t>pBox</a:t>
            </a:r>
            <a:r>
              <a:rPr lang="en-US" sz="3200" dirty="0"/>
              <a:t> mitigate 15/16 interference cases with a 86% reduction ratio</a:t>
            </a:r>
            <a:br>
              <a:rPr lang="en-US" sz="2800" dirty="0"/>
            </a:br>
            <a:endParaRPr lang="en-US" sz="2800" dirty="0"/>
          </a:p>
          <a:p>
            <a:pPr marL="801688" lvl="1" indent="-344488">
              <a:buFont typeface="Courier New" panose="02070309020205020404" pitchFamily="49" charset="0"/>
              <a:buChar char="o"/>
            </a:pPr>
            <a:endParaRPr lang="en-US" sz="2800" dirty="0"/>
          </a:p>
        </p:txBody>
      </p:sp>
      <p:sp>
        <p:nvSpPr>
          <p:cNvPr id="7" name="文本框 6">
            <a:extLst>
              <a:ext uri="{FF2B5EF4-FFF2-40B4-BE49-F238E27FC236}">
                <a16:creationId xmlns:a16="http://schemas.microsoft.com/office/drawing/2014/main" id="{E917BBF2-DE93-4F8A-2248-97550B2B66B2}"/>
              </a:ext>
            </a:extLst>
          </p:cNvPr>
          <p:cNvSpPr txBox="1"/>
          <p:nvPr/>
        </p:nvSpPr>
        <p:spPr>
          <a:xfrm>
            <a:off x="4771380" y="5315336"/>
            <a:ext cx="2917786" cy="707886"/>
          </a:xfrm>
          <a:prstGeom prst="rect">
            <a:avLst/>
          </a:prstGeom>
          <a:noFill/>
        </p:spPr>
        <p:txBody>
          <a:bodyPr wrap="none" rtlCol="0">
            <a:spAutoFit/>
          </a:bodyPr>
          <a:lstStyle/>
          <a:p>
            <a:r>
              <a:rPr lang="en-US" altLang="zh-CN" sz="4000" b="1">
                <a:solidFill>
                  <a:srgbClr val="FFC000"/>
                </a:solidFill>
                <a:latin typeface="helvetica" panose="020B0604020202020204" pitchFamily="34" charset="0"/>
                <a:cs typeface="helvetica" panose="020B0604020202020204" pitchFamily="34" charset="0"/>
              </a:rPr>
              <a:t>Thank you!</a:t>
            </a:r>
            <a:endParaRPr lang="zh-CN" altLang="en-US" sz="4000" b="1">
              <a:solidFill>
                <a:srgbClr val="FFC00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15013561"/>
      </p:ext>
    </p:extLst>
  </p:cSld>
  <p:clrMapOvr>
    <a:masterClrMapping/>
  </p:clrMapOvr>
  <mc:AlternateContent xmlns:mc="http://schemas.openxmlformats.org/markup-compatibility/2006" xmlns:p14="http://schemas.microsoft.com/office/powerpoint/2010/main">
    <mc:Choice Requires="p14">
      <p:transition spd="slow" p14:dur="2000" advTm="33724"/>
    </mc:Choice>
    <mc:Fallback xmlns="">
      <p:transition spd="slow" advTm="337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3007-6671-73FA-4216-D1EBF12C2473}"/>
              </a:ext>
            </a:extLst>
          </p:cNvPr>
          <p:cNvSpPr>
            <a:spLocks noGrp="1"/>
          </p:cNvSpPr>
          <p:nvPr>
            <p:ph type="title"/>
          </p:nvPr>
        </p:nvSpPr>
        <p:spPr>
          <a:xfrm>
            <a:off x="0" y="18255"/>
            <a:ext cx="12192000" cy="1188720"/>
          </a:xfrm>
        </p:spPr>
        <p:txBody>
          <a:bodyPr/>
          <a:lstStyle/>
          <a:p>
            <a:pPr algn="ctr"/>
            <a:r>
              <a:rPr lang="en-US" dirty="0">
                <a:latin typeface="helvetica" panose="020B0604020202020204" pitchFamily="34" charset="0"/>
                <a:cs typeface="helvetica" panose="020B0604020202020204" pitchFamily="34" charset="0"/>
              </a:rPr>
              <a:t>Question List: Motivation</a:t>
            </a:r>
          </a:p>
        </p:txBody>
      </p:sp>
      <p:sp>
        <p:nvSpPr>
          <p:cNvPr id="4" name="Slide Number Placeholder 3">
            <a:extLst>
              <a:ext uri="{FF2B5EF4-FFF2-40B4-BE49-F238E27FC236}">
                <a16:creationId xmlns:a16="http://schemas.microsoft.com/office/drawing/2014/main" id="{D35B8A95-9679-205B-EA9B-561A40D6C8EB}"/>
              </a:ext>
            </a:extLst>
          </p:cNvPr>
          <p:cNvSpPr>
            <a:spLocks noGrp="1"/>
          </p:cNvSpPr>
          <p:nvPr>
            <p:ph type="sldNum" sz="quarter" idx="12"/>
          </p:nvPr>
        </p:nvSpPr>
        <p:spPr/>
        <p:txBody>
          <a:bodyPr/>
          <a:lstStyle/>
          <a:p>
            <a:fld id="{330EA680-D336-4FF7-8B7A-9848BB0A1C32}" type="slidenum">
              <a:rPr lang="en-US" smtClean="0"/>
              <a:t>36</a:t>
            </a:fld>
            <a:endParaRPr lang="en-US"/>
          </a:p>
        </p:txBody>
      </p:sp>
      <p:sp>
        <p:nvSpPr>
          <p:cNvPr id="5" name="Rectangle 3">
            <a:extLst>
              <a:ext uri="{FF2B5EF4-FFF2-40B4-BE49-F238E27FC236}">
                <a16:creationId xmlns:a16="http://schemas.microsoft.com/office/drawing/2014/main" id="{E2F60F2D-27F5-FA6F-8BD2-7872C8B5E0B6}"/>
              </a:ext>
            </a:extLst>
          </p:cNvPr>
          <p:cNvSpPr/>
          <p:nvPr/>
        </p:nvSpPr>
        <p:spPr>
          <a:xfrm>
            <a:off x="0" y="1188721"/>
            <a:ext cx="12192000" cy="3354765"/>
          </a:xfrm>
          <a:prstGeom prst="rect">
            <a:avLst/>
          </a:prstGeom>
        </p:spPr>
        <p:txBody>
          <a:bodyPr wrap="square">
            <a:spAutoFit/>
          </a:bodyPr>
          <a:lstStyle/>
          <a:p>
            <a:pPr marL="514350" indent="-514350">
              <a:buClr>
                <a:schemeClr val="bg1">
                  <a:lumMod val="65000"/>
                </a:schemeClr>
              </a:buClr>
              <a:buFont typeface="+mj-lt"/>
              <a:buAutoNum type="arabicPeriod"/>
            </a:pPr>
            <a:r>
              <a:rPr lang="en-US" altLang="zh-CN" sz="3200" dirty="0"/>
              <a:t>Why design </a:t>
            </a:r>
            <a:r>
              <a:rPr lang="en-US" altLang="zh-CN" sz="3200" dirty="0" err="1"/>
              <a:t>pBox</a:t>
            </a:r>
            <a:r>
              <a:rPr lang="en-US" altLang="zh-CN" sz="3200" dirty="0"/>
              <a:t> in kernel</a:t>
            </a:r>
            <a:r>
              <a:rPr lang="en-US" sz="3200" dirty="0"/>
              <a:t>? Or Why </a:t>
            </a:r>
            <a:r>
              <a:rPr lang="en-US" sz="3200" dirty="0" err="1"/>
              <a:t>pBox</a:t>
            </a:r>
            <a:r>
              <a:rPr lang="en-US" sz="3200" dirty="0"/>
              <a:t> should be a OS abstraction</a:t>
            </a:r>
          </a:p>
          <a:p>
            <a:pPr marL="514350" indent="-514350">
              <a:buClr>
                <a:schemeClr val="bg1">
                  <a:lumMod val="65000"/>
                </a:schemeClr>
              </a:buClr>
              <a:buFont typeface="+mj-lt"/>
              <a:buAutoNum type="arabicPeriod"/>
            </a:pPr>
            <a:endParaRPr lang="en-US" sz="3200" dirty="0"/>
          </a:p>
          <a:p>
            <a:pPr marL="514350" indent="-514350">
              <a:buClr>
                <a:schemeClr val="bg1">
                  <a:lumMod val="65000"/>
                </a:schemeClr>
              </a:buClr>
              <a:buFont typeface="+mj-lt"/>
              <a:buAutoNum type="arabicPeriod"/>
            </a:pPr>
            <a:r>
              <a:rPr lang="en-US" sz="3200" dirty="0"/>
              <a:t>How does </a:t>
            </a:r>
            <a:r>
              <a:rPr lang="en-US" sz="3200" dirty="0" err="1"/>
              <a:t>pBox</a:t>
            </a:r>
            <a:r>
              <a:rPr lang="en-US" sz="3200" dirty="0"/>
              <a:t> deal with micro-second level activity</a:t>
            </a:r>
            <a:endParaRPr lang="en-US" sz="3200" i="1" dirty="0"/>
          </a:p>
          <a:p>
            <a:pPr>
              <a:buClr>
                <a:schemeClr val="bg1">
                  <a:lumMod val="65000"/>
                </a:schemeClr>
              </a:buClr>
            </a:pPr>
            <a:endParaRPr lang="en-US" sz="3200" dirty="0"/>
          </a:p>
          <a:p>
            <a:pPr>
              <a:buClr>
                <a:schemeClr val="bg1">
                  <a:lumMod val="65000"/>
                </a:schemeClr>
              </a:buClr>
            </a:pPr>
            <a:br>
              <a:rPr lang="en-US" sz="2800" dirty="0"/>
            </a:br>
            <a:endParaRPr lang="en-US" sz="2800" dirty="0"/>
          </a:p>
          <a:p>
            <a:pPr marL="801688" lvl="1" indent="-344488">
              <a:buFont typeface="Courier New" panose="02070309020205020404" pitchFamily="49" charset="0"/>
              <a:buChar char="o"/>
            </a:pPr>
            <a:endParaRPr lang="en-US" sz="2800" dirty="0"/>
          </a:p>
        </p:txBody>
      </p:sp>
    </p:spTree>
    <p:extLst>
      <p:ext uri="{BB962C8B-B14F-4D97-AF65-F5344CB8AC3E}">
        <p14:creationId xmlns:p14="http://schemas.microsoft.com/office/powerpoint/2010/main" val="277823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3007-6671-73FA-4216-D1EBF12C2473}"/>
              </a:ext>
            </a:extLst>
          </p:cNvPr>
          <p:cNvSpPr>
            <a:spLocks noGrp="1"/>
          </p:cNvSpPr>
          <p:nvPr>
            <p:ph type="title"/>
          </p:nvPr>
        </p:nvSpPr>
        <p:spPr>
          <a:xfrm>
            <a:off x="0" y="18255"/>
            <a:ext cx="12192000" cy="1188720"/>
          </a:xfrm>
        </p:spPr>
        <p:txBody>
          <a:bodyPr/>
          <a:lstStyle/>
          <a:p>
            <a:pPr algn="ctr"/>
            <a:r>
              <a:rPr lang="en-US" dirty="0">
                <a:latin typeface="helvetica" panose="020B0604020202020204" pitchFamily="34" charset="0"/>
                <a:cs typeface="helvetica" panose="020B0604020202020204" pitchFamily="34" charset="0"/>
              </a:rPr>
              <a:t>Question List: Design</a:t>
            </a:r>
          </a:p>
        </p:txBody>
      </p:sp>
      <p:sp>
        <p:nvSpPr>
          <p:cNvPr id="4" name="Slide Number Placeholder 3">
            <a:extLst>
              <a:ext uri="{FF2B5EF4-FFF2-40B4-BE49-F238E27FC236}">
                <a16:creationId xmlns:a16="http://schemas.microsoft.com/office/drawing/2014/main" id="{D35B8A95-9679-205B-EA9B-561A40D6C8EB}"/>
              </a:ext>
            </a:extLst>
          </p:cNvPr>
          <p:cNvSpPr>
            <a:spLocks noGrp="1"/>
          </p:cNvSpPr>
          <p:nvPr>
            <p:ph type="sldNum" sz="quarter" idx="12"/>
          </p:nvPr>
        </p:nvSpPr>
        <p:spPr/>
        <p:txBody>
          <a:bodyPr/>
          <a:lstStyle/>
          <a:p>
            <a:fld id="{330EA680-D336-4FF7-8B7A-9848BB0A1C32}" type="slidenum">
              <a:rPr lang="en-US" smtClean="0"/>
              <a:t>37</a:t>
            </a:fld>
            <a:endParaRPr lang="en-US"/>
          </a:p>
        </p:txBody>
      </p:sp>
      <p:sp>
        <p:nvSpPr>
          <p:cNvPr id="5" name="Rectangle 3">
            <a:extLst>
              <a:ext uri="{FF2B5EF4-FFF2-40B4-BE49-F238E27FC236}">
                <a16:creationId xmlns:a16="http://schemas.microsoft.com/office/drawing/2014/main" id="{E2F60F2D-27F5-FA6F-8BD2-7872C8B5E0B6}"/>
              </a:ext>
            </a:extLst>
          </p:cNvPr>
          <p:cNvSpPr/>
          <p:nvPr/>
        </p:nvSpPr>
        <p:spPr>
          <a:xfrm>
            <a:off x="0" y="1188721"/>
            <a:ext cx="12192000" cy="5386090"/>
          </a:xfrm>
          <a:prstGeom prst="rect">
            <a:avLst/>
          </a:prstGeom>
        </p:spPr>
        <p:txBody>
          <a:bodyPr wrap="square">
            <a:spAutoFit/>
          </a:bodyPr>
          <a:lstStyle/>
          <a:p>
            <a:pPr marL="514350" indent="-514350">
              <a:buClr>
                <a:schemeClr val="bg1">
                  <a:lumMod val="65000"/>
                </a:schemeClr>
              </a:buClr>
              <a:buFont typeface="+mj-lt"/>
              <a:buAutoNum type="arabicPeriod"/>
            </a:pPr>
            <a:r>
              <a:rPr lang="en-US" sz="2800" dirty="0"/>
              <a:t>How many manually effort to insert state event</a:t>
            </a:r>
          </a:p>
          <a:p>
            <a:pPr marL="514350" indent="-514350">
              <a:buClr>
                <a:schemeClr val="bg1">
                  <a:lumMod val="65000"/>
                </a:schemeClr>
              </a:buClr>
              <a:buFont typeface="+mj-lt"/>
              <a:buAutoNum type="arabicPeriod"/>
            </a:pPr>
            <a:endParaRPr lang="en-US" sz="3200" dirty="0"/>
          </a:p>
          <a:p>
            <a:pPr marL="514350" indent="-514350">
              <a:buClr>
                <a:schemeClr val="bg1">
                  <a:lumMod val="65000"/>
                </a:schemeClr>
              </a:buClr>
              <a:buFont typeface="+mj-lt"/>
              <a:buAutoNum type="arabicPeriod"/>
            </a:pPr>
            <a:r>
              <a:rPr lang="en-US" sz="2800" dirty="0"/>
              <a:t>How does developer know the correctness of instrumentation</a:t>
            </a:r>
          </a:p>
          <a:p>
            <a:pPr marL="514350" indent="-514350">
              <a:buClr>
                <a:schemeClr val="bg1">
                  <a:lumMod val="65000"/>
                </a:schemeClr>
              </a:buClr>
              <a:buFont typeface="+mj-lt"/>
              <a:buAutoNum type="arabicPeriod"/>
            </a:pPr>
            <a:endParaRPr lang="en-US" sz="3200" i="1" dirty="0"/>
          </a:p>
          <a:p>
            <a:pPr marL="514350" indent="-514350">
              <a:buClr>
                <a:schemeClr val="bg1">
                  <a:lumMod val="65000"/>
                </a:schemeClr>
              </a:buClr>
              <a:buFont typeface="+mj-lt"/>
              <a:buAutoNum type="arabicPeriod"/>
            </a:pPr>
            <a:r>
              <a:rPr lang="en-US" altLang="zh-CN" sz="2800" dirty="0"/>
              <a:t>Does </a:t>
            </a:r>
            <a:r>
              <a:rPr lang="en-US" altLang="zh-CN" sz="2800" dirty="0" err="1"/>
              <a:t>pBox</a:t>
            </a:r>
            <a:r>
              <a:rPr lang="en-US" altLang="zh-CN" sz="2800" dirty="0"/>
              <a:t> need a dedicate core? If so, what is the overhead</a:t>
            </a:r>
          </a:p>
          <a:p>
            <a:pPr marL="514350" indent="-514350">
              <a:buClr>
                <a:schemeClr val="bg1">
                  <a:lumMod val="65000"/>
                </a:schemeClr>
              </a:buClr>
              <a:buFont typeface="+mj-lt"/>
              <a:buAutoNum type="arabicPeriod"/>
            </a:pPr>
            <a:endParaRPr lang="en-US" sz="2800" dirty="0"/>
          </a:p>
          <a:p>
            <a:pPr marL="514350" indent="-514350">
              <a:buClr>
                <a:schemeClr val="bg1">
                  <a:lumMod val="65000"/>
                </a:schemeClr>
              </a:buClr>
              <a:buFont typeface="+mj-lt"/>
              <a:buAutoNum type="arabicPeriod"/>
            </a:pPr>
            <a:r>
              <a:rPr lang="en-US" sz="2800" dirty="0"/>
              <a:t>Would </a:t>
            </a:r>
            <a:r>
              <a:rPr lang="en-US" sz="2800" dirty="0" err="1"/>
              <a:t>pBox</a:t>
            </a:r>
            <a:r>
              <a:rPr lang="en-US" sz="2800" dirty="0"/>
              <a:t> make wrong penalty decision</a:t>
            </a:r>
          </a:p>
          <a:p>
            <a:pPr marL="514350" indent="-514350">
              <a:buClr>
                <a:schemeClr val="bg1">
                  <a:lumMod val="65000"/>
                </a:schemeClr>
              </a:buClr>
              <a:buFont typeface="+mj-lt"/>
              <a:buAutoNum type="arabicPeriod"/>
            </a:pPr>
            <a:endParaRPr lang="en-US" sz="2800" dirty="0"/>
          </a:p>
          <a:p>
            <a:pPr marL="514350" indent="-514350">
              <a:buClr>
                <a:schemeClr val="bg1">
                  <a:lumMod val="65000"/>
                </a:schemeClr>
              </a:buClr>
              <a:buFont typeface="+mj-lt"/>
              <a:buAutoNum type="arabicPeriod"/>
            </a:pPr>
            <a:r>
              <a:rPr lang="en-US" sz="2800" dirty="0"/>
              <a:t>Would </a:t>
            </a:r>
            <a:r>
              <a:rPr lang="en-US" sz="2800" dirty="0" err="1"/>
              <a:t>pBox</a:t>
            </a:r>
            <a:r>
              <a:rPr lang="en-US" sz="2800" dirty="0"/>
              <a:t> take penalty too late</a:t>
            </a:r>
          </a:p>
          <a:p>
            <a:pPr marL="514350" indent="-514350">
              <a:buClr>
                <a:schemeClr val="bg1">
                  <a:lumMod val="65000"/>
                </a:schemeClr>
              </a:buClr>
              <a:buFont typeface="+mj-lt"/>
              <a:buAutoNum type="arabicPeriod"/>
            </a:pPr>
            <a:endParaRPr lang="en-US" sz="2800" dirty="0"/>
          </a:p>
          <a:p>
            <a:pPr marL="514350" indent="-514350">
              <a:buClr>
                <a:schemeClr val="bg1">
                  <a:lumMod val="65000"/>
                </a:schemeClr>
              </a:buClr>
              <a:buFont typeface="+mj-lt"/>
              <a:buAutoNum type="arabicPeriod"/>
            </a:pPr>
            <a:r>
              <a:rPr lang="en-US" sz="2800" dirty="0"/>
              <a:t>How does </a:t>
            </a:r>
            <a:r>
              <a:rPr lang="en-US" sz="2800" dirty="0" err="1"/>
              <a:t>pBox</a:t>
            </a:r>
            <a:r>
              <a:rPr lang="en-US" sz="2800" dirty="0"/>
              <a:t> support event driven</a:t>
            </a:r>
          </a:p>
          <a:p>
            <a:pPr marL="801688" lvl="1" indent="-344488">
              <a:buFont typeface="Courier New" panose="02070309020205020404" pitchFamily="49" charset="0"/>
              <a:buChar char="o"/>
            </a:pPr>
            <a:endParaRPr lang="en-US" sz="2800" dirty="0"/>
          </a:p>
        </p:txBody>
      </p:sp>
    </p:spTree>
    <p:extLst>
      <p:ext uri="{BB962C8B-B14F-4D97-AF65-F5344CB8AC3E}">
        <p14:creationId xmlns:p14="http://schemas.microsoft.com/office/powerpoint/2010/main" val="204556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3007-6671-73FA-4216-D1EBF12C2473}"/>
              </a:ext>
            </a:extLst>
          </p:cNvPr>
          <p:cNvSpPr>
            <a:spLocks noGrp="1"/>
          </p:cNvSpPr>
          <p:nvPr>
            <p:ph type="title"/>
          </p:nvPr>
        </p:nvSpPr>
        <p:spPr>
          <a:xfrm>
            <a:off x="0" y="18255"/>
            <a:ext cx="12192000" cy="1188720"/>
          </a:xfrm>
        </p:spPr>
        <p:txBody>
          <a:bodyPr/>
          <a:lstStyle/>
          <a:p>
            <a:pPr algn="ctr"/>
            <a:r>
              <a:rPr lang="en-US" dirty="0">
                <a:latin typeface="helvetica" panose="020B0604020202020204" pitchFamily="34" charset="0"/>
                <a:cs typeface="helvetica" panose="020B0604020202020204" pitchFamily="34" charset="0"/>
              </a:rPr>
              <a:t>Question List: Evaluation</a:t>
            </a:r>
          </a:p>
        </p:txBody>
      </p:sp>
      <p:sp>
        <p:nvSpPr>
          <p:cNvPr id="4" name="Slide Number Placeholder 3">
            <a:extLst>
              <a:ext uri="{FF2B5EF4-FFF2-40B4-BE49-F238E27FC236}">
                <a16:creationId xmlns:a16="http://schemas.microsoft.com/office/drawing/2014/main" id="{D35B8A95-9679-205B-EA9B-561A40D6C8EB}"/>
              </a:ext>
            </a:extLst>
          </p:cNvPr>
          <p:cNvSpPr>
            <a:spLocks noGrp="1"/>
          </p:cNvSpPr>
          <p:nvPr>
            <p:ph type="sldNum" sz="quarter" idx="12"/>
          </p:nvPr>
        </p:nvSpPr>
        <p:spPr/>
        <p:txBody>
          <a:bodyPr/>
          <a:lstStyle/>
          <a:p>
            <a:fld id="{330EA680-D336-4FF7-8B7A-9848BB0A1C32}" type="slidenum">
              <a:rPr lang="en-US" smtClean="0"/>
              <a:t>38</a:t>
            </a:fld>
            <a:endParaRPr lang="en-US"/>
          </a:p>
        </p:txBody>
      </p:sp>
      <p:sp>
        <p:nvSpPr>
          <p:cNvPr id="5" name="Rectangle 3">
            <a:extLst>
              <a:ext uri="{FF2B5EF4-FFF2-40B4-BE49-F238E27FC236}">
                <a16:creationId xmlns:a16="http://schemas.microsoft.com/office/drawing/2014/main" id="{E2F60F2D-27F5-FA6F-8BD2-7872C8B5E0B6}"/>
              </a:ext>
            </a:extLst>
          </p:cNvPr>
          <p:cNvSpPr/>
          <p:nvPr/>
        </p:nvSpPr>
        <p:spPr>
          <a:xfrm>
            <a:off x="0" y="1188721"/>
            <a:ext cx="12192000" cy="4339650"/>
          </a:xfrm>
          <a:prstGeom prst="rect">
            <a:avLst/>
          </a:prstGeom>
        </p:spPr>
        <p:txBody>
          <a:bodyPr wrap="square">
            <a:spAutoFit/>
          </a:bodyPr>
          <a:lstStyle/>
          <a:p>
            <a:pPr marL="514350" indent="-514350">
              <a:buClr>
                <a:schemeClr val="bg1">
                  <a:lumMod val="65000"/>
                </a:schemeClr>
              </a:buClr>
              <a:buFont typeface="+mj-lt"/>
              <a:buAutoNum type="arabicPeriod"/>
            </a:pPr>
            <a:r>
              <a:rPr lang="en-US" sz="3200" dirty="0"/>
              <a:t>It is unclear how </a:t>
            </a:r>
            <a:r>
              <a:rPr lang="en-US" sz="3200" dirty="0" err="1"/>
              <a:t>pBox</a:t>
            </a:r>
            <a:r>
              <a:rPr lang="en-US" sz="3200" dirty="0"/>
              <a:t> behaves for intra-application interference	</a:t>
            </a:r>
          </a:p>
          <a:p>
            <a:pPr marL="514350" indent="-514350">
              <a:buClr>
                <a:schemeClr val="bg1">
                  <a:lumMod val="65000"/>
                </a:schemeClr>
              </a:buClr>
              <a:buFont typeface="+mj-lt"/>
              <a:buAutoNum type="arabicPeriod"/>
            </a:pPr>
            <a:endParaRPr lang="en-US" sz="3200" dirty="0"/>
          </a:p>
          <a:p>
            <a:pPr marL="514350" indent="-514350">
              <a:buClr>
                <a:schemeClr val="bg1">
                  <a:lumMod val="65000"/>
                </a:schemeClr>
              </a:buClr>
              <a:buFont typeface="+mj-lt"/>
              <a:buAutoNum type="arabicPeriod"/>
            </a:pPr>
            <a:r>
              <a:rPr lang="en-US" sz="3200" dirty="0"/>
              <a:t>What will happen if </a:t>
            </a:r>
            <a:r>
              <a:rPr lang="en-US" sz="3200" dirty="0" err="1"/>
              <a:t>pBox</a:t>
            </a:r>
            <a:r>
              <a:rPr lang="en-US" sz="3200" dirty="0"/>
              <a:t> policy make wrong decision</a:t>
            </a:r>
            <a:endParaRPr lang="en-US" sz="3200" i="1" dirty="0"/>
          </a:p>
          <a:p>
            <a:pPr marL="971550" lvl="1" indent="-514350">
              <a:buClr>
                <a:schemeClr val="bg1">
                  <a:lumMod val="65000"/>
                </a:schemeClr>
              </a:buClr>
              <a:buFont typeface="+mj-lt"/>
              <a:buAutoNum type="arabicPeriod"/>
            </a:pPr>
            <a:endParaRPr lang="en-US" sz="2800" dirty="0"/>
          </a:p>
          <a:p>
            <a:pPr marL="514350" indent="-514350">
              <a:buClr>
                <a:schemeClr val="bg1">
                  <a:lumMod val="65000"/>
                </a:schemeClr>
              </a:buClr>
              <a:buFont typeface="+mj-lt"/>
              <a:buAutoNum type="arabicPeriod"/>
            </a:pPr>
            <a:r>
              <a:rPr lang="en-US" sz="3200" dirty="0"/>
              <a:t>Is there any parameter in </a:t>
            </a:r>
            <a:r>
              <a:rPr lang="en-US" sz="3200" dirty="0" err="1"/>
              <a:t>pBox</a:t>
            </a:r>
            <a:endParaRPr lang="en-US" sz="3200" dirty="0"/>
          </a:p>
          <a:p>
            <a:pPr marL="514350" indent="-514350">
              <a:buClr>
                <a:schemeClr val="bg1">
                  <a:lumMod val="65000"/>
                </a:schemeClr>
              </a:buClr>
              <a:buFont typeface="+mj-lt"/>
              <a:buAutoNum type="arabicPeriod"/>
            </a:pPr>
            <a:endParaRPr lang="en-US" sz="3200" dirty="0"/>
          </a:p>
          <a:p>
            <a:pPr marL="514350" indent="-514350">
              <a:buClr>
                <a:schemeClr val="bg1">
                  <a:lumMod val="65000"/>
                </a:schemeClr>
              </a:buClr>
              <a:buFont typeface="+mj-lt"/>
              <a:buAutoNum type="arabicPeriod"/>
            </a:pPr>
            <a:r>
              <a:rPr lang="en-US" sz="3200" dirty="0"/>
              <a:t>Why you only test on 15 cases</a:t>
            </a:r>
            <a:br>
              <a:rPr lang="en-US" sz="2800" dirty="0"/>
            </a:br>
            <a:endParaRPr lang="en-US" sz="2800" dirty="0"/>
          </a:p>
          <a:p>
            <a:pPr marL="801688" lvl="1" indent="-344488">
              <a:buFont typeface="Courier New" panose="02070309020205020404" pitchFamily="49" charset="0"/>
              <a:buChar char="o"/>
            </a:pPr>
            <a:endParaRPr lang="en-US" sz="2800" dirty="0"/>
          </a:p>
        </p:txBody>
      </p:sp>
    </p:spTree>
    <p:extLst>
      <p:ext uri="{BB962C8B-B14F-4D97-AF65-F5344CB8AC3E}">
        <p14:creationId xmlns:p14="http://schemas.microsoft.com/office/powerpoint/2010/main" val="355933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
            <a:ext cx="12191999" cy="1188720"/>
          </a:xfrm>
        </p:spPr>
        <p:txBody>
          <a:bodyPr>
            <a:normAutofit/>
          </a:bodyPr>
          <a:lstStyle/>
          <a:p>
            <a:pPr algn="ctr"/>
            <a:r>
              <a:rPr lang="en-US" b="1" dirty="0">
                <a:latin typeface="helvetica" panose="020B0604020202020204" pitchFamily="34" charset="0"/>
                <a:cs typeface="helvetica" panose="020B0604020202020204" pitchFamily="34" charset="0"/>
              </a:rPr>
              <a:t>Static analyzer</a:t>
            </a:r>
          </a:p>
        </p:txBody>
      </p:sp>
      <p:sp>
        <p:nvSpPr>
          <p:cNvPr id="5" name="灯片编号占位符 4">
            <a:extLst>
              <a:ext uri="{FF2B5EF4-FFF2-40B4-BE49-F238E27FC236}">
                <a16:creationId xmlns:a16="http://schemas.microsoft.com/office/drawing/2014/main" id="{D2CE7B8B-75F8-94CF-BBCE-AF9A4289792C}"/>
              </a:ext>
            </a:extLst>
          </p:cNvPr>
          <p:cNvSpPr>
            <a:spLocks noGrp="1"/>
          </p:cNvSpPr>
          <p:nvPr>
            <p:ph type="sldNum" sz="quarter" idx="12"/>
          </p:nvPr>
        </p:nvSpPr>
        <p:spPr/>
        <p:txBody>
          <a:bodyPr/>
          <a:lstStyle/>
          <a:p>
            <a:fld id="{330EA680-D336-4FF7-8B7A-9848BB0A1C32}" type="slidenum">
              <a:rPr lang="en-US" smtClean="0"/>
              <a:t>39</a:t>
            </a:fld>
            <a:endParaRPr lang="en-US"/>
          </a:p>
        </p:txBody>
      </p:sp>
      <p:pic>
        <p:nvPicPr>
          <p:cNvPr id="6" name="图片 5">
            <a:extLst>
              <a:ext uri="{FF2B5EF4-FFF2-40B4-BE49-F238E27FC236}">
                <a16:creationId xmlns:a16="http://schemas.microsoft.com/office/drawing/2014/main" id="{B0830F8C-AC91-56AD-364A-CDEC09BE325B}"/>
              </a:ext>
            </a:extLst>
          </p:cNvPr>
          <p:cNvPicPr>
            <a:picLocks noChangeAspect="1"/>
          </p:cNvPicPr>
          <p:nvPr/>
        </p:nvPicPr>
        <p:blipFill>
          <a:blip r:embed="rId3"/>
          <a:stretch>
            <a:fillRect/>
          </a:stretch>
        </p:blipFill>
        <p:spPr>
          <a:xfrm>
            <a:off x="2029080" y="1814780"/>
            <a:ext cx="8625139" cy="4214960"/>
          </a:xfrm>
          <a:prstGeom prst="rect">
            <a:avLst/>
          </a:prstGeom>
        </p:spPr>
      </p:pic>
    </p:spTree>
    <p:extLst>
      <p:ext uri="{BB962C8B-B14F-4D97-AF65-F5344CB8AC3E}">
        <p14:creationId xmlns:p14="http://schemas.microsoft.com/office/powerpoint/2010/main" val="838142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188720"/>
          </a:xfrm>
        </p:spPr>
        <p:txBody>
          <a:bodyPr/>
          <a:lstStyle/>
          <a:p>
            <a:pPr algn="ctr"/>
            <a:r>
              <a:rPr lang="en-US" b="1">
                <a:latin typeface="helvetica" panose="020B0604020202020204" pitchFamily="34" charset="0"/>
                <a:cs typeface="helvetica" panose="020B0604020202020204" pitchFamily="34" charset="0"/>
              </a:rPr>
              <a:t>Effectiveness of Different Penalty Length</a:t>
            </a:r>
          </a:p>
        </p:txBody>
      </p:sp>
      <p:sp>
        <p:nvSpPr>
          <p:cNvPr id="5" name="灯片编号占位符 4">
            <a:extLst>
              <a:ext uri="{FF2B5EF4-FFF2-40B4-BE49-F238E27FC236}">
                <a16:creationId xmlns:a16="http://schemas.microsoft.com/office/drawing/2014/main" id="{9D8B3A87-2AB7-B13F-B596-B7C1018B7412}"/>
              </a:ext>
            </a:extLst>
          </p:cNvPr>
          <p:cNvSpPr>
            <a:spLocks noGrp="1"/>
          </p:cNvSpPr>
          <p:nvPr>
            <p:ph type="sldNum" sz="quarter" idx="12"/>
          </p:nvPr>
        </p:nvSpPr>
        <p:spPr/>
        <p:txBody>
          <a:bodyPr/>
          <a:lstStyle/>
          <a:p>
            <a:fld id="{330EA680-D336-4FF7-8B7A-9848BB0A1C32}" type="slidenum">
              <a:rPr lang="en-US" smtClean="0"/>
              <a:t>40</a:t>
            </a:fld>
            <a:endParaRPr lang="en-US"/>
          </a:p>
        </p:txBody>
      </p:sp>
      <p:graphicFrame>
        <p:nvGraphicFramePr>
          <p:cNvPr id="12" name="图表 11">
            <a:extLst>
              <a:ext uri="{FF2B5EF4-FFF2-40B4-BE49-F238E27FC236}">
                <a16:creationId xmlns:a16="http://schemas.microsoft.com/office/drawing/2014/main" id="{3879C8F9-441C-84A8-CA94-C0DFCA2D5F12}"/>
              </a:ext>
            </a:extLst>
          </p:cNvPr>
          <p:cNvGraphicFramePr/>
          <p:nvPr>
            <p:extLst>
              <p:ext uri="{D42A27DB-BD31-4B8C-83A1-F6EECF244321}">
                <p14:modId xmlns:p14="http://schemas.microsoft.com/office/powerpoint/2010/main" val="1622457912"/>
              </p:ext>
            </p:extLst>
          </p:nvPr>
        </p:nvGraphicFramePr>
        <p:xfrm>
          <a:off x="1093155" y="1375038"/>
          <a:ext cx="9597762" cy="49298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1537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5947"/>
            <a:ext cx="12192000" cy="1188720"/>
          </a:xfrm>
        </p:spPr>
        <p:txBody>
          <a:bodyPr>
            <a:normAutofit/>
          </a:bodyPr>
          <a:lstStyle/>
          <a:p>
            <a:pPr algn="ctr"/>
            <a:r>
              <a:rPr lang="en-US" b="1" dirty="0">
                <a:latin typeface="+mn-lt"/>
                <a:cs typeface="helvetica" panose="020B0604020202020204" pitchFamily="34" charset="0"/>
              </a:rPr>
              <a:t>Penalty</a:t>
            </a:r>
          </a:p>
        </p:txBody>
      </p:sp>
      <p:sp>
        <p:nvSpPr>
          <p:cNvPr id="4" name="灯片编号占位符 3">
            <a:extLst>
              <a:ext uri="{FF2B5EF4-FFF2-40B4-BE49-F238E27FC236}">
                <a16:creationId xmlns:a16="http://schemas.microsoft.com/office/drawing/2014/main" id="{C26413A1-0B11-AADB-6CE2-0DEFC4DF02D0}"/>
              </a:ext>
            </a:extLst>
          </p:cNvPr>
          <p:cNvSpPr>
            <a:spLocks noGrp="1"/>
          </p:cNvSpPr>
          <p:nvPr>
            <p:ph type="sldNum" sz="quarter" idx="12"/>
          </p:nvPr>
        </p:nvSpPr>
        <p:spPr/>
        <p:txBody>
          <a:bodyPr/>
          <a:lstStyle/>
          <a:p>
            <a:fld id="{330EA680-D336-4FF7-8B7A-9848BB0A1C32}" type="slidenum">
              <a:rPr lang="en-US" smtClean="0"/>
              <a:t>41</a:t>
            </a:fld>
            <a:endParaRPr lang="en-US"/>
          </a:p>
        </p:txBody>
      </p:sp>
      <p:pic>
        <p:nvPicPr>
          <p:cNvPr id="5" name="图片 4">
            <a:extLst>
              <a:ext uri="{FF2B5EF4-FFF2-40B4-BE49-F238E27FC236}">
                <a16:creationId xmlns:a16="http://schemas.microsoft.com/office/drawing/2014/main" id="{511EA9D4-B775-4145-4365-D023138B4CC9}"/>
              </a:ext>
            </a:extLst>
          </p:cNvPr>
          <p:cNvPicPr>
            <a:picLocks noChangeAspect="1"/>
          </p:cNvPicPr>
          <p:nvPr/>
        </p:nvPicPr>
        <p:blipFill>
          <a:blip r:embed="rId3"/>
          <a:stretch>
            <a:fillRect/>
          </a:stretch>
        </p:blipFill>
        <p:spPr>
          <a:xfrm>
            <a:off x="1023895" y="1204667"/>
            <a:ext cx="8350338" cy="3903478"/>
          </a:xfrm>
          <a:prstGeom prst="rect">
            <a:avLst/>
          </a:prstGeom>
        </p:spPr>
      </p:pic>
    </p:spTree>
    <p:extLst>
      <p:ext uri="{BB962C8B-B14F-4D97-AF65-F5344CB8AC3E}">
        <p14:creationId xmlns:p14="http://schemas.microsoft.com/office/powerpoint/2010/main" val="2653390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5947"/>
            <a:ext cx="12192000" cy="1188720"/>
          </a:xfrm>
        </p:spPr>
        <p:txBody>
          <a:bodyPr>
            <a:normAutofit/>
          </a:bodyPr>
          <a:lstStyle/>
          <a:p>
            <a:pPr algn="ctr"/>
            <a:r>
              <a:rPr lang="en-US" b="1" dirty="0">
                <a:latin typeface="+mn-lt"/>
                <a:cs typeface="helvetica" panose="020B0604020202020204" pitchFamily="34" charset="0"/>
              </a:rPr>
              <a:t>Rule</a:t>
            </a:r>
          </a:p>
        </p:txBody>
      </p:sp>
      <p:sp>
        <p:nvSpPr>
          <p:cNvPr id="4" name="灯片编号占位符 3">
            <a:extLst>
              <a:ext uri="{FF2B5EF4-FFF2-40B4-BE49-F238E27FC236}">
                <a16:creationId xmlns:a16="http://schemas.microsoft.com/office/drawing/2014/main" id="{C26413A1-0B11-AADB-6CE2-0DEFC4DF02D0}"/>
              </a:ext>
            </a:extLst>
          </p:cNvPr>
          <p:cNvSpPr>
            <a:spLocks noGrp="1"/>
          </p:cNvSpPr>
          <p:nvPr>
            <p:ph type="sldNum" sz="quarter" idx="12"/>
          </p:nvPr>
        </p:nvSpPr>
        <p:spPr/>
        <p:txBody>
          <a:bodyPr/>
          <a:lstStyle/>
          <a:p>
            <a:fld id="{330EA680-D336-4FF7-8B7A-9848BB0A1C32}" type="slidenum">
              <a:rPr lang="en-US" smtClean="0"/>
              <a:t>42</a:t>
            </a:fld>
            <a:endParaRPr lang="en-US"/>
          </a:p>
        </p:txBody>
      </p:sp>
      <p:pic>
        <p:nvPicPr>
          <p:cNvPr id="6" name="图片 5">
            <a:extLst>
              <a:ext uri="{FF2B5EF4-FFF2-40B4-BE49-F238E27FC236}">
                <a16:creationId xmlns:a16="http://schemas.microsoft.com/office/drawing/2014/main" id="{98DBC611-543B-35E5-08A2-842B6BACD57F}"/>
              </a:ext>
            </a:extLst>
          </p:cNvPr>
          <p:cNvPicPr>
            <a:picLocks noChangeAspect="1"/>
          </p:cNvPicPr>
          <p:nvPr/>
        </p:nvPicPr>
        <p:blipFill>
          <a:blip r:embed="rId3"/>
          <a:stretch>
            <a:fillRect/>
          </a:stretch>
        </p:blipFill>
        <p:spPr>
          <a:xfrm>
            <a:off x="849416" y="1162021"/>
            <a:ext cx="11035231" cy="4533957"/>
          </a:xfrm>
          <a:prstGeom prst="rect">
            <a:avLst/>
          </a:prstGeom>
        </p:spPr>
      </p:pic>
    </p:spTree>
    <p:extLst>
      <p:ext uri="{BB962C8B-B14F-4D97-AF65-F5344CB8AC3E}">
        <p14:creationId xmlns:p14="http://schemas.microsoft.com/office/powerpoint/2010/main" val="38512176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5"/>
            <a:ext cx="12192000" cy="1188720"/>
          </a:xfrm>
        </p:spPr>
        <p:txBody>
          <a:bodyPr/>
          <a:lstStyle/>
          <a:p>
            <a:pPr algn="ctr"/>
            <a:r>
              <a:rPr lang="en-US" b="1">
                <a:latin typeface="helvetica" panose="020B0604020202020204" pitchFamily="34" charset="0"/>
                <a:cs typeface="helvetica" panose="020B0604020202020204" pitchFamily="34" charset="0"/>
              </a:rPr>
              <a:t>How to Find State Event</a:t>
            </a:r>
          </a:p>
        </p:txBody>
      </p:sp>
      <p:sp>
        <p:nvSpPr>
          <p:cNvPr id="5" name="灯片编号占位符 4">
            <a:extLst>
              <a:ext uri="{FF2B5EF4-FFF2-40B4-BE49-F238E27FC236}">
                <a16:creationId xmlns:a16="http://schemas.microsoft.com/office/drawing/2014/main" id="{5A593367-7DA8-B9FF-7EF8-A0AE5ECD1D8E}"/>
              </a:ext>
            </a:extLst>
          </p:cNvPr>
          <p:cNvSpPr>
            <a:spLocks noGrp="1"/>
          </p:cNvSpPr>
          <p:nvPr>
            <p:ph type="sldNum" sz="quarter" idx="12"/>
          </p:nvPr>
        </p:nvSpPr>
        <p:spPr/>
        <p:txBody>
          <a:bodyPr/>
          <a:lstStyle/>
          <a:p>
            <a:fld id="{330EA680-D336-4FF7-8B7A-9848BB0A1C32}" type="slidenum">
              <a:rPr lang="en-US" smtClean="0"/>
              <a:t>43</a:t>
            </a:fld>
            <a:endParaRPr lang="en-US"/>
          </a:p>
        </p:txBody>
      </p:sp>
      <p:sp>
        <p:nvSpPr>
          <p:cNvPr id="4" name="Content Placeholder 3">
            <a:extLst>
              <a:ext uri="{FF2B5EF4-FFF2-40B4-BE49-F238E27FC236}">
                <a16:creationId xmlns:a16="http://schemas.microsoft.com/office/drawing/2014/main" id="{61B590DC-760D-A00A-07F7-788FC3618213}"/>
              </a:ext>
            </a:extLst>
          </p:cNvPr>
          <p:cNvSpPr>
            <a:spLocks noGrp="1"/>
          </p:cNvSpPr>
          <p:nvPr>
            <p:ph idx="1"/>
          </p:nvPr>
        </p:nvSpPr>
        <p:spPr>
          <a:xfrm>
            <a:off x="0" y="1206500"/>
            <a:ext cx="11353800" cy="1946687"/>
          </a:xfrm>
          <a:prstGeom prst="rect">
            <a:avLst/>
          </a:prstGeom>
        </p:spPr>
        <p:txBody>
          <a:bodyPr wrap="square">
            <a:spAutoFit/>
          </a:bodyPr>
          <a:lstStyle/>
          <a:p>
            <a:pPr marL="457200" indent="-457200">
              <a:buFont typeface="Arial" panose="020B0604020202020204" pitchFamily="34" charset="0"/>
              <a:buChar char="•"/>
            </a:pPr>
            <a:r>
              <a:rPr lang="en-US" sz="3200" b="1"/>
              <a:t>Manually instrumenting all state events in code base</a:t>
            </a:r>
            <a:endParaRPr lang="en-US" sz="3200" b="1" i="1"/>
          </a:p>
          <a:p>
            <a:pPr marL="801688" lvl="1" indent="-344488">
              <a:buFont typeface="Courier New" panose="02070309020205020404" pitchFamily="49" charset="0"/>
              <a:buChar char="o"/>
            </a:pPr>
            <a:r>
              <a:rPr lang="en-US" sz="2800"/>
              <a:t>To much domain knowledge</a:t>
            </a:r>
          </a:p>
          <a:p>
            <a:pPr marL="801688" lvl="1" indent="-344488">
              <a:buFont typeface="Courier New" panose="02070309020205020404" pitchFamily="49" charset="0"/>
              <a:buChar char="o"/>
            </a:pPr>
            <a:r>
              <a:rPr lang="en-US" sz="2800"/>
              <a:t>A lot of resource -&gt; waste time</a:t>
            </a:r>
          </a:p>
          <a:p>
            <a:pPr marL="801688" lvl="1" indent="-344488">
              <a:buFont typeface="Courier New" panose="02070309020205020404" pitchFamily="49" charset="0"/>
              <a:buChar char="o"/>
            </a:pPr>
            <a:r>
              <a:rPr lang="en-US" sz="2800"/>
              <a:t>Instrumentation can be error-prone</a:t>
            </a:r>
          </a:p>
        </p:txBody>
      </p:sp>
    </p:spTree>
    <p:extLst>
      <p:ext uri="{BB962C8B-B14F-4D97-AF65-F5344CB8AC3E}">
        <p14:creationId xmlns:p14="http://schemas.microsoft.com/office/powerpoint/2010/main" val="403737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325563"/>
          </a:xfrm>
        </p:spPr>
        <p:txBody>
          <a:bodyPr>
            <a:normAutofit/>
          </a:bodyPr>
          <a:lstStyle/>
          <a:p>
            <a:pPr algn="ctr"/>
            <a:r>
              <a:rPr lang="en-US" b="1">
                <a:latin typeface="helvetica" panose="020B0604020202020204" pitchFamily="34" charset="0"/>
                <a:cs typeface="helvetica" panose="020B0604020202020204" pitchFamily="34" charset="0"/>
              </a:rPr>
              <a:t>Notify State Event to </a:t>
            </a:r>
            <a:r>
              <a:rPr lang="en-US" b="1" err="1">
                <a:latin typeface="helvetica" panose="020B0604020202020204" pitchFamily="34" charset="0"/>
                <a:cs typeface="helvetica" panose="020B0604020202020204" pitchFamily="34" charset="0"/>
              </a:rPr>
              <a:t>pBox</a:t>
            </a:r>
            <a:r>
              <a:rPr lang="en-US" b="1">
                <a:latin typeface="helvetica" panose="020B0604020202020204" pitchFamily="34" charset="0"/>
                <a:cs typeface="helvetica" panose="020B0604020202020204" pitchFamily="34" charset="0"/>
              </a:rPr>
              <a:t> Manager</a:t>
            </a:r>
          </a:p>
        </p:txBody>
      </p:sp>
      <p:sp>
        <p:nvSpPr>
          <p:cNvPr id="5" name="灯片编号占位符 4">
            <a:extLst>
              <a:ext uri="{FF2B5EF4-FFF2-40B4-BE49-F238E27FC236}">
                <a16:creationId xmlns:a16="http://schemas.microsoft.com/office/drawing/2014/main" id="{5A593367-7DA8-B9FF-7EF8-A0AE5ECD1D8E}"/>
              </a:ext>
            </a:extLst>
          </p:cNvPr>
          <p:cNvSpPr>
            <a:spLocks noGrp="1"/>
          </p:cNvSpPr>
          <p:nvPr>
            <p:ph type="sldNum" sz="quarter" idx="12"/>
          </p:nvPr>
        </p:nvSpPr>
        <p:spPr/>
        <p:txBody>
          <a:bodyPr/>
          <a:lstStyle/>
          <a:p>
            <a:fld id="{330EA680-D336-4FF7-8B7A-9848BB0A1C32}" type="slidenum">
              <a:rPr lang="en-US" smtClean="0"/>
              <a:t>44</a:t>
            </a:fld>
            <a:endParaRPr lang="en-US"/>
          </a:p>
        </p:txBody>
      </p:sp>
      <p:sp>
        <p:nvSpPr>
          <p:cNvPr id="4" name="TextBox 3">
            <a:extLst>
              <a:ext uri="{FF2B5EF4-FFF2-40B4-BE49-F238E27FC236}">
                <a16:creationId xmlns:a16="http://schemas.microsoft.com/office/drawing/2014/main" id="{FFC5F0F7-ADE4-020B-BE52-2375D06B07D7}"/>
              </a:ext>
            </a:extLst>
          </p:cNvPr>
          <p:cNvSpPr txBox="1"/>
          <p:nvPr/>
        </p:nvSpPr>
        <p:spPr>
          <a:xfrm>
            <a:off x="669302" y="1074509"/>
            <a:ext cx="9869863" cy="5632311"/>
          </a:xfrm>
          <a:prstGeom prst="rect">
            <a:avLst/>
          </a:prstGeom>
          <a:noFill/>
        </p:spPr>
        <p:txBody>
          <a:bodyPr wrap="square">
            <a:spAutoFit/>
          </a:bodyPr>
          <a:lstStyle/>
          <a:p>
            <a:r>
              <a:rPr lang="en-US">
                <a:solidFill>
                  <a:srgbClr val="517CA8"/>
                </a:solidFill>
                <a:latin typeface="Consolas" panose="020B0609020204030204" pitchFamily="49" charset="0"/>
              </a:rPr>
              <a:t>void</a:t>
            </a:r>
            <a:r>
              <a:rPr lang="en-US">
                <a:latin typeface="Consolas" panose="020B0609020204030204" pitchFamily="49" charset="0"/>
              </a:rPr>
              <a:t> </a:t>
            </a:r>
            <a:r>
              <a:rPr lang="en-US" err="1">
                <a:latin typeface="Consolas" panose="020B0609020204030204" pitchFamily="49" charset="0"/>
              </a:rPr>
              <a:t>srv_enter_innodb</a:t>
            </a:r>
            <a:r>
              <a:rPr lang="en-US" b="1">
                <a:latin typeface="Consolas" panose="020B0609020204030204" pitchFamily="49" charset="0"/>
              </a:rPr>
              <a:t>()</a:t>
            </a:r>
            <a:r>
              <a:rPr lang="en-US">
                <a:latin typeface="Consolas" panose="020B0609020204030204" pitchFamily="49" charset="0"/>
              </a:rPr>
              <a:t> {</a:t>
            </a:r>
          </a:p>
          <a:p>
            <a:pPr marL="227013"/>
            <a:r>
              <a:rPr lang="en-US">
                <a:latin typeface="Consolas" panose="020B0609020204030204" pitchFamily="49" charset="0"/>
              </a:rPr>
              <a:t>… </a:t>
            </a:r>
          </a:p>
          <a:p>
            <a:pPr marL="227013"/>
            <a:r>
              <a:rPr lang="en-US">
                <a:solidFill>
                  <a:srgbClr val="517CA8"/>
                </a:solidFill>
                <a:latin typeface="Consolas" panose="020B0609020204030204" pitchFamily="49" charset="0"/>
              </a:rPr>
              <a:t>for</a:t>
            </a:r>
            <a:r>
              <a:rPr lang="en-US" b="1">
                <a:latin typeface="Consolas" panose="020B0609020204030204" pitchFamily="49" charset="0"/>
              </a:rPr>
              <a:t>(</a:t>
            </a:r>
            <a:r>
              <a:rPr lang="en-US">
                <a:latin typeface="Consolas" panose="020B0609020204030204" pitchFamily="49" charset="0"/>
              </a:rPr>
              <a:t>;;</a:t>
            </a:r>
            <a:r>
              <a:rPr lang="en-US" b="1">
                <a:latin typeface="Consolas" panose="020B0609020204030204" pitchFamily="49" charset="0"/>
              </a:rPr>
              <a:t>)</a:t>
            </a:r>
            <a:r>
              <a:rPr lang="en-US">
                <a:latin typeface="Consolas" panose="020B0609020204030204" pitchFamily="49" charset="0"/>
              </a:rPr>
              <a:t> { </a:t>
            </a:r>
          </a:p>
          <a:p>
            <a:pPr marL="461963"/>
            <a:r>
              <a:rPr lang="en-US">
                <a:solidFill>
                  <a:srgbClr val="517CA8"/>
                </a:solidFill>
                <a:latin typeface="Consolas" panose="020B0609020204030204" pitchFamily="49" charset="0"/>
              </a:rPr>
              <a:t>if</a:t>
            </a:r>
            <a:r>
              <a:rPr lang="en-US" b="1">
                <a:latin typeface="Consolas" panose="020B0609020204030204" pitchFamily="49" charset="0"/>
              </a:rPr>
              <a:t>(</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solidFill>
                  <a:srgbClr val="FF9966"/>
                </a:solidFill>
                <a:latin typeface="Consolas" panose="020B0609020204030204" pitchFamily="49" charset="0"/>
              </a:rPr>
              <a:t>&lt;</a:t>
            </a:r>
            <a:r>
              <a:rPr lang="en-US">
                <a:latin typeface="Consolas" panose="020B0609020204030204" pitchFamily="49" charset="0"/>
              </a:rPr>
              <a:t> </a:t>
            </a:r>
            <a:r>
              <a:rPr lang="en-US" err="1">
                <a:latin typeface="Consolas" panose="020B0609020204030204" pitchFamily="49" charset="0"/>
              </a:rPr>
              <a:t>thread_concurrency</a:t>
            </a:r>
            <a:r>
              <a:rPr lang="en-US" b="1">
                <a:latin typeface="Consolas" panose="020B0609020204030204" pitchFamily="49" charset="0"/>
              </a:rPr>
              <a:t>)</a:t>
            </a:r>
            <a:r>
              <a:rPr lang="en-US">
                <a:latin typeface="Consolas" panose="020B0609020204030204" pitchFamily="49" charset="0"/>
              </a:rPr>
              <a:t> { </a:t>
            </a:r>
          </a:p>
          <a:p>
            <a:pPr marL="687388"/>
            <a:r>
              <a:rPr lang="en-US" err="1">
                <a:latin typeface="Consolas" panose="020B0609020204030204" pitchFamily="49" charset="0"/>
              </a:rPr>
              <a:t>n_active</a:t>
            </a:r>
            <a:r>
              <a:rPr lang="en-US">
                <a:latin typeface="Consolas" panose="020B0609020204030204" pitchFamily="49" charset="0"/>
              </a:rPr>
              <a:t> = </a:t>
            </a:r>
            <a:r>
              <a:rPr lang="en-US" err="1">
                <a:latin typeface="Consolas" panose="020B0609020204030204" pitchFamily="49" charset="0"/>
              </a:rPr>
              <a:t>os_atomic_inc</a:t>
            </a:r>
            <a:r>
              <a:rPr lang="en-US" b="1">
                <a:latin typeface="Consolas" panose="020B0609020204030204" pitchFamily="49" charset="0"/>
              </a:rPr>
              <a:t>(</a:t>
            </a:r>
            <a:r>
              <a:rPr lang="en-US">
                <a:latin typeface="Consolas" panose="020B0609020204030204" pitchFamily="49" charset="0"/>
              </a:rPr>
              <a:t>&amp;</a:t>
            </a:r>
            <a:r>
              <a:rPr lang="en-US" err="1">
                <a:latin typeface="Consolas" panose="020B0609020204030204" pitchFamily="49" charset="0"/>
              </a:rPr>
              <a:t>srv_conc.n_active</a:t>
            </a:r>
            <a:r>
              <a:rPr lang="en-US" b="1">
                <a:latin typeface="Consolas" panose="020B0609020204030204" pitchFamily="49" charset="0"/>
              </a:rPr>
              <a:t>)</a:t>
            </a:r>
            <a:r>
              <a:rPr lang="en-US">
                <a:latin typeface="Consolas" panose="020B0609020204030204" pitchFamily="49" charset="0"/>
              </a:rPr>
              <a:t>; </a:t>
            </a:r>
          </a:p>
          <a:p>
            <a:pPr marL="687388"/>
            <a:r>
              <a:rPr lang="en-US">
                <a:solidFill>
                  <a:srgbClr val="517CA8"/>
                </a:solidFill>
                <a:latin typeface="Consolas" panose="020B0609020204030204" pitchFamily="49" charset="0"/>
              </a:rPr>
              <a:t>if</a:t>
            </a:r>
            <a:r>
              <a:rPr lang="en-US" b="1">
                <a:latin typeface="Consolas" panose="020B0609020204030204" pitchFamily="49" charset="0"/>
              </a:rPr>
              <a:t>(</a:t>
            </a:r>
            <a:r>
              <a:rPr lang="en-US" err="1">
                <a:latin typeface="Consolas" panose="020B0609020204030204" pitchFamily="49" charset="0"/>
              </a:rPr>
              <a:t>n_active</a:t>
            </a:r>
            <a:r>
              <a:rPr lang="en-US">
                <a:latin typeface="Consolas" panose="020B0609020204030204" pitchFamily="49" charset="0"/>
              </a:rPr>
              <a:t> &lt;= </a:t>
            </a:r>
            <a:r>
              <a:rPr lang="en-US" err="1">
                <a:latin typeface="Consolas" panose="020B0609020204030204" pitchFamily="49" charset="0"/>
              </a:rPr>
              <a:t>thread_concurrency</a:t>
            </a:r>
            <a:r>
              <a:rPr lang="en-US" b="1">
                <a:latin typeface="Consolas" panose="020B0609020204030204" pitchFamily="49" charset="0"/>
              </a:rPr>
              <a:t>)</a:t>
            </a:r>
            <a:r>
              <a:rPr lang="en-US">
                <a:latin typeface="Consolas" panose="020B0609020204030204" pitchFamily="49" charset="0"/>
              </a:rPr>
              <a:t> { </a:t>
            </a:r>
          </a:p>
          <a:p>
            <a:pPr marL="914400"/>
            <a:r>
              <a:rPr lang="en-US" err="1">
                <a:latin typeface="Consolas" panose="020B0609020204030204" pitchFamily="49" charset="0"/>
              </a:rPr>
              <a:t>srv_enter_innodb_with_tickets</a:t>
            </a:r>
            <a:r>
              <a:rPr lang="en-US" b="1">
                <a:latin typeface="Consolas" panose="020B0609020204030204" pitchFamily="49" charset="0"/>
              </a:rPr>
              <a:t>(</a:t>
            </a:r>
            <a:r>
              <a:rPr lang="en-US" err="1">
                <a:latin typeface="Consolas" panose="020B0609020204030204" pitchFamily="49" charset="0"/>
              </a:rPr>
              <a:t>trx</a:t>
            </a:r>
            <a:r>
              <a:rPr lang="en-US" b="1">
                <a:latin typeface="Consolas" panose="020B0609020204030204" pitchFamily="49" charset="0"/>
              </a:rPr>
              <a:t>)</a:t>
            </a:r>
            <a:r>
              <a:rPr lang="en-US">
                <a:latin typeface="Consolas" panose="020B0609020204030204" pitchFamily="49" charset="0"/>
              </a:rPr>
              <a:t>; </a:t>
            </a:r>
          </a:p>
          <a:p>
            <a:pPr marL="914400"/>
            <a:r>
              <a:rPr lang="en-US">
                <a:latin typeface="Consolas" panose="020B0609020204030204" pitchFamily="49" charset="0"/>
              </a:rPr>
              <a:t>return; </a:t>
            </a:r>
          </a:p>
          <a:p>
            <a:pPr marL="687388"/>
            <a:r>
              <a:rPr lang="en-US">
                <a:latin typeface="Consolas" panose="020B0609020204030204" pitchFamily="49" charset="0"/>
              </a:rPr>
              <a:t>}</a:t>
            </a:r>
          </a:p>
          <a:p>
            <a:pPr marL="461963"/>
            <a:r>
              <a:rPr lang="en-US">
                <a:latin typeface="Consolas" panose="020B0609020204030204" pitchFamily="49" charset="0"/>
              </a:rPr>
              <a:t>} </a:t>
            </a:r>
          </a:p>
          <a:p>
            <a:pPr marL="519113"/>
            <a:r>
              <a:rPr lang="en-US" err="1">
                <a:latin typeface="Consolas" panose="020B0609020204030204" pitchFamily="49" charset="0"/>
              </a:rPr>
              <a:t>os_thread_sleep</a:t>
            </a:r>
            <a:r>
              <a:rPr lang="en-US" b="1">
                <a:latin typeface="Consolas" panose="020B0609020204030204" pitchFamily="49" charset="0"/>
              </a:rPr>
              <a:t>(</a:t>
            </a:r>
            <a:r>
              <a:rPr lang="en-US" err="1">
                <a:latin typeface="Consolas" panose="020B0609020204030204" pitchFamily="49" charset="0"/>
              </a:rPr>
              <a:t>sleep_in_us</a:t>
            </a:r>
            <a:r>
              <a:rPr lang="en-US" b="1">
                <a:latin typeface="Consolas" panose="020B0609020204030204" pitchFamily="49" charset="0"/>
              </a:rPr>
              <a:t>)</a:t>
            </a:r>
            <a:r>
              <a:rPr lang="en-US">
                <a:latin typeface="Consolas" panose="020B0609020204030204" pitchFamily="49" charset="0"/>
              </a:rPr>
              <a:t>; </a:t>
            </a:r>
          </a:p>
          <a:p>
            <a:pPr marL="227013"/>
            <a:r>
              <a:rPr lang="en-US">
                <a:latin typeface="Consolas" panose="020B0609020204030204" pitchFamily="49" charset="0"/>
              </a:rPr>
              <a:t>}</a:t>
            </a:r>
          </a:p>
          <a:p>
            <a:pPr marL="227013"/>
            <a:r>
              <a:rPr lang="en-US">
                <a:latin typeface="Consolas" panose="020B0609020204030204" pitchFamily="49" charset="0"/>
              </a:rPr>
              <a:t>…</a:t>
            </a:r>
          </a:p>
          <a:p>
            <a:r>
              <a:rPr lang="en-US">
                <a:latin typeface="Consolas" panose="020B0609020204030204" pitchFamily="49" charset="0"/>
              </a:rPr>
              <a:t>} </a:t>
            </a:r>
          </a:p>
          <a:p>
            <a:pPr marL="461963"/>
            <a:endParaRPr lang="en-US">
              <a:latin typeface="Consolas" panose="020B0609020204030204" pitchFamily="49" charset="0"/>
            </a:endParaRPr>
          </a:p>
          <a:p>
            <a:r>
              <a:rPr lang="en-US">
                <a:solidFill>
                  <a:srgbClr val="517CA8"/>
                </a:solidFill>
                <a:latin typeface="Consolas" panose="020B0609020204030204" pitchFamily="49" charset="0"/>
              </a:rPr>
              <a:t>void</a:t>
            </a:r>
            <a:r>
              <a:rPr lang="en-US">
                <a:latin typeface="Consolas" panose="020B0609020204030204" pitchFamily="49" charset="0"/>
              </a:rPr>
              <a:t> </a:t>
            </a:r>
            <a:r>
              <a:rPr lang="en-US" err="1">
                <a:latin typeface="Consolas" panose="020B0609020204030204" pitchFamily="49" charset="0"/>
              </a:rPr>
              <a:t>srv_exit_innodb</a:t>
            </a:r>
            <a:r>
              <a:rPr lang="en-US" b="1">
                <a:latin typeface="Consolas" panose="020B0609020204030204" pitchFamily="49" charset="0"/>
              </a:rPr>
              <a:t>() </a:t>
            </a:r>
            <a:r>
              <a:rPr lang="en-US">
                <a:latin typeface="Consolas" panose="020B0609020204030204" pitchFamily="49" charset="0"/>
              </a:rPr>
              <a:t>{ </a:t>
            </a:r>
          </a:p>
          <a:p>
            <a:pPr marL="227013"/>
            <a:r>
              <a:rPr lang="en-US">
                <a:latin typeface="Consolas" panose="020B0609020204030204" pitchFamily="49" charset="0"/>
              </a:rPr>
              <a:t>… </a:t>
            </a:r>
          </a:p>
          <a:p>
            <a:pPr marL="227013"/>
            <a:r>
              <a:rPr lang="en-US" err="1">
                <a:latin typeface="Consolas" panose="020B0609020204030204" pitchFamily="49" charset="0"/>
              </a:rPr>
              <a:t>os_atomic_dec</a:t>
            </a:r>
            <a:r>
              <a:rPr lang="en-US" b="1">
                <a:latin typeface="Consolas" panose="020B0609020204030204" pitchFamily="49" charset="0"/>
              </a:rPr>
              <a:t>(</a:t>
            </a:r>
            <a:r>
              <a:rPr lang="en-US">
                <a:latin typeface="Consolas" panose="020B0609020204030204" pitchFamily="49" charset="0"/>
              </a:rPr>
              <a:t>&amp;</a:t>
            </a:r>
            <a:r>
              <a:rPr lang="en-US" err="1">
                <a:latin typeface="Consolas" panose="020B0609020204030204" pitchFamily="49" charset="0"/>
              </a:rPr>
              <a:t>srv_conc.n_active</a:t>
            </a:r>
            <a:r>
              <a:rPr lang="en-US">
                <a:latin typeface="Consolas" panose="020B0609020204030204" pitchFamily="49" charset="0"/>
              </a:rPr>
              <a:t>, 1</a:t>
            </a:r>
            <a:r>
              <a:rPr lang="en-US" b="1">
                <a:latin typeface="Consolas" panose="020B0609020204030204" pitchFamily="49" charset="0"/>
              </a:rPr>
              <a:t>)</a:t>
            </a:r>
            <a:r>
              <a:rPr lang="en-US">
                <a:latin typeface="Consolas" panose="020B0609020204030204" pitchFamily="49" charset="0"/>
              </a:rPr>
              <a:t>;</a:t>
            </a:r>
          </a:p>
          <a:p>
            <a:pPr marL="227013"/>
            <a:r>
              <a:rPr lang="en-US">
                <a:latin typeface="Consolas" panose="020B0609020204030204" pitchFamily="49" charset="0"/>
              </a:rPr>
              <a:t>…</a:t>
            </a:r>
          </a:p>
          <a:p>
            <a:r>
              <a:rPr lang="en-US">
                <a:latin typeface="Consolas" panose="020B0609020204030204" pitchFamily="49" charset="0"/>
              </a:rPr>
              <a:t>}</a:t>
            </a:r>
          </a:p>
        </p:txBody>
      </p:sp>
      <p:sp>
        <p:nvSpPr>
          <p:cNvPr id="6" name="Arc 5">
            <a:extLst>
              <a:ext uri="{FF2B5EF4-FFF2-40B4-BE49-F238E27FC236}">
                <a16:creationId xmlns:a16="http://schemas.microsoft.com/office/drawing/2014/main" id="{3A33F22E-17B9-BAC4-9D2C-7DBD2F663781}"/>
              </a:ext>
            </a:extLst>
          </p:cNvPr>
          <p:cNvSpPr/>
          <p:nvPr/>
        </p:nvSpPr>
        <p:spPr>
          <a:xfrm>
            <a:off x="6096000" y="2019407"/>
            <a:ext cx="2101405" cy="1037848"/>
          </a:xfrm>
          <a:prstGeom prst="arc">
            <a:avLst>
              <a:gd name="adj1" fmla="val 13644480"/>
              <a:gd name="adj2" fmla="val 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A221113E-6439-54A1-57B7-C458479FB58C}"/>
              </a:ext>
            </a:extLst>
          </p:cNvPr>
          <p:cNvSpPr txBox="1"/>
          <p:nvPr/>
        </p:nvSpPr>
        <p:spPr>
          <a:xfrm>
            <a:off x="6486863" y="2531875"/>
            <a:ext cx="4878720" cy="461665"/>
          </a:xfrm>
          <a:prstGeom prst="rect">
            <a:avLst/>
          </a:prstGeom>
          <a:noFill/>
          <a:ln>
            <a:noFill/>
          </a:ln>
        </p:spPr>
        <p:txBody>
          <a:bodyPr wrap="square" rtlCol="0">
            <a:spAutoFit/>
          </a:bodyPr>
          <a:lstStyle/>
          <a:p>
            <a:r>
              <a:rPr lang="en-US" sz="2400" b="1">
                <a:cs typeface="helvetica" panose="020B0604020202020204" pitchFamily="34" charset="0"/>
              </a:rPr>
              <a:t>get the thread tickets, enter </a:t>
            </a:r>
            <a:r>
              <a:rPr lang="en-US" sz="2400" b="1" err="1">
                <a:cs typeface="helvetica" panose="020B0604020202020204" pitchFamily="34" charset="0"/>
              </a:rPr>
              <a:t>innodb</a:t>
            </a:r>
            <a:endParaRPr lang="en-US" sz="2400" b="1">
              <a:cs typeface="helvetica" panose="020B0604020202020204" pitchFamily="34" charset="0"/>
            </a:endParaRPr>
          </a:p>
        </p:txBody>
      </p:sp>
      <p:cxnSp>
        <p:nvCxnSpPr>
          <p:cNvPr id="8" name="Straight Arrow Connector 7">
            <a:extLst>
              <a:ext uri="{FF2B5EF4-FFF2-40B4-BE49-F238E27FC236}">
                <a16:creationId xmlns:a16="http://schemas.microsoft.com/office/drawing/2014/main" id="{F2106DFA-533B-809B-A38F-7EEA9BFB4772}"/>
              </a:ext>
            </a:extLst>
          </p:cNvPr>
          <p:cNvCxnSpPr>
            <a:cxnSpLocks/>
          </p:cNvCxnSpPr>
          <p:nvPr/>
        </p:nvCxnSpPr>
        <p:spPr>
          <a:xfrm flipH="1">
            <a:off x="5009047" y="4068049"/>
            <a:ext cx="1401180" cy="17834"/>
          </a:xfrm>
          <a:prstGeom prst="straightConnector1">
            <a:avLst/>
          </a:prstGeom>
          <a:ln w="57150">
            <a:solidFill>
              <a:srgbClr val="0070C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0425358-1E71-10EB-2170-1ABF4E76A92A}"/>
              </a:ext>
            </a:extLst>
          </p:cNvPr>
          <p:cNvSpPr txBox="1"/>
          <p:nvPr/>
        </p:nvSpPr>
        <p:spPr>
          <a:xfrm>
            <a:off x="6410227" y="3801902"/>
            <a:ext cx="4878720" cy="461665"/>
          </a:xfrm>
          <a:prstGeom prst="rect">
            <a:avLst/>
          </a:prstGeom>
          <a:noFill/>
          <a:ln>
            <a:noFill/>
          </a:ln>
        </p:spPr>
        <p:txBody>
          <a:bodyPr wrap="square" rtlCol="0">
            <a:spAutoFit/>
          </a:bodyPr>
          <a:lstStyle/>
          <a:p>
            <a:r>
              <a:rPr lang="en-US" sz="2400" b="1">
                <a:cs typeface="helvetica" panose="020B0604020202020204" pitchFamily="34" charset="0"/>
              </a:rPr>
              <a:t>no thread tickets, block itself</a:t>
            </a:r>
          </a:p>
        </p:txBody>
      </p:sp>
    </p:spTree>
    <p:extLst>
      <p:ext uri="{BB962C8B-B14F-4D97-AF65-F5344CB8AC3E}">
        <p14:creationId xmlns:p14="http://schemas.microsoft.com/office/powerpoint/2010/main" val="192278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0"/>
            <a:ext cx="12192000" cy="1325563"/>
          </a:xfrm>
        </p:spPr>
        <p:txBody>
          <a:bodyPr>
            <a:normAutofit/>
          </a:bodyPr>
          <a:lstStyle/>
          <a:p>
            <a:pPr algn="ctr"/>
            <a:r>
              <a:rPr lang="en-US" b="1">
                <a:latin typeface="helvetica" panose="020B0604020202020204" pitchFamily="34" charset="0"/>
                <a:cs typeface="helvetica" panose="020B0604020202020204" pitchFamily="34" charset="0"/>
              </a:rPr>
              <a:t>Notify State Event to </a:t>
            </a:r>
            <a:r>
              <a:rPr lang="en-US" b="1" err="1">
                <a:latin typeface="helvetica" panose="020B0604020202020204" pitchFamily="34" charset="0"/>
                <a:cs typeface="helvetica" panose="020B0604020202020204" pitchFamily="34" charset="0"/>
              </a:rPr>
              <a:t>pBox</a:t>
            </a:r>
            <a:r>
              <a:rPr lang="en-US" b="1">
                <a:latin typeface="helvetica" panose="020B0604020202020204" pitchFamily="34" charset="0"/>
                <a:cs typeface="helvetica" panose="020B0604020202020204" pitchFamily="34" charset="0"/>
              </a:rPr>
              <a:t> Manager</a:t>
            </a:r>
          </a:p>
        </p:txBody>
      </p:sp>
      <p:sp>
        <p:nvSpPr>
          <p:cNvPr id="5" name="灯片编号占位符 4">
            <a:extLst>
              <a:ext uri="{FF2B5EF4-FFF2-40B4-BE49-F238E27FC236}">
                <a16:creationId xmlns:a16="http://schemas.microsoft.com/office/drawing/2014/main" id="{5A593367-7DA8-B9FF-7EF8-A0AE5ECD1D8E}"/>
              </a:ext>
            </a:extLst>
          </p:cNvPr>
          <p:cNvSpPr>
            <a:spLocks noGrp="1"/>
          </p:cNvSpPr>
          <p:nvPr>
            <p:ph type="sldNum" sz="quarter" idx="12"/>
          </p:nvPr>
        </p:nvSpPr>
        <p:spPr/>
        <p:txBody>
          <a:bodyPr/>
          <a:lstStyle/>
          <a:p>
            <a:fld id="{330EA680-D336-4FF7-8B7A-9848BB0A1C32}" type="slidenum">
              <a:rPr lang="en-US" smtClean="0"/>
              <a:t>45</a:t>
            </a:fld>
            <a:endParaRPr lang="en-US"/>
          </a:p>
        </p:txBody>
      </p:sp>
      <p:sp>
        <p:nvSpPr>
          <p:cNvPr id="4" name="TextBox 3">
            <a:extLst>
              <a:ext uri="{FF2B5EF4-FFF2-40B4-BE49-F238E27FC236}">
                <a16:creationId xmlns:a16="http://schemas.microsoft.com/office/drawing/2014/main" id="{FFC5F0F7-ADE4-020B-BE52-2375D06B07D7}"/>
              </a:ext>
            </a:extLst>
          </p:cNvPr>
          <p:cNvSpPr txBox="1"/>
          <p:nvPr/>
        </p:nvSpPr>
        <p:spPr>
          <a:xfrm>
            <a:off x="669302" y="1074509"/>
            <a:ext cx="10020694" cy="5632311"/>
          </a:xfrm>
          <a:prstGeom prst="rect">
            <a:avLst/>
          </a:prstGeom>
          <a:noFill/>
        </p:spPr>
        <p:txBody>
          <a:bodyPr wrap="square">
            <a:spAutoFit/>
          </a:bodyPr>
          <a:lstStyle/>
          <a:p>
            <a:r>
              <a:rPr lang="en-US">
                <a:solidFill>
                  <a:srgbClr val="517CA8"/>
                </a:solidFill>
                <a:latin typeface="Consolas" panose="020B0609020204030204" pitchFamily="49" charset="0"/>
              </a:rPr>
              <a:t>void</a:t>
            </a:r>
            <a:r>
              <a:rPr lang="en-US">
                <a:latin typeface="Consolas" panose="020B0609020204030204" pitchFamily="49" charset="0"/>
              </a:rPr>
              <a:t> </a:t>
            </a:r>
            <a:r>
              <a:rPr lang="en-US" err="1">
                <a:latin typeface="Consolas" panose="020B0609020204030204" pitchFamily="49" charset="0"/>
              </a:rPr>
              <a:t>srv_enter_innodb</a:t>
            </a:r>
            <a:r>
              <a:rPr lang="en-US" b="1">
                <a:latin typeface="Consolas" panose="020B0609020204030204" pitchFamily="49" charset="0"/>
              </a:rPr>
              <a:t>()</a:t>
            </a:r>
            <a:r>
              <a:rPr lang="en-US">
                <a:latin typeface="Consolas" panose="020B0609020204030204" pitchFamily="49" charset="0"/>
              </a:rPr>
              <a:t> { </a:t>
            </a:r>
          </a:p>
          <a:p>
            <a:r>
              <a:rPr lang="en-US">
                <a:latin typeface="Consolas" panose="020B0609020204030204" pitchFamily="49" charset="0"/>
              </a:rPr>
              <a:t>  </a:t>
            </a:r>
            <a:r>
              <a:rPr lang="en-US" err="1">
                <a:latin typeface="Consolas" panose="020B0609020204030204" pitchFamily="49" charset="0"/>
              </a:rPr>
              <a:t>update_pbox</a:t>
            </a:r>
            <a:r>
              <a:rPr lang="en-US">
                <a:latin typeface="Consolas" panose="020B0609020204030204" pitchFamily="49" charset="0"/>
              </a:rPr>
              <a:t>(&amp;</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latin typeface="Consolas" panose="020B0609020204030204" pitchFamily="49" charset="0"/>
              </a:rPr>
              <a:t>PREPARE);</a:t>
            </a:r>
          </a:p>
          <a:p>
            <a:pPr marL="227013"/>
            <a:r>
              <a:rPr lang="en-US">
                <a:solidFill>
                  <a:srgbClr val="517CA8"/>
                </a:solidFill>
                <a:latin typeface="Consolas" panose="020B0609020204030204" pitchFamily="49" charset="0"/>
              </a:rPr>
              <a:t>for</a:t>
            </a:r>
            <a:r>
              <a:rPr lang="en-US" b="1">
                <a:latin typeface="Consolas" panose="020B0609020204030204" pitchFamily="49" charset="0"/>
              </a:rPr>
              <a:t>(</a:t>
            </a:r>
            <a:r>
              <a:rPr lang="en-US">
                <a:latin typeface="Consolas" panose="020B0609020204030204" pitchFamily="49" charset="0"/>
              </a:rPr>
              <a:t>;;</a:t>
            </a:r>
            <a:r>
              <a:rPr lang="en-US" b="1">
                <a:latin typeface="Consolas" panose="020B0609020204030204" pitchFamily="49" charset="0"/>
              </a:rPr>
              <a:t>)</a:t>
            </a:r>
            <a:r>
              <a:rPr lang="en-US">
                <a:latin typeface="Consolas" panose="020B0609020204030204" pitchFamily="49" charset="0"/>
              </a:rPr>
              <a:t> { </a:t>
            </a:r>
          </a:p>
          <a:p>
            <a:pPr marL="461963"/>
            <a:r>
              <a:rPr lang="en-US">
                <a:solidFill>
                  <a:srgbClr val="517CA8"/>
                </a:solidFill>
                <a:latin typeface="Consolas" panose="020B0609020204030204" pitchFamily="49" charset="0"/>
              </a:rPr>
              <a:t>if</a:t>
            </a:r>
            <a:r>
              <a:rPr lang="en-US" b="1">
                <a:latin typeface="Consolas" panose="020B0609020204030204" pitchFamily="49" charset="0"/>
              </a:rPr>
              <a:t>(</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solidFill>
                  <a:srgbClr val="FF9966"/>
                </a:solidFill>
                <a:latin typeface="Consolas" panose="020B0609020204030204" pitchFamily="49" charset="0"/>
              </a:rPr>
              <a:t>&lt;</a:t>
            </a:r>
            <a:r>
              <a:rPr lang="en-US">
                <a:latin typeface="Consolas" panose="020B0609020204030204" pitchFamily="49" charset="0"/>
              </a:rPr>
              <a:t> </a:t>
            </a:r>
            <a:r>
              <a:rPr lang="en-US" err="1">
                <a:latin typeface="Consolas" panose="020B0609020204030204" pitchFamily="49" charset="0"/>
              </a:rPr>
              <a:t>thread_concurrency</a:t>
            </a:r>
            <a:r>
              <a:rPr lang="en-US" b="1">
                <a:latin typeface="Consolas" panose="020B0609020204030204" pitchFamily="49" charset="0"/>
              </a:rPr>
              <a:t>)</a:t>
            </a:r>
            <a:r>
              <a:rPr lang="en-US">
                <a:latin typeface="Consolas" panose="020B0609020204030204" pitchFamily="49" charset="0"/>
              </a:rPr>
              <a:t> { </a:t>
            </a:r>
          </a:p>
          <a:p>
            <a:pPr marL="687388"/>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latin typeface="Consolas" panose="020B0609020204030204" pitchFamily="49" charset="0"/>
              </a:rPr>
              <a:t>= </a:t>
            </a:r>
            <a:r>
              <a:rPr lang="en-US" err="1">
                <a:latin typeface="Consolas" panose="020B0609020204030204" pitchFamily="49" charset="0"/>
              </a:rPr>
              <a:t>os_atomic_inc</a:t>
            </a:r>
            <a:r>
              <a:rPr lang="en-US" b="1">
                <a:latin typeface="Consolas" panose="020B0609020204030204" pitchFamily="49" charset="0"/>
              </a:rPr>
              <a:t>(</a:t>
            </a:r>
            <a:r>
              <a:rPr lang="en-US">
                <a:latin typeface="Consolas" panose="020B0609020204030204" pitchFamily="49" charset="0"/>
              </a:rPr>
              <a:t>&amp;</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b="1">
                <a:latin typeface="Consolas" panose="020B0609020204030204" pitchFamily="49" charset="0"/>
              </a:rPr>
              <a:t>)</a:t>
            </a:r>
            <a:r>
              <a:rPr lang="en-US">
                <a:latin typeface="Consolas" panose="020B0609020204030204" pitchFamily="49" charset="0"/>
              </a:rPr>
              <a:t>;</a:t>
            </a:r>
          </a:p>
          <a:p>
            <a:pPr marL="687388"/>
            <a:r>
              <a:rPr lang="en-US" err="1">
                <a:latin typeface="Consolas" panose="020B0609020204030204" pitchFamily="49" charset="0"/>
              </a:rPr>
              <a:t>update_pbox</a:t>
            </a:r>
            <a:r>
              <a:rPr lang="en-US">
                <a:latin typeface="Consolas" panose="020B0609020204030204" pitchFamily="49" charset="0"/>
              </a:rPr>
              <a:t>(&amp;</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latin typeface="Consolas" panose="020B0609020204030204" pitchFamily="49" charset="0"/>
              </a:rPr>
              <a:t>HOLD); </a:t>
            </a:r>
          </a:p>
          <a:p>
            <a:pPr marL="687388"/>
            <a:r>
              <a:rPr lang="en-US">
                <a:solidFill>
                  <a:srgbClr val="517CA8"/>
                </a:solidFill>
                <a:latin typeface="Consolas" panose="020B0609020204030204" pitchFamily="49" charset="0"/>
              </a:rPr>
              <a:t>if</a:t>
            </a:r>
            <a:r>
              <a:rPr lang="en-US" b="1">
                <a:latin typeface="Consolas" panose="020B0609020204030204" pitchFamily="49" charset="0"/>
              </a:rPr>
              <a:t>(</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solidFill>
                  <a:srgbClr val="FF9966"/>
                </a:solidFill>
                <a:latin typeface="Consolas" panose="020B0609020204030204" pitchFamily="49" charset="0"/>
              </a:rPr>
              <a:t>&lt;=</a:t>
            </a:r>
            <a:r>
              <a:rPr lang="en-US">
                <a:latin typeface="Consolas" panose="020B0609020204030204" pitchFamily="49" charset="0"/>
              </a:rPr>
              <a:t> </a:t>
            </a:r>
            <a:r>
              <a:rPr lang="en-US" err="1">
                <a:latin typeface="Consolas" panose="020B0609020204030204" pitchFamily="49" charset="0"/>
              </a:rPr>
              <a:t>thread_concurrency</a:t>
            </a:r>
            <a:r>
              <a:rPr lang="en-US" b="1">
                <a:latin typeface="Consolas" panose="020B0609020204030204" pitchFamily="49" charset="0"/>
              </a:rPr>
              <a:t>)</a:t>
            </a:r>
            <a:r>
              <a:rPr lang="en-US">
                <a:latin typeface="Consolas" panose="020B0609020204030204" pitchFamily="49" charset="0"/>
              </a:rPr>
              <a:t> { </a:t>
            </a:r>
          </a:p>
          <a:p>
            <a:pPr marL="914400"/>
            <a:r>
              <a:rPr lang="en-US" err="1">
                <a:latin typeface="Consolas" panose="020B0609020204030204" pitchFamily="49" charset="0"/>
              </a:rPr>
              <a:t>update_pbox</a:t>
            </a:r>
            <a:r>
              <a:rPr lang="en-US">
                <a:latin typeface="Consolas" panose="020B0609020204030204" pitchFamily="49" charset="0"/>
              </a:rPr>
              <a:t>(&amp;</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latin typeface="Consolas" panose="020B0609020204030204" pitchFamily="49" charset="0"/>
              </a:rPr>
              <a:t>ENTER);</a:t>
            </a:r>
          </a:p>
          <a:p>
            <a:pPr marL="914400"/>
            <a:r>
              <a:rPr lang="en-US" err="1">
                <a:latin typeface="Consolas" panose="020B0609020204030204" pitchFamily="49" charset="0"/>
              </a:rPr>
              <a:t>srv_enter_innodb_with_tickets</a:t>
            </a:r>
            <a:r>
              <a:rPr lang="en-US" b="1">
                <a:latin typeface="Consolas" panose="020B0609020204030204" pitchFamily="49" charset="0"/>
              </a:rPr>
              <a:t>(</a:t>
            </a:r>
            <a:r>
              <a:rPr lang="en-US" err="1">
                <a:latin typeface="Consolas" panose="020B0609020204030204" pitchFamily="49" charset="0"/>
              </a:rPr>
              <a:t>trx</a:t>
            </a:r>
            <a:r>
              <a:rPr lang="en-US" b="1">
                <a:latin typeface="Consolas" panose="020B0609020204030204" pitchFamily="49" charset="0"/>
              </a:rPr>
              <a:t>)</a:t>
            </a:r>
            <a:r>
              <a:rPr lang="en-US">
                <a:latin typeface="Consolas" panose="020B0609020204030204" pitchFamily="49" charset="0"/>
              </a:rPr>
              <a:t>; </a:t>
            </a:r>
          </a:p>
          <a:p>
            <a:pPr marL="914400"/>
            <a:r>
              <a:rPr lang="en-US">
                <a:latin typeface="Consolas" panose="020B0609020204030204" pitchFamily="49" charset="0"/>
              </a:rPr>
              <a:t>return; </a:t>
            </a:r>
          </a:p>
          <a:p>
            <a:pPr marL="687388"/>
            <a:r>
              <a:rPr lang="en-US">
                <a:latin typeface="Consolas" panose="020B0609020204030204" pitchFamily="49" charset="0"/>
              </a:rPr>
              <a:t>}</a:t>
            </a:r>
          </a:p>
          <a:p>
            <a:pPr marL="461963"/>
            <a:r>
              <a:rPr lang="en-US">
                <a:latin typeface="Consolas" panose="020B0609020204030204" pitchFamily="49" charset="0"/>
              </a:rPr>
              <a:t>} </a:t>
            </a:r>
          </a:p>
          <a:p>
            <a:pPr marL="519113"/>
            <a:r>
              <a:rPr lang="en-US" err="1">
                <a:latin typeface="Consolas" panose="020B0609020204030204" pitchFamily="49" charset="0"/>
              </a:rPr>
              <a:t>os_thread_sleep</a:t>
            </a:r>
            <a:r>
              <a:rPr lang="en-US" b="1">
                <a:latin typeface="Consolas" panose="020B0609020204030204" pitchFamily="49" charset="0"/>
              </a:rPr>
              <a:t>(</a:t>
            </a:r>
            <a:r>
              <a:rPr lang="en-US" err="1">
                <a:latin typeface="Consolas" panose="020B0609020204030204" pitchFamily="49" charset="0"/>
              </a:rPr>
              <a:t>sleep_in_us</a:t>
            </a:r>
            <a:r>
              <a:rPr lang="en-US" b="1">
                <a:latin typeface="Consolas" panose="020B0609020204030204" pitchFamily="49" charset="0"/>
              </a:rPr>
              <a:t>)</a:t>
            </a:r>
            <a:r>
              <a:rPr lang="en-US">
                <a:latin typeface="Consolas" panose="020B0609020204030204" pitchFamily="49" charset="0"/>
              </a:rPr>
              <a:t>; </a:t>
            </a:r>
          </a:p>
          <a:p>
            <a:pPr marL="227013"/>
            <a:r>
              <a:rPr lang="en-US">
                <a:latin typeface="Consolas" panose="020B0609020204030204" pitchFamily="49" charset="0"/>
              </a:rPr>
              <a:t>}</a:t>
            </a:r>
          </a:p>
          <a:p>
            <a:r>
              <a:rPr lang="en-US">
                <a:latin typeface="Consolas" panose="020B0609020204030204" pitchFamily="49" charset="0"/>
              </a:rPr>
              <a:t>} </a:t>
            </a:r>
          </a:p>
          <a:p>
            <a:pPr marL="461963"/>
            <a:endParaRPr lang="en-US">
              <a:latin typeface="Consolas" panose="020B0609020204030204" pitchFamily="49" charset="0"/>
            </a:endParaRPr>
          </a:p>
          <a:p>
            <a:r>
              <a:rPr lang="en-US">
                <a:solidFill>
                  <a:srgbClr val="517CA8"/>
                </a:solidFill>
                <a:latin typeface="Consolas" panose="020B0609020204030204" pitchFamily="49" charset="0"/>
              </a:rPr>
              <a:t>void</a:t>
            </a:r>
            <a:r>
              <a:rPr lang="en-US">
                <a:latin typeface="Consolas" panose="020B0609020204030204" pitchFamily="49" charset="0"/>
              </a:rPr>
              <a:t> </a:t>
            </a:r>
            <a:r>
              <a:rPr lang="en-US" err="1">
                <a:latin typeface="Consolas" panose="020B0609020204030204" pitchFamily="49" charset="0"/>
              </a:rPr>
              <a:t>srv_exit_innodb</a:t>
            </a:r>
            <a:r>
              <a:rPr lang="en-US" b="1">
                <a:latin typeface="Consolas" panose="020B0609020204030204" pitchFamily="49" charset="0"/>
              </a:rPr>
              <a:t>() </a:t>
            </a:r>
            <a:r>
              <a:rPr lang="en-US">
                <a:latin typeface="Consolas" panose="020B0609020204030204" pitchFamily="49" charset="0"/>
              </a:rPr>
              <a:t>{ </a:t>
            </a:r>
          </a:p>
          <a:p>
            <a:pPr marL="227013"/>
            <a:r>
              <a:rPr lang="en-US" err="1">
                <a:latin typeface="Consolas" panose="020B0609020204030204" pitchFamily="49" charset="0"/>
              </a:rPr>
              <a:t>os_atomic_dec</a:t>
            </a:r>
            <a:r>
              <a:rPr lang="en-US" b="1">
                <a:latin typeface="Consolas" panose="020B0609020204030204" pitchFamily="49" charset="0"/>
              </a:rPr>
              <a:t>(</a:t>
            </a:r>
            <a:r>
              <a:rPr lang="en-US">
                <a:latin typeface="Consolas" panose="020B0609020204030204" pitchFamily="49" charset="0"/>
              </a:rPr>
              <a:t>&amp;</a:t>
            </a:r>
            <a:r>
              <a:rPr lang="en-US" err="1">
                <a:latin typeface="Consolas" panose="020B0609020204030204" pitchFamily="49" charset="0"/>
              </a:rPr>
              <a:t>srv_conc.n_active</a:t>
            </a:r>
            <a:r>
              <a:rPr lang="en-US">
                <a:latin typeface="Consolas" panose="020B0609020204030204" pitchFamily="49" charset="0"/>
              </a:rPr>
              <a:t>, 1</a:t>
            </a:r>
            <a:r>
              <a:rPr lang="en-US" b="1">
                <a:latin typeface="Consolas" panose="020B0609020204030204" pitchFamily="49" charset="0"/>
              </a:rPr>
              <a:t>)</a:t>
            </a:r>
            <a:r>
              <a:rPr lang="en-US">
                <a:latin typeface="Consolas" panose="020B0609020204030204" pitchFamily="49" charset="0"/>
              </a:rPr>
              <a:t>;</a:t>
            </a:r>
          </a:p>
          <a:p>
            <a:pPr marL="227013"/>
            <a:r>
              <a:rPr lang="en-US" err="1">
                <a:latin typeface="Consolas" panose="020B0609020204030204" pitchFamily="49" charset="0"/>
              </a:rPr>
              <a:t>update_pbox</a:t>
            </a:r>
            <a:r>
              <a:rPr lang="en-US">
                <a:latin typeface="Consolas" panose="020B0609020204030204" pitchFamily="49" charset="0"/>
              </a:rPr>
              <a:t>(&amp;</a:t>
            </a:r>
            <a:r>
              <a:rPr lang="en-US" err="1">
                <a:latin typeface="Consolas" panose="020B0609020204030204" pitchFamily="49" charset="0"/>
              </a:rPr>
              <a:t>srv_conc.</a:t>
            </a:r>
            <a:r>
              <a:rPr lang="en-US" err="1">
                <a:solidFill>
                  <a:srgbClr val="C00000"/>
                </a:solidFill>
                <a:latin typeface="Consolas" panose="020B0609020204030204" pitchFamily="49" charset="0"/>
              </a:rPr>
              <a:t>n_active</a:t>
            </a:r>
            <a:r>
              <a:rPr lang="en-US">
                <a:solidFill>
                  <a:srgbClr val="C00000"/>
                </a:solidFill>
                <a:latin typeface="Consolas" panose="020B0609020204030204" pitchFamily="49" charset="0"/>
              </a:rPr>
              <a:t>, </a:t>
            </a:r>
            <a:r>
              <a:rPr lang="en-US">
                <a:latin typeface="Consolas" panose="020B0609020204030204" pitchFamily="49" charset="0"/>
              </a:rPr>
              <a:t>UNHOLD);</a:t>
            </a:r>
          </a:p>
          <a:p>
            <a:r>
              <a:rPr lang="en-US">
                <a:latin typeface="Consolas" panose="020B0609020204030204" pitchFamily="49" charset="0"/>
              </a:rPr>
              <a:t>}</a:t>
            </a:r>
          </a:p>
        </p:txBody>
      </p:sp>
      <p:sp>
        <p:nvSpPr>
          <p:cNvPr id="3" name="Rectangle 2">
            <a:extLst>
              <a:ext uri="{FF2B5EF4-FFF2-40B4-BE49-F238E27FC236}">
                <a16:creationId xmlns:a16="http://schemas.microsoft.com/office/drawing/2014/main" id="{3142F1B3-363B-B0AA-AA3A-0CED9BEC3E22}"/>
              </a:ext>
            </a:extLst>
          </p:cNvPr>
          <p:cNvSpPr/>
          <p:nvPr/>
        </p:nvSpPr>
        <p:spPr>
          <a:xfrm>
            <a:off x="951536" y="1406315"/>
            <a:ext cx="5373849"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F2EC22B9-C2A6-71B4-7B9C-6357E588F101}"/>
              </a:ext>
            </a:extLst>
          </p:cNvPr>
          <p:cNvSpPr/>
          <p:nvPr/>
        </p:nvSpPr>
        <p:spPr>
          <a:xfrm>
            <a:off x="1403751" y="2471841"/>
            <a:ext cx="5117755"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708D43C4-D053-90A6-9CF2-00BCE4325B90}"/>
              </a:ext>
            </a:extLst>
          </p:cNvPr>
          <p:cNvSpPr/>
          <p:nvPr/>
        </p:nvSpPr>
        <p:spPr>
          <a:xfrm>
            <a:off x="1686700" y="3068493"/>
            <a:ext cx="5117755"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Rectangle 7">
            <a:extLst>
              <a:ext uri="{FF2B5EF4-FFF2-40B4-BE49-F238E27FC236}">
                <a16:creationId xmlns:a16="http://schemas.microsoft.com/office/drawing/2014/main" id="{33D792DD-D6C0-E847-137C-B4FAF5C8408A}"/>
              </a:ext>
            </a:extLst>
          </p:cNvPr>
          <p:cNvSpPr/>
          <p:nvPr/>
        </p:nvSpPr>
        <p:spPr>
          <a:xfrm>
            <a:off x="951535" y="6054325"/>
            <a:ext cx="5034485"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Arc 8">
            <a:extLst>
              <a:ext uri="{FF2B5EF4-FFF2-40B4-BE49-F238E27FC236}">
                <a16:creationId xmlns:a16="http://schemas.microsoft.com/office/drawing/2014/main" id="{9BFDD24A-3968-6FEC-2952-45B099152B30}"/>
              </a:ext>
            </a:extLst>
          </p:cNvPr>
          <p:cNvSpPr/>
          <p:nvPr/>
        </p:nvSpPr>
        <p:spPr>
          <a:xfrm>
            <a:off x="6227976" y="2042591"/>
            <a:ext cx="2101405" cy="1037848"/>
          </a:xfrm>
          <a:prstGeom prst="arc">
            <a:avLst>
              <a:gd name="adj1" fmla="val 13644480"/>
              <a:gd name="adj2" fmla="val 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B247653-A6C8-DC09-EAB7-0CA21215C158}"/>
              </a:ext>
            </a:extLst>
          </p:cNvPr>
          <p:cNvSpPr txBox="1"/>
          <p:nvPr/>
        </p:nvSpPr>
        <p:spPr>
          <a:xfrm>
            <a:off x="6991584" y="2472196"/>
            <a:ext cx="4878720" cy="461665"/>
          </a:xfrm>
          <a:prstGeom prst="rect">
            <a:avLst/>
          </a:prstGeom>
          <a:noFill/>
          <a:ln>
            <a:noFill/>
          </a:ln>
        </p:spPr>
        <p:txBody>
          <a:bodyPr wrap="square" rtlCol="0">
            <a:spAutoFit/>
          </a:bodyPr>
          <a:lstStyle/>
          <a:p>
            <a:r>
              <a:rPr lang="en-US" sz="2400" b="1">
                <a:cs typeface="helvetica" panose="020B0604020202020204" pitchFamily="34" charset="0"/>
              </a:rPr>
              <a:t>get the thread tickets, enter </a:t>
            </a:r>
            <a:r>
              <a:rPr lang="en-US" sz="2400" b="1" err="1">
                <a:cs typeface="helvetica" panose="020B0604020202020204" pitchFamily="34" charset="0"/>
              </a:rPr>
              <a:t>innodb</a:t>
            </a:r>
            <a:endParaRPr lang="en-US" sz="2400" b="1">
              <a:cs typeface="helvetica" panose="020B0604020202020204" pitchFamily="34" charset="0"/>
            </a:endParaRPr>
          </a:p>
        </p:txBody>
      </p:sp>
      <p:cxnSp>
        <p:nvCxnSpPr>
          <p:cNvPr id="11" name="Straight Arrow Connector 10">
            <a:extLst>
              <a:ext uri="{FF2B5EF4-FFF2-40B4-BE49-F238E27FC236}">
                <a16:creationId xmlns:a16="http://schemas.microsoft.com/office/drawing/2014/main" id="{DAB2D124-8829-8737-0282-83B3F48292E9}"/>
              </a:ext>
            </a:extLst>
          </p:cNvPr>
          <p:cNvCxnSpPr>
            <a:cxnSpLocks/>
          </p:cNvCxnSpPr>
          <p:nvPr/>
        </p:nvCxnSpPr>
        <p:spPr>
          <a:xfrm flipH="1">
            <a:off x="5009047" y="4655920"/>
            <a:ext cx="1401180" cy="17834"/>
          </a:xfrm>
          <a:prstGeom prst="straightConnector1">
            <a:avLst/>
          </a:prstGeom>
          <a:ln w="57150">
            <a:solidFill>
              <a:srgbClr val="0070C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2AF2BD0-65A5-FFC1-BA17-8300AD196CDD}"/>
              </a:ext>
            </a:extLst>
          </p:cNvPr>
          <p:cNvSpPr txBox="1"/>
          <p:nvPr/>
        </p:nvSpPr>
        <p:spPr>
          <a:xfrm>
            <a:off x="6475080" y="4414273"/>
            <a:ext cx="4878720" cy="461665"/>
          </a:xfrm>
          <a:prstGeom prst="rect">
            <a:avLst/>
          </a:prstGeom>
          <a:noFill/>
          <a:ln>
            <a:noFill/>
          </a:ln>
        </p:spPr>
        <p:txBody>
          <a:bodyPr wrap="square" rtlCol="0">
            <a:spAutoFit/>
          </a:bodyPr>
          <a:lstStyle/>
          <a:p>
            <a:r>
              <a:rPr lang="en-US" sz="2400" b="1">
                <a:cs typeface="helvetica" panose="020B0604020202020204" pitchFamily="34" charset="0"/>
              </a:rPr>
              <a:t>no thread tickets, block itself</a:t>
            </a:r>
          </a:p>
        </p:txBody>
      </p:sp>
    </p:spTree>
    <p:extLst>
      <p:ext uri="{BB962C8B-B14F-4D97-AF65-F5344CB8AC3E}">
        <p14:creationId xmlns:p14="http://schemas.microsoft.com/office/powerpoint/2010/main" val="239481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01AE-9120-BEBD-FF15-02C341B8BA36}"/>
              </a:ext>
            </a:extLst>
          </p:cNvPr>
          <p:cNvSpPr>
            <a:spLocks noGrp="1"/>
          </p:cNvSpPr>
          <p:nvPr>
            <p:ph type="title"/>
          </p:nvPr>
        </p:nvSpPr>
        <p:spPr>
          <a:xfrm>
            <a:off x="0" y="18255"/>
            <a:ext cx="12192000" cy="1188720"/>
          </a:xfrm>
        </p:spPr>
        <p:txBody>
          <a:bodyPr/>
          <a:lstStyle/>
          <a:p>
            <a:pPr algn="ctr"/>
            <a:r>
              <a:rPr lang="en-US" b="1">
                <a:latin typeface="helvetica" panose="020B0604020202020204" pitchFamily="34" charset="0"/>
                <a:cs typeface="helvetica" panose="020B0604020202020204" pitchFamily="34" charset="0"/>
              </a:rPr>
              <a:t>Compiler Support</a:t>
            </a:r>
          </a:p>
        </p:txBody>
      </p:sp>
      <p:sp>
        <p:nvSpPr>
          <p:cNvPr id="5" name="灯片编号占位符 4">
            <a:extLst>
              <a:ext uri="{FF2B5EF4-FFF2-40B4-BE49-F238E27FC236}">
                <a16:creationId xmlns:a16="http://schemas.microsoft.com/office/drawing/2014/main" id="{5A593367-7DA8-B9FF-7EF8-A0AE5ECD1D8E}"/>
              </a:ext>
            </a:extLst>
          </p:cNvPr>
          <p:cNvSpPr>
            <a:spLocks noGrp="1"/>
          </p:cNvSpPr>
          <p:nvPr>
            <p:ph type="sldNum" sz="quarter" idx="12"/>
          </p:nvPr>
        </p:nvSpPr>
        <p:spPr/>
        <p:txBody>
          <a:bodyPr/>
          <a:lstStyle/>
          <a:p>
            <a:fld id="{330EA680-D336-4FF7-8B7A-9848BB0A1C32}" type="slidenum">
              <a:rPr lang="en-US" smtClean="0"/>
              <a:t>46</a:t>
            </a:fld>
            <a:endParaRPr lang="en-US"/>
          </a:p>
        </p:txBody>
      </p:sp>
      <p:sp>
        <p:nvSpPr>
          <p:cNvPr id="4" name="TextBox 3">
            <a:extLst>
              <a:ext uri="{FF2B5EF4-FFF2-40B4-BE49-F238E27FC236}">
                <a16:creationId xmlns:a16="http://schemas.microsoft.com/office/drawing/2014/main" id="{47CD804D-03F7-3C5C-6687-88E47F3CCC99}"/>
              </a:ext>
            </a:extLst>
          </p:cNvPr>
          <p:cNvSpPr txBox="1"/>
          <p:nvPr/>
        </p:nvSpPr>
        <p:spPr>
          <a:xfrm>
            <a:off x="5476973" y="1089164"/>
            <a:ext cx="6570484" cy="5632311"/>
          </a:xfrm>
          <a:prstGeom prst="rect">
            <a:avLst/>
          </a:prstGeom>
          <a:noFill/>
        </p:spPr>
        <p:txBody>
          <a:bodyPr wrap="square">
            <a:spAutoFit/>
          </a:bodyPr>
          <a:lstStyle/>
          <a:p>
            <a:r>
              <a:rPr lang="en-US">
                <a:solidFill>
                  <a:srgbClr val="517CA8"/>
                </a:solidFill>
                <a:latin typeface="Consolas" panose="020B0609020204030204" pitchFamily="49" charset="0"/>
              </a:rPr>
              <a:t>void</a:t>
            </a:r>
            <a:r>
              <a:rPr lang="en-US">
                <a:latin typeface="Consolas" panose="020B0609020204030204" pitchFamily="49" charset="0"/>
              </a:rPr>
              <a:t> </a:t>
            </a:r>
            <a:r>
              <a:rPr lang="en-US" err="1">
                <a:latin typeface="Consolas" panose="020B0609020204030204" pitchFamily="49" charset="0"/>
              </a:rPr>
              <a:t>srv_enter_innodb</a:t>
            </a:r>
            <a:r>
              <a:rPr lang="en-US" b="1">
                <a:latin typeface="Consolas" panose="020B0609020204030204" pitchFamily="49" charset="0"/>
              </a:rPr>
              <a:t>()</a:t>
            </a:r>
            <a:r>
              <a:rPr lang="en-US">
                <a:latin typeface="Consolas" panose="020B0609020204030204" pitchFamily="49" charset="0"/>
              </a:rPr>
              <a:t> {</a:t>
            </a:r>
          </a:p>
          <a:p>
            <a:pPr marL="227013"/>
            <a:r>
              <a:rPr lang="en-US">
                <a:latin typeface="Consolas" panose="020B0609020204030204" pitchFamily="49" charset="0"/>
              </a:rPr>
              <a:t>… </a:t>
            </a:r>
          </a:p>
          <a:p>
            <a:pPr marL="227013"/>
            <a:r>
              <a:rPr lang="en-US">
                <a:solidFill>
                  <a:srgbClr val="517CA8"/>
                </a:solidFill>
                <a:latin typeface="Consolas" panose="020B0609020204030204" pitchFamily="49" charset="0"/>
              </a:rPr>
              <a:t>for</a:t>
            </a:r>
            <a:r>
              <a:rPr lang="en-US" b="1">
                <a:latin typeface="Consolas" panose="020B0609020204030204" pitchFamily="49" charset="0"/>
              </a:rPr>
              <a:t>(</a:t>
            </a:r>
            <a:r>
              <a:rPr lang="en-US">
                <a:latin typeface="Consolas" panose="020B0609020204030204" pitchFamily="49" charset="0"/>
              </a:rPr>
              <a:t>;;</a:t>
            </a:r>
            <a:r>
              <a:rPr lang="en-US" b="1">
                <a:latin typeface="Consolas" panose="020B0609020204030204" pitchFamily="49" charset="0"/>
              </a:rPr>
              <a:t>)</a:t>
            </a:r>
            <a:r>
              <a:rPr lang="en-US">
                <a:latin typeface="Consolas" panose="020B0609020204030204" pitchFamily="49" charset="0"/>
              </a:rPr>
              <a:t> { </a:t>
            </a:r>
          </a:p>
          <a:p>
            <a:pPr marL="461963"/>
            <a:r>
              <a:rPr lang="en-US">
                <a:solidFill>
                  <a:srgbClr val="517CA8"/>
                </a:solidFill>
                <a:latin typeface="Consolas" panose="020B0609020204030204" pitchFamily="49" charset="0"/>
              </a:rPr>
              <a:t>if</a:t>
            </a:r>
            <a:r>
              <a:rPr lang="en-US" b="1">
                <a:latin typeface="Consolas" panose="020B0609020204030204" pitchFamily="49" charset="0"/>
              </a:rPr>
              <a:t>(</a:t>
            </a:r>
            <a:r>
              <a:rPr lang="en-US" err="1">
                <a:latin typeface="Consolas" panose="020B0609020204030204" pitchFamily="49" charset="0"/>
              </a:rPr>
              <a:t>srv_conc.n_active</a:t>
            </a:r>
            <a:r>
              <a:rPr lang="en-US">
                <a:latin typeface="Consolas" panose="020B0609020204030204" pitchFamily="49" charset="0"/>
              </a:rPr>
              <a:t> </a:t>
            </a:r>
            <a:r>
              <a:rPr lang="en-US">
                <a:solidFill>
                  <a:srgbClr val="FF9966"/>
                </a:solidFill>
                <a:latin typeface="Consolas" panose="020B0609020204030204" pitchFamily="49" charset="0"/>
              </a:rPr>
              <a:t>&lt;</a:t>
            </a:r>
            <a:r>
              <a:rPr lang="en-US">
                <a:latin typeface="Consolas" panose="020B0609020204030204" pitchFamily="49" charset="0"/>
              </a:rPr>
              <a:t> </a:t>
            </a:r>
            <a:r>
              <a:rPr lang="en-US" err="1">
                <a:latin typeface="Consolas" panose="020B0609020204030204" pitchFamily="49" charset="0"/>
              </a:rPr>
              <a:t>thread_concurrency</a:t>
            </a:r>
            <a:r>
              <a:rPr lang="en-US" b="1">
                <a:latin typeface="Consolas" panose="020B0609020204030204" pitchFamily="49" charset="0"/>
              </a:rPr>
              <a:t>)</a:t>
            </a:r>
            <a:r>
              <a:rPr lang="en-US">
                <a:latin typeface="Consolas" panose="020B0609020204030204" pitchFamily="49" charset="0"/>
              </a:rPr>
              <a:t> { </a:t>
            </a:r>
          </a:p>
          <a:p>
            <a:pPr marL="687388"/>
            <a:r>
              <a:rPr lang="en-US" err="1">
                <a:latin typeface="Consolas" panose="020B0609020204030204" pitchFamily="49" charset="0"/>
              </a:rPr>
              <a:t>n_active</a:t>
            </a:r>
            <a:r>
              <a:rPr lang="en-US">
                <a:latin typeface="Consolas" panose="020B0609020204030204" pitchFamily="49" charset="0"/>
              </a:rPr>
              <a:t> = </a:t>
            </a:r>
            <a:r>
              <a:rPr lang="en-US" err="1">
                <a:latin typeface="Consolas" panose="020B0609020204030204" pitchFamily="49" charset="0"/>
              </a:rPr>
              <a:t>os_atomic_inc</a:t>
            </a:r>
            <a:r>
              <a:rPr lang="en-US" b="1">
                <a:latin typeface="Consolas" panose="020B0609020204030204" pitchFamily="49" charset="0"/>
              </a:rPr>
              <a:t>(</a:t>
            </a:r>
            <a:r>
              <a:rPr lang="en-US">
                <a:latin typeface="Consolas" panose="020B0609020204030204" pitchFamily="49" charset="0"/>
              </a:rPr>
              <a:t>&amp;</a:t>
            </a:r>
            <a:r>
              <a:rPr lang="en-US" err="1">
                <a:latin typeface="Consolas" panose="020B0609020204030204" pitchFamily="49" charset="0"/>
              </a:rPr>
              <a:t>srv_conc.n_active</a:t>
            </a:r>
            <a:r>
              <a:rPr lang="en-US" b="1">
                <a:latin typeface="Consolas" panose="020B0609020204030204" pitchFamily="49" charset="0"/>
              </a:rPr>
              <a:t>)</a:t>
            </a:r>
            <a:r>
              <a:rPr lang="en-US">
                <a:latin typeface="Consolas" panose="020B0609020204030204" pitchFamily="49" charset="0"/>
              </a:rPr>
              <a:t>; </a:t>
            </a:r>
          </a:p>
          <a:p>
            <a:pPr marL="687388"/>
            <a:r>
              <a:rPr lang="en-US">
                <a:solidFill>
                  <a:srgbClr val="517CA8"/>
                </a:solidFill>
                <a:latin typeface="Consolas" panose="020B0609020204030204" pitchFamily="49" charset="0"/>
              </a:rPr>
              <a:t>if</a:t>
            </a:r>
            <a:r>
              <a:rPr lang="en-US" b="1">
                <a:latin typeface="Consolas" panose="020B0609020204030204" pitchFamily="49" charset="0"/>
              </a:rPr>
              <a:t>(</a:t>
            </a:r>
            <a:r>
              <a:rPr lang="en-US" err="1">
                <a:latin typeface="Consolas" panose="020B0609020204030204" pitchFamily="49" charset="0"/>
              </a:rPr>
              <a:t>n_active</a:t>
            </a:r>
            <a:r>
              <a:rPr lang="en-US">
                <a:latin typeface="Consolas" panose="020B0609020204030204" pitchFamily="49" charset="0"/>
              </a:rPr>
              <a:t> &lt;= </a:t>
            </a:r>
            <a:r>
              <a:rPr lang="en-US" err="1">
                <a:latin typeface="Consolas" panose="020B0609020204030204" pitchFamily="49" charset="0"/>
              </a:rPr>
              <a:t>thread_concurrency</a:t>
            </a:r>
            <a:r>
              <a:rPr lang="en-US" b="1">
                <a:latin typeface="Consolas" panose="020B0609020204030204" pitchFamily="49" charset="0"/>
              </a:rPr>
              <a:t>)</a:t>
            </a:r>
            <a:r>
              <a:rPr lang="en-US">
                <a:latin typeface="Consolas" panose="020B0609020204030204" pitchFamily="49" charset="0"/>
              </a:rPr>
              <a:t> { </a:t>
            </a:r>
          </a:p>
          <a:p>
            <a:pPr marL="914400"/>
            <a:r>
              <a:rPr lang="en-US" err="1">
                <a:latin typeface="Consolas" panose="020B0609020204030204" pitchFamily="49" charset="0"/>
              </a:rPr>
              <a:t>srv_enter_innodb_with_tickets</a:t>
            </a:r>
            <a:r>
              <a:rPr lang="en-US" b="1">
                <a:latin typeface="Consolas" panose="020B0609020204030204" pitchFamily="49" charset="0"/>
              </a:rPr>
              <a:t>(</a:t>
            </a:r>
            <a:r>
              <a:rPr lang="en-US" err="1">
                <a:latin typeface="Consolas" panose="020B0609020204030204" pitchFamily="49" charset="0"/>
              </a:rPr>
              <a:t>trx</a:t>
            </a:r>
            <a:r>
              <a:rPr lang="en-US" b="1">
                <a:latin typeface="Consolas" panose="020B0609020204030204" pitchFamily="49" charset="0"/>
              </a:rPr>
              <a:t>)</a:t>
            </a:r>
            <a:r>
              <a:rPr lang="en-US">
                <a:latin typeface="Consolas" panose="020B0609020204030204" pitchFamily="49" charset="0"/>
              </a:rPr>
              <a:t>; </a:t>
            </a:r>
          </a:p>
          <a:p>
            <a:pPr marL="914400"/>
            <a:r>
              <a:rPr lang="en-US">
                <a:latin typeface="Consolas" panose="020B0609020204030204" pitchFamily="49" charset="0"/>
              </a:rPr>
              <a:t>return; </a:t>
            </a:r>
          </a:p>
          <a:p>
            <a:pPr marL="687388"/>
            <a:r>
              <a:rPr lang="en-US">
                <a:latin typeface="Consolas" panose="020B0609020204030204" pitchFamily="49" charset="0"/>
              </a:rPr>
              <a:t>}</a:t>
            </a:r>
          </a:p>
          <a:p>
            <a:pPr marL="461963"/>
            <a:r>
              <a:rPr lang="en-US">
                <a:latin typeface="Consolas" panose="020B0609020204030204" pitchFamily="49" charset="0"/>
              </a:rPr>
              <a:t>} </a:t>
            </a:r>
          </a:p>
          <a:p>
            <a:pPr marL="519113"/>
            <a:r>
              <a:rPr lang="en-US" err="1">
                <a:latin typeface="Consolas" panose="020B0609020204030204" pitchFamily="49" charset="0"/>
              </a:rPr>
              <a:t>os_thread_sleep</a:t>
            </a:r>
            <a:r>
              <a:rPr lang="en-US" b="1">
                <a:latin typeface="Consolas" panose="020B0609020204030204" pitchFamily="49" charset="0"/>
              </a:rPr>
              <a:t>(</a:t>
            </a:r>
            <a:r>
              <a:rPr lang="en-US" err="1">
                <a:latin typeface="Consolas" panose="020B0609020204030204" pitchFamily="49" charset="0"/>
              </a:rPr>
              <a:t>sleep_in_us</a:t>
            </a:r>
            <a:r>
              <a:rPr lang="en-US" b="1">
                <a:latin typeface="Consolas" panose="020B0609020204030204" pitchFamily="49" charset="0"/>
              </a:rPr>
              <a:t>)</a:t>
            </a:r>
            <a:r>
              <a:rPr lang="en-US">
                <a:latin typeface="Consolas" panose="020B0609020204030204" pitchFamily="49" charset="0"/>
              </a:rPr>
              <a:t>; </a:t>
            </a:r>
          </a:p>
          <a:p>
            <a:pPr marL="227013"/>
            <a:r>
              <a:rPr lang="en-US">
                <a:latin typeface="Consolas" panose="020B0609020204030204" pitchFamily="49" charset="0"/>
              </a:rPr>
              <a:t>}</a:t>
            </a:r>
          </a:p>
          <a:p>
            <a:pPr marL="227013"/>
            <a:r>
              <a:rPr lang="en-US">
                <a:latin typeface="Consolas" panose="020B0609020204030204" pitchFamily="49" charset="0"/>
              </a:rPr>
              <a:t>…</a:t>
            </a:r>
          </a:p>
          <a:p>
            <a:r>
              <a:rPr lang="en-US">
                <a:latin typeface="Consolas" panose="020B0609020204030204" pitchFamily="49" charset="0"/>
              </a:rPr>
              <a:t>} </a:t>
            </a:r>
          </a:p>
          <a:p>
            <a:pPr marL="461963"/>
            <a:endParaRPr lang="en-US">
              <a:latin typeface="Consolas" panose="020B0609020204030204" pitchFamily="49" charset="0"/>
            </a:endParaRPr>
          </a:p>
          <a:p>
            <a:r>
              <a:rPr lang="en-US">
                <a:solidFill>
                  <a:srgbClr val="517CA8"/>
                </a:solidFill>
                <a:latin typeface="Consolas" panose="020B0609020204030204" pitchFamily="49" charset="0"/>
              </a:rPr>
              <a:t>void</a:t>
            </a:r>
            <a:r>
              <a:rPr lang="en-US">
                <a:latin typeface="Consolas" panose="020B0609020204030204" pitchFamily="49" charset="0"/>
              </a:rPr>
              <a:t> </a:t>
            </a:r>
            <a:r>
              <a:rPr lang="en-US" err="1">
                <a:latin typeface="Consolas" panose="020B0609020204030204" pitchFamily="49" charset="0"/>
              </a:rPr>
              <a:t>srv_exit_innodb</a:t>
            </a:r>
            <a:r>
              <a:rPr lang="en-US" b="1">
                <a:latin typeface="Consolas" panose="020B0609020204030204" pitchFamily="49" charset="0"/>
              </a:rPr>
              <a:t>() </a:t>
            </a:r>
            <a:r>
              <a:rPr lang="en-US">
                <a:latin typeface="Consolas" panose="020B0609020204030204" pitchFamily="49" charset="0"/>
              </a:rPr>
              <a:t>{ </a:t>
            </a:r>
          </a:p>
          <a:p>
            <a:pPr marL="227013"/>
            <a:r>
              <a:rPr lang="en-US">
                <a:latin typeface="Consolas" panose="020B0609020204030204" pitchFamily="49" charset="0"/>
              </a:rPr>
              <a:t>… </a:t>
            </a:r>
          </a:p>
          <a:p>
            <a:pPr marL="227013"/>
            <a:r>
              <a:rPr lang="en-US" err="1">
                <a:latin typeface="Consolas" panose="020B0609020204030204" pitchFamily="49" charset="0"/>
              </a:rPr>
              <a:t>os_atomic_dec</a:t>
            </a:r>
            <a:r>
              <a:rPr lang="en-US" b="1">
                <a:latin typeface="Consolas" panose="020B0609020204030204" pitchFamily="49" charset="0"/>
              </a:rPr>
              <a:t>(</a:t>
            </a:r>
            <a:r>
              <a:rPr lang="en-US">
                <a:latin typeface="Consolas" panose="020B0609020204030204" pitchFamily="49" charset="0"/>
              </a:rPr>
              <a:t>&amp;</a:t>
            </a:r>
            <a:r>
              <a:rPr lang="en-US" err="1">
                <a:latin typeface="Consolas" panose="020B0609020204030204" pitchFamily="49" charset="0"/>
              </a:rPr>
              <a:t>srv_conc.n_active</a:t>
            </a:r>
            <a:r>
              <a:rPr lang="en-US">
                <a:latin typeface="Consolas" panose="020B0609020204030204" pitchFamily="49" charset="0"/>
              </a:rPr>
              <a:t>, 1</a:t>
            </a:r>
            <a:r>
              <a:rPr lang="en-US" b="1">
                <a:latin typeface="Consolas" panose="020B0609020204030204" pitchFamily="49" charset="0"/>
              </a:rPr>
              <a:t>)</a:t>
            </a:r>
            <a:r>
              <a:rPr lang="en-US">
                <a:latin typeface="Consolas" panose="020B0609020204030204" pitchFamily="49" charset="0"/>
              </a:rPr>
              <a:t>;</a:t>
            </a:r>
          </a:p>
          <a:p>
            <a:pPr marL="227013"/>
            <a:r>
              <a:rPr lang="en-US">
                <a:latin typeface="Consolas" panose="020B0609020204030204" pitchFamily="49" charset="0"/>
              </a:rPr>
              <a:t>…</a:t>
            </a:r>
          </a:p>
          <a:p>
            <a:r>
              <a:rPr lang="en-US">
                <a:latin typeface="Consolas" panose="020B0609020204030204" pitchFamily="49" charset="0"/>
              </a:rPr>
              <a:t>}</a:t>
            </a:r>
          </a:p>
        </p:txBody>
      </p:sp>
      <p:sp>
        <p:nvSpPr>
          <p:cNvPr id="6" name="Arc 5">
            <a:extLst>
              <a:ext uri="{FF2B5EF4-FFF2-40B4-BE49-F238E27FC236}">
                <a16:creationId xmlns:a16="http://schemas.microsoft.com/office/drawing/2014/main" id="{448A6AE7-173E-E1D4-B514-5F24B545DAD9}"/>
              </a:ext>
            </a:extLst>
          </p:cNvPr>
          <p:cNvSpPr/>
          <p:nvPr/>
        </p:nvSpPr>
        <p:spPr>
          <a:xfrm rot="12482731">
            <a:off x="5393496" y="1596431"/>
            <a:ext cx="1946150" cy="2488328"/>
          </a:xfrm>
          <a:prstGeom prst="arc">
            <a:avLst>
              <a:gd name="adj1" fmla="val 15420896"/>
              <a:gd name="adj2" fmla="val 1662108"/>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34A2F129-965C-7C53-A376-251015E1E94E}"/>
              </a:ext>
            </a:extLst>
          </p:cNvPr>
          <p:cNvSpPr/>
          <p:nvPr/>
        </p:nvSpPr>
        <p:spPr>
          <a:xfrm>
            <a:off x="6305297" y="1758268"/>
            <a:ext cx="1946150" cy="2488328"/>
          </a:xfrm>
          <a:prstGeom prst="arc">
            <a:avLst>
              <a:gd name="adj1" fmla="val 15420896"/>
              <a:gd name="adj2" fmla="val 17997313"/>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CB1740FF-9F8C-971E-05D0-684AC3D15B79}"/>
              </a:ext>
            </a:extLst>
          </p:cNvPr>
          <p:cNvSpPr/>
          <p:nvPr/>
        </p:nvSpPr>
        <p:spPr>
          <a:xfrm>
            <a:off x="7579151" y="2218612"/>
            <a:ext cx="4317476"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Rectangle 8">
            <a:extLst>
              <a:ext uri="{FF2B5EF4-FFF2-40B4-BE49-F238E27FC236}">
                <a16:creationId xmlns:a16="http://schemas.microsoft.com/office/drawing/2014/main" id="{AB4935AD-6B18-9B06-E1B7-BB45BEF6B769}"/>
              </a:ext>
            </a:extLst>
          </p:cNvPr>
          <p:cNvSpPr/>
          <p:nvPr/>
        </p:nvSpPr>
        <p:spPr>
          <a:xfrm>
            <a:off x="5777845" y="5768836"/>
            <a:ext cx="4648199" cy="302025"/>
          </a:xfrm>
          <a:prstGeom prst="rect">
            <a:avLst/>
          </a:prstGeom>
          <a:solidFill>
            <a:schemeClr val="accent2">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extBox 10">
            <a:extLst>
              <a:ext uri="{FF2B5EF4-FFF2-40B4-BE49-F238E27FC236}">
                <a16:creationId xmlns:a16="http://schemas.microsoft.com/office/drawing/2014/main" id="{1C1D674C-FAE5-3963-860C-1218CF9438BC}"/>
              </a:ext>
            </a:extLst>
          </p:cNvPr>
          <p:cNvSpPr txBox="1"/>
          <p:nvPr/>
        </p:nvSpPr>
        <p:spPr>
          <a:xfrm>
            <a:off x="144543" y="1323065"/>
            <a:ext cx="5467097" cy="5607689"/>
          </a:xfrm>
          <a:prstGeom prst="rect">
            <a:avLst/>
          </a:prstGeom>
          <a:noFill/>
        </p:spPr>
        <p:txBody>
          <a:bodyPr wrap="square">
            <a:spAutoFit/>
          </a:bodyPr>
          <a:lstStyle/>
          <a:p>
            <a:pPr marL="457200" indent="-457200">
              <a:buFont typeface="Arial" panose="020B0604020202020204" pitchFamily="34" charset="0"/>
              <a:buChar char="•"/>
            </a:pPr>
            <a:r>
              <a:rPr lang="en-US" sz="2800"/>
              <a:t>Locate the resource variable </a:t>
            </a:r>
          </a:p>
          <a:p>
            <a:pPr marL="798513" lvl="1" indent="-341313">
              <a:lnSpc>
                <a:spcPct val="200000"/>
              </a:lnSpc>
              <a:buFont typeface="Courier New" panose="02070309020205020404" pitchFamily="49" charset="0"/>
              <a:buChar char="o"/>
            </a:pPr>
            <a:r>
              <a:rPr lang="en-US" sz="2000"/>
              <a:t>Find block function</a:t>
            </a:r>
          </a:p>
          <a:p>
            <a:pPr marL="798513" lvl="1" indent="-341313">
              <a:lnSpc>
                <a:spcPct val="200000"/>
              </a:lnSpc>
              <a:buFont typeface="Courier New" panose="02070309020205020404" pitchFamily="49" charset="0"/>
              <a:buChar char="o"/>
            </a:pPr>
            <a:r>
              <a:rPr lang="en-US" sz="2000"/>
              <a:t>Find the loop that uses block function</a:t>
            </a:r>
          </a:p>
          <a:p>
            <a:pPr marL="798513" lvl="1" indent="-341313">
              <a:lnSpc>
                <a:spcPct val="200000"/>
              </a:lnSpc>
              <a:buFont typeface="Courier New" panose="02070309020205020404" pitchFamily="49" charset="0"/>
              <a:buChar char="o"/>
            </a:pPr>
            <a:r>
              <a:rPr lang="en-US" sz="2000"/>
              <a:t>Check the conditional variable </a:t>
            </a:r>
          </a:p>
          <a:p>
            <a:pPr marL="457200" indent="-457200">
              <a:lnSpc>
                <a:spcPct val="200000"/>
              </a:lnSpc>
              <a:buFont typeface="Arial" panose="020B0604020202020204" pitchFamily="34" charset="0"/>
              <a:buChar char="•"/>
            </a:pPr>
            <a:r>
              <a:rPr lang="en-US" sz="2800"/>
              <a:t>Locate the inserting point</a:t>
            </a:r>
          </a:p>
          <a:p>
            <a:pPr marL="800100" lvl="1" indent="-342900">
              <a:lnSpc>
                <a:spcPct val="150000"/>
              </a:lnSpc>
              <a:buFont typeface="Courier New" panose="02070309020205020404" pitchFamily="49" charset="0"/>
              <a:buChar char="o"/>
            </a:pPr>
            <a:r>
              <a:rPr lang="en-US" sz="2000"/>
              <a:t>Find the hold operation for conditional variable</a:t>
            </a:r>
          </a:p>
          <a:p>
            <a:pPr marL="800100" lvl="1" indent="-342900">
              <a:lnSpc>
                <a:spcPct val="150000"/>
              </a:lnSpc>
              <a:buFont typeface="Courier New" panose="02070309020205020404" pitchFamily="49" charset="0"/>
              <a:buChar char="o"/>
            </a:pPr>
            <a:r>
              <a:rPr lang="en-US" sz="2000"/>
              <a:t>Find the </a:t>
            </a:r>
            <a:r>
              <a:rPr lang="en-US" sz="2000" err="1"/>
              <a:t>unhold</a:t>
            </a:r>
            <a:r>
              <a:rPr lang="en-US" sz="2000"/>
              <a:t> operation for conditional variable</a:t>
            </a:r>
          </a:p>
          <a:p>
            <a:pPr marL="798513" lvl="1" indent="-341313">
              <a:lnSpc>
                <a:spcPct val="200000"/>
              </a:lnSpc>
              <a:buFont typeface="Courier New" panose="02070309020205020404" pitchFamily="49" charset="0"/>
              <a:buChar char="o"/>
            </a:pPr>
            <a:endParaRPr lang="en-US" sz="2000"/>
          </a:p>
        </p:txBody>
      </p:sp>
    </p:spTree>
    <p:extLst>
      <p:ext uri="{BB962C8B-B14F-4D97-AF65-F5344CB8AC3E}">
        <p14:creationId xmlns:p14="http://schemas.microsoft.com/office/powerpoint/2010/main" val="68056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animEffect transition="in" filter="dissolve">
                                      <p:cBhvr>
                                        <p:cTn id="13" dur="500"/>
                                        <p:tgtEl>
                                          <p:spTgt spid="11">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1">
                                            <p:txEl>
                                              <p:pRg st="5" end="5"/>
                                            </p:txEl>
                                          </p:spTgt>
                                        </p:tgtEl>
                                        <p:attrNameLst>
                                          <p:attrName>style.visibility</p:attrName>
                                        </p:attrNameLst>
                                      </p:cBhvr>
                                      <p:to>
                                        <p:strVal val="visible"/>
                                      </p:to>
                                    </p:set>
                                    <p:animEffect transition="in" filter="dissolve">
                                      <p:cBhvr>
                                        <p:cTn id="16" dur="500"/>
                                        <p:tgtEl>
                                          <p:spTgt spid="11">
                                            <p:txEl>
                                              <p:pRg st="5" end="5"/>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animEffect transition="in" filter="dissolve">
                                      <p:cBhvr>
                                        <p:cTn id="19"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53.7|0.1"/>
</p:tagLst>
</file>

<file path=ppt/tags/tag2.xml><?xml version="1.0" encoding="utf-8"?>
<p:tagLst xmlns:a="http://schemas.openxmlformats.org/drawingml/2006/main" xmlns:r="http://schemas.openxmlformats.org/officeDocument/2006/relationships" xmlns:p="http://schemas.openxmlformats.org/presentationml/2006/main">
  <p:tag name="TIMING" val="|43.8"/>
</p:tagLst>
</file>

<file path=ppt/tags/tag3.xml><?xml version="1.0" encoding="utf-8"?>
<p:tagLst xmlns:a="http://schemas.openxmlformats.org/drawingml/2006/main" xmlns:r="http://schemas.openxmlformats.org/officeDocument/2006/relationships" xmlns:p="http://schemas.openxmlformats.org/presentationml/2006/main">
  <p:tag name="TIMING" val="|35.3"/>
</p:tagLst>
</file>

<file path=ppt/tags/tag4.xml><?xml version="1.0" encoding="utf-8"?>
<p:tagLst xmlns:a="http://schemas.openxmlformats.org/drawingml/2006/main" xmlns:r="http://schemas.openxmlformats.org/officeDocument/2006/relationships" xmlns:p="http://schemas.openxmlformats.org/presentationml/2006/main">
  <p:tag name="TIMING" val="|47.6"/>
</p:tagLst>
</file>

<file path=ppt/tags/tag5.xml><?xml version="1.0" encoding="utf-8"?>
<p:tagLst xmlns:a="http://schemas.openxmlformats.org/drawingml/2006/main" xmlns:r="http://schemas.openxmlformats.org/officeDocument/2006/relationships" xmlns:p="http://schemas.openxmlformats.org/presentationml/2006/main">
  <p:tag name="TIMING" val="|21.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601D83B39D8942B85F28D699293F02" ma:contentTypeVersion="11" ma:contentTypeDescription="Create a new document." ma:contentTypeScope="" ma:versionID="f9905e8c12ba0bceb7382a60d5819f82">
  <xsd:schema xmlns:xsd="http://www.w3.org/2001/XMLSchema" xmlns:xs="http://www.w3.org/2001/XMLSchema" xmlns:p="http://schemas.microsoft.com/office/2006/metadata/properties" xmlns:ns3="9dc88f8b-0ccc-4717-b87f-9bb153bdcde1" xmlns:ns4="a7799d77-9b9e-4464-b6f3-396f17f85466" targetNamespace="http://schemas.microsoft.com/office/2006/metadata/properties" ma:root="true" ma:fieldsID="da2c284435311811732ca588a10ea61a" ns3:_="" ns4:_="">
    <xsd:import namespace="9dc88f8b-0ccc-4717-b87f-9bb153bdcde1"/>
    <xsd:import namespace="a7799d77-9b9e-4464-b6f3-396f17f854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DateTaken" minOccurs="0"/>
                <xsd:element ref="ns3:MediaServiceAutoKeyPoints" minOccurs="0"/>
                <xsd:element ref="ns3:MediaServiceKeyPoint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c88f8b-0ccc-4717-b87f-9bb153bdcde1"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799d77-9b9e-4464-b6f3-396f17f85466"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description="" ma:internalName="SharedWithDetails" ma:readOnly="true">
      <xsd:simpleType>
        <xsd:restriction base="dms:Note">
          <xsd:maxLength value="255"/>
        </xsd:restriction>
      </xsd:simpleType>
    </xsd:element>
    <xsd:element name="SharingHintHash" ma:index="12"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dc88f8b-0ccc-4717-b87f-9bb153bdcde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624C91-09B0-4DFD-BAF6-0A13F2B99B1E}">
  <ds:schemaRefs>
    <ds:schemaRef ds:uri="9dc88f8b-0ccc-4717-b87f-9bb153bdcde1"/>
    <ds:schemaRef ds:uri="a7799d77-9b9e-4464-b6f3-396f17f854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B5FF57E-89DC-4235-B1BE-2B0FE48BBAF8}">
  <ds:schemaRefs>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terms/"/>
    <ds:schemaRef ds:uri="http://purl.org/dc/elements/1.1/"/>
    <ds:schemaRef ds:uri="a7799d77-9b9e-4464-b6f3-396f17f85466"/>
    <ds:schemaRef ds:uri="9dc88f8b-0ccc-4717-b87f-9bb153bdcde1"/>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445D9F7E-C391-4D2E-A930-4AEF684FB5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320</TotalTime>
  <Words>6112</Words>
  <Application>Microsoft Office PowerPoint</Application>
  <PresentationFormat>宽屏</PresentationFormat>
  <Paragraphs>722</Paragraphs>
  <Slides>46</Slides>
  <Notes>46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46</vt:i4>
      </vt:variant>
    </vt:vector>
  </HeadingPairs>
  <TitlesOfParts>
    <vt:vector size="60" baseType="lpstr">
      <vt:lpstr>等线</vt:lpstr>
      <vt:lpstr>franklin-gothic-urw</vt:lpstr>
      <vt:lpstr>quadon</vt:lpstr>
      <vt:lpstr>Slack-Lato</vt:lpstr>
      <vt:lpstr>Söhne</vt:lpstr>
      <vt:lpstr>Arial</vt:lpstr>
      <vt:lpstr>Calibri</vt:lpstr>
      <vt:lpstr>Calibri Light</vt:lpstr>
      <vt:lpstr>Cambria Math</vt:lpstr>
      <vt:lpstr>Consolas</vt:lpstr>
      <vt:lpstr>Courier New</vt:lpstr>
      <vt:lpstr>helvetica</vt:lpstr>
      <vt:lpstr>Open Sans</vt:lpstr>
      <vt:lpstr>office theme</vt:lpstr>
      <vt:lpstr>Pushing Performance Isolation Boundaries into Application with pBox</vt:lpstr>
      <vt:lpstr>Performance Isolation Is Critical in Application</vt:lpstr>
      <vt:lpstr>Intra-application Performance Interference</vt:lpstr>
      <vt:lpstr>Intra-app Interference Example</vt:lpstr>
      <vt:lpstr>Intra-app Interference Is Prevalent</vt:lpstr>
      <vt:lpstr>Intra-app Interference Is Long-lived</vt:lpstr>
      <vt:lpstr>Current Practice of Performance Isolation</vt:lpstr>
      <vt:lpstr>Current Practice of Performance Isolation</vt:lpstr>
      <vt:lpstr>Issues of Current Practice  </vt:lpstr>
      <vt:lpstr>Our Solution – pBox</vt:lpstr>
      <vt:lpstr>Key Behavior of Intra-app Interference</vt:lpstr>
      <vt:lpstr>Performance Box</vt:lpstr>
      <vt:lpstr>pBox APIs</vt:lpstr>
      <vt:lpstr>pBox Creation</vt:lpstr>
      <vt:lpstr>pBox Creation</vt:lpstr>
      <vt:lpstr>Define pBox Isolation Area </vt:lpstr>
      <vt:lpstr>Define pBox Isolation Area </vt:lpstr>
      <vt:lpstr>pBox APIs for Thread Pool Model</vt:lpstr>
      <vt:lpstr>How to Trace Application Resource</vt:lpstr>
      <vt:lpstr>State Event</vt:lpstr>
      <vt:lpstr>Tracing Deferring Time by State Event</vt:lpstr>
      <vt:lpstr>Detecting Performance Interference for Activity</vt:lpstr>
      <vt:lpstr>Activities' Interference Level</vt:lpstr>
      <vt:lpstr>Competitor Map + Holder Map</vt:lpstr>
      <vt:lpstr>Interference Mitigation</vt:lpstr>
      <vt:lpstr>Score-based Penalty Length Adjustment</vt:lpstr>
      <vt:lpstr>Other Optimization</vt:lpstr>
      <vt:lpstr>Evaluation </vt:lpstr>
      <vt:lpstr>Experiment Setup</vt:lpstr>
      <vt:lpstr>Microbenchmark</vt:lpstr>
      <vt:lpstr>Real-world intra-app interference cases</vt:lpstr>
      <vt:lpstr>Performance Interference Reduction</vt:lpstr>
      <vt:lpstr>Performance Interference Reduction</vt:lpstr>
      <vt:lpstr>pBox Overhead</vt:lpstr>
      <vt:lpstr>Conclusion</vt:lpstr>
      <vt:lpstr>Question List: Motivation</vt:lpstr>
      <vt:lpstr>Question List: Design</vt:lpstr>
      <vt:lpstr>Question List: Evaluation</vt:lpstr>
      <vt:lpstr>Static analyzer</vt:lpstr>
      <vt:lpstr>Effectiveness of Different Penalty Length</vt:lpstr>
      <vt:lpstr>Penalty</vt:lpstr>
      <vt:lpstr>Rule</vt:lpstr>
      <vt:lpstr>How to Find State Event</vt:lpstr>
      <vt:lpstr>Notify State Event to pBox Manager</vt:lpstr>
      <vt:lpstr>Notify State Event to pBox Manager</vt:lpstr>
      <vt:lpstr>Compiler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胡一公</dc:creator>
  <cp:lastModifiedBy>Yigong Hu</cp:lastModifiedBy>
  <cp:revision>3</cp:revision>
  <dcterms:created xsi:type="dcterms:W3CDTF">2023-09-09T05:27:33Z</dcterms:created>
  <dcterms:modified xsi:type="dcterms:W3CDTF">2023-10-24T10:15:53Z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0x0101006E601D83B39D8942B85F28D699293F02</vt:lpwstr>
  </property>
</Properties>
</file>